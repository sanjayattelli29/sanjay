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83" r:id="rId3"/>
    <p:sldId id="294" r:id="rId4"/>
    <p:sldId id="288" r:id="rId5"/>
    <p:sldId id="272" r:id="rId6"/>
    <p:sldId id="282" r:id="rId7"/>
    <p:sldId id="257" r:id="rId8"/>
    <p:sldId id="258" r:id="rId9"/>
    <p:sldId id="293" r:id="rId10"/>
    <p:sldId id="261" r:id="rId11"/>
    <p:sldId id="262" r:id="rId12"/>
    <p:sldId id="264" r:id="rId13"/>
    <p:sldId id="265" r:id="rId14"/>
    <p:sldId id="292" r:id="rId15"/>
    <p:sldId id="291" r:id="rId16"/>
    <p:sldId id="287" r:id="rId17"/>
    <p:sldId id="289" r:id="rId18"/>
    <p:sldId id="270" r:id="rId19"/>
    <p:sldId id="285" r:id="rId20"/>
    <p:sldId id="284" r:id="rId21"/>
    <p:sldId id="260" r:id="rId22"/>
    <p:sldId id="279" r:id="rId23"/>
  </p:sldIdLst>
  <p:sldSz cx="14630400" cy="8229600"/>
  <p:notesSz cx="8229600" cy="14630400"/>
  <p:embeddedFontLst>
    <p:embeddedFont>
      <p:font typeface="Fraunces Extra Bold" panose="020B0604020202020204" charset="0"/>
      <p:regular r:id="rId25"/>
    </p:embeddedFont>
    <p:embeddedFont>
      <p:font typeface="Fraunces Light" pitchFamily="2" charset="0"/>
      <p:regular r:id="rId26"/>
      <p:italic r:id="rId27"/>
    </p:embeddedFont>
    <p:embeddedFont>
      <p:font typeface="Nobile"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10"/>
  </p:normalViewPr>
  <p:slideViewPr>
    <p:cSldViewPr snapToGrid="0" snapToObjects="1">
      <p:cViewPr varScale="1">
        <p:scale>
          <a:sx n="69" d="100"/>
          <a:sy n="69" d="100"/>
        </p:scale>
        <p:origin x="797"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811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08B49-A6B0-1443-9625-D9381808B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6386A-933A-EA25-9028-C8E27DFBDE4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F1EE9F3-7943-358E-0888-C039A0212F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33686C-14D6-495F-6577-59B76970052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05990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1A02F-5775-24FB-F515-66665C5BA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6F0E1-594C-6B47-D5DC-9F96EB5473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E3AAF47-1FFC-096A-D841-C8643B1417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8A527B-697F-FDEC-6645-3BD04964B25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08441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913D6-EBB9-4838-87C2-56BABE015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6CD35-2671-CE2C-1839-E2FF9206F4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600EC51-BBA9-59C0-3638-2A46E1A06A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03972-3F26-45B1-15A5-1D5DE6ACC25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898601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02AE9-FA57-4D08-6942-0FCAF744B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4C5D6-B171-A8C8-C6A7-BEFC5F2B08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A15558E-0983-B92F-06E9-27DABF8FC0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2B61C6-9DD0-14CE-FFEF-99C682048BF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90551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0E83-475A-22C1-891D-A4DE8A556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6D387-EBCA-BD42-EED6-EE8B6E4B5C3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397F042-876A-4660-53BC-6F6CAAFFFB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83373E-D88B-BB00-6823-8E4FF49961A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20717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CFA66-FDEC-CF1D-C2A8-6E4520F0D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8222A-B1B9-458D-CF7B-0C2ABDE73B8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C96D59-9026-94D7-01D5-589CE079B8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B39B10-BB19-CED0-21E7-D1395799300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770193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7D55-85CC-2415-49C4-FB689BDAC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56DBA-96F8-B464-0FD3-FE156AFCCBD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031B66-2CE1-A2C3-9BAD-B82A044EE4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13FA36-9337-D41A-1833-6F8EA94105A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08281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EB3A-FEA3-9598-64AA-9C0AE5039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2FE89-F115-A5EA-E927-BF4920F9943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40ED62D-3FFC-3AEE-B32D-D6DAAB011F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004F88-D651-7454-5740-33257CCBAD0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62125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CFF1-43D9-6593-AA45-E150CF9D3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4AF25-AA31-FAC1-440A-884AA239692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45EC207-FE96-2016-64AF-F2F3D46039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057360-4E3E-77CB-CA1C-7E5610D28410}"/>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233171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IN"/>
          </a:p>
        </p:txBody>
      </p:sp>
      <p:sp>
        <p:nvSpPr>
          <p:cNvPr id="3" name="Shape 1"/>
          <p:cNvSpPr/>
          <p:nvPr/>
        </p:nvSpPr>
        <p:spPr>
          <a:xfrm>
            <a:off x="0" y="0"/>
            <a:ext cx="14630400" cy="8229600"/>
          </a:xfrm>
          <a:prstGeom prst="rect">
            <a:avLst/>
          </a:prstGeom>
          <a:solidFill>
            <a:srgbClr val="FAFF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sv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player.vimeo.com/video/1182329521?app_id=122963" TargetMode="External"/><Relationship Id="rId5" Type="http://schemas.openxmlformats.org/officeDocument/2006/relationships/image" Target="../media/image14.jpe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33.svg"/><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865541" y="1522424"/>
            <a:ext cx="8283303" cy="1860233"/>
          </a:xfrm>
          <a:prstGeom prst="rect">
            <a:avLst/>
          </a:prstGeom>
          <a:noFill/>
          <a:ln/>
        </p:spPr>
        <p:txBody>
          <a:bodyPr wrap="squar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AcciSure: Revolutionising Accident Insurance Through Digital Automation &amp; AI</a:t>
            </a:r>
            <a:endParaRPr lang="en-US" sz="3900" dirty="0"/>
          </a:p>
        </p:txBody>
      </p:sp>
      <p:sp>
        <p:nvSpPr>
          <p:cNvPr id="4" name="Text 1"/>
          <p:cNvSpPr/>
          <p:nvPr/>
        </p:nvSpPr>
        <p:spPr>
          <a:xfrm>
            <a:off x="5865541" y="3535346"/>
            <a:ext cx="8686800" cy="95261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A comprehensive platform delivering seamless accidental insurance coverage with intelligent automation and real-time support for customers, agents, and claims officers.</a:t>
            </a:r>
            <a:endParaRPr lang="en-US" sz="1550" dirty="0"/>
          </a:p>
        </p:txBody>
      </p:sp>
      <p:pic>
        <p:nvPicPr>
          <p:cNvPr id="6" name="Picture 5">
            <a:extLst>
              <a:ext uri="{FF2B5EF4-FFF2-40B4-BE49-F238E27FC236}">
                <a16:creationId xmlns:a16="http://schemas.microsoft.com/office/drawing/2014/main" id="{AA44F4CF-CB38-1B59-3064-EB02A9129794}"/>
              </a:ext>
            </a:extLst>
          </p:cNvPr>
          <p:cNvPicPr>
            <a:picLocks noChangeAspect="1"/>
          </p:cNvPicPr>
          <p:nvPr/>
        </p:nvPicPr>
        <p:blipFill>
          <a:blip r:embed="rId3"/>
          <a:stretch>
            <a:fillRect/>
          </a:stretch>
        </p:blipFill>
        <p:spPr>
          <a:xfrm>
            <a:off x="12067817" y="7671082"/>
            <a:ext cx="2562583" cy="558518"/>
          </a:xfrm>
          <a:prstGeom prst="rect">
            <a:avLst/>
          </a:prstGeom>
        </p:spPr>
      </p:pic>
      <p:pic>
        <p:nvPicPr>
          <p:cNvPr id="14" name="Picture 13">
            <a:extLst>
              <a:ext uri="{FF2B5EF4-FFF2-40B4-BE49-F238E27FC236}">
                <a16:creationId xmlns:a16="http://schemas.microsoft.com/office/drawing/2014/main" id="{2EA50FE3-DFF0-B947-5EF6-6D51C6B1426E}"/>
              </a:ext>
            </a:extLst>
          </p:cNvPr>
          <p:cNvPicPr>
            <a:picLocks noChangeAspect="1"/>
          </p:cNvPicPr>
          <p:nvPr/>
        </p:nvPicPr>
        <p:blipFill>
          <a:blip r:embed="rId4"/>
          <a:stretch>
            <a:fillRect/>
          </a:stretch>
        </p:blipFill>
        <p:spPr>
          <a:xfrm>
            <a:off x="0" y="0"/>
            <a:ext cx="5486400" cy="8229600"/>
          </a:xfrm>
          <a:prstGeom prst="rect">
            <a:avLst/>
          </a:prstGeom>
        </p:spPr>
      </p:pic>
      <p:pic>
        <p:nvPicPr>
          <p:cNvPr id="5" name="Picture 4">
            <a:extLst>
              <a:ext uri="{FF2B5EF4-FFF2-40B4-BE49-F238E27FC236}">
                <a16:creationId xmlns:a16="http://schemas.microsoft.com/office/drawing/2014/main" id="{F7A5E9D4-862D-1D40-CFE1-C45C5A0EF050}"/>
              </a:ext>
            </a:extLst>
          </p:cNvPr>
          <p:cNvPicPr>
            <a:picLocks noChangeAspect="1"/>
          </p:cNvPicPr>
          <p:nvPr/>
        </p:nvPicPr>
        <p:blipFill>
          <a:blip r:embed="rId5"/>
          <a:stretch>
            <a:fillRect/>
          </a:stretch>
        </p:blipFill>
        <p:spPr>
          <a:xfrm>
            <a:off x="5728963" y="4274294"/>
            <a:ext cx="7829575" cy="3564517"/>
          </a:xfrm>
          <a:prstGeom prst="rect">
            <a:avLst/>
          </a:prstGeom>
        </p:spPr>
      </p:pic>
      <p:pic>
        <p:nvPicPr>
          <p:cNvPr id="7" name="Picture 6">
            <a:extLst>
              <a:ext uri="{FF2B5EF4-FFF2-40B4-BE49-F238E27FC236}">
                <a16:creationId xmlns:a16="http://schemas.microsoft.com/office/drawing/2014/main" id="{F4E73FA2-FE03-97FE-06BF-2C1F9BEA3DEF}"/>
              </a:ext>
            </a:extLst>
          </p:cNvPr>
          <p:cNvPicPr>
            <a:picLocks noChangeAspect="1"/>
          </p:cNvPicPr>
          <p:nvPr/>
        </p:nvPicPr>
        <p:blipFill>
          <a:blip r:embed="rId6"/>
          <a:stretch>
            <a:fillRect/>
          </a:stretch>
        </p:blipFill>
        <p:spPr>
          <a:xfrm>
            <a:off x="10330323" y="213806"/>
            <a:ext cx="4027515" cy="778653"/>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1071" y="881301"/>
            <a:ext cx="4664393" cy="504349"/>
          </a:xfrm>
          <a:prstGeom prst="rect">
            <a:avLst/>
          </a:prstGeom>
          <a:noFill/>
          <a:ln/>
        </p:spPr>
        <p:txBody>
          <a:bodyPr wrap="none" lIns="0" tIns="0" rIns="0" bIns="0" rtlCol="0" anchor="t"/>
          <a:lstStyle/>
          <a:p>
            <a:pPr marL="0" indent="0" algn="l">
              <a:lnSpc>
                <a:spcPts val="3950"/>
              </a:lnSpc>
              <a:buNone/>
            </a:pPr>
            <a:r>
              <a:rPr lang="en-US" sz="3150" b="1" dirty="0">
                <a:solidFill>
                  <a:srgbClr val="3B4540"/>
                </a:solidFill>
                <a:latin typeface="Fraunces Extra Bold" pitchFamily="34" charset="0"/>
                <a:ea typeface="Fraunces Extra Bold" pitchFamily="34" charset="-122"/>
                <a:cs typeface="Fraunces Extra Bold" pitchFamily="34" charset="-120"/>
              </a:rPr>
              <a:t>Core Technology Stack</a:t>
            </a:r>
            <a:endParaRPr lang="en-US" sz="3150" dirty="0"/>
          </a:p>
        </p:txBody>
      </p:sp>
      <p:sp>
        <p:nvSpPr>
          <p:cNvPr id="3" name="Text 1"/>
          <p:cNvSpPr/>
          <p:nvPr/>
        </p:nvSpPr>
        <p:spPr>
          <a:xfrm>
            <a:off x="951071" y="1648182"/>
            <a:ext cx="12728258"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AcciSure is built on a modern and robust technology stack, ensuring high performance, scalability, and security across all platform functionalities.</a:t>
            </a:r>
            <a:endParaRPr lang="en-US" sz="12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1071" y="2030016"/>
            <a:ext cx="403503" cy="403503"/>
          </a:xfrm>
          <a:prstGeom prst="rect">
            <a:avLst/>
          </a:prstGeom>
        </p:spPr>
      </p:pic>
      <p:sp>
        <p:nvSpPr>
          <p:cNvPr id="5" name="Text 2"/>
          <p:cNvSpPr/>
          <p:nvPr/>
        </p:nvSpPr>
        <p:spPr>
          <a:xfrm>
            <a:off x="951071" y="2597587"/>
            <a:ext cx="2175748"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Frontend: Angular</a:t>
            </a:r>
            <a:endParaRPr lang="en-US" sz="1550" dirty="0"/>
          </a:p>
        </p:txBody>
      </p:sp>
      <p:sp>
        <p:nvSpPr>
          <p:cNvPr id="6" name="Text 3"/>
          <p:cNvSpPr/>
          <p:nvPr/>
        </p:nvSpPr>
        <p:spPr>
          <a:xfrm>
            <a:off x="951071" y="2928461"/>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Modern framework for interactive user interfaces.</a:t>
            </a:r>
            <a:endParaRPr lang="en-US" sz="1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97234" y="2030016"/>
            <a:ext cx="403503" cy="403503"/>
          </a:xfrm>
          <a:prstGeom prst="rect">
            <a:avLst/>
          </a:prstGeom>
        </p:spPr>
      </p:pic>
      <p:sp>
        <p:nvSpPr>
          <p:cNvPr id="8" name="Text 4"/>
          <p:cNvSpPr/>
          <p:nvPr/>
        </p:nvSpPr>
        <p:spPr>
          <a:xfrm>
            <a:off x="7397234" y="2597587"/>
            <a:ext cx="2184559"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Styling: Tailwind CSS</a:t>
            </a:r>
            <a:endParaRPr lang="en-US" sz="1550" dirty="0"/>
          </a:p>
        </p:txBody>
      </p:sp>
      <p:sp>
        <p:nvSpPr>
          <p:cNvPr id="9" name="Text 5"/>
          <p:cNvSpPr/>
          <p:nvPr/>
        </p:nvSpPr>
        <p:spPr>
          <a:xfrm>
            <a:off x="7397234" y="2928461"/>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Utility-first CSS framework for rapid UI development.</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1071" y="3425190"/>
            <a:ext cx="403503" cy="403503"/>
          </a:xfrm>
          <a:prstGeom prst="rect">
            <a:avLst/>
          </a:prstGeom>
        </p:spPr>
      </p:pic>
      <p:sp>
        <p:nvSpPr>
          <p:cNvPr id="11" name="Text 6"/>
          <p:cNvSpPr/>
          <p:nvPr/>
        </p:nvSpPr>
        <p:spPr>
          <a:xfrm>
            <a:off x="951071" y="3992761"/>
            <a:ext cx="3436144"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Backend: .NET Core Web API (C#)</a:t>
            </a:r>
            <a:endParaRPr lang="en-US" sz="1550" dirty="0"/>
          </a:p>
        </p:txBody>
      </p:sp>
      <p:sp>
        <p:nvSpPr>
          <p:cNvPr id="12" name="Text 7"/>
          <p:cNvSpPr/>
          <p:nvPr/>
        </p:nvSpPr>
        <p:spPr>
          <a:xfrm>
            <a:off x="951071" y="4323636"/>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Robust API for server-side logic and data handling.</a:t>
            </a:r>
            <a:endParaRPr lang="en-US" sz="1250" dirty="0"/>
          </a:p>
        </p:txBody>
      </p:sp>
      <p:sp>
        <p:nvSpPr>
          <p:cNvPr id="14" name="Text 8"/>
          <p:cNvSpPr/>
          <p:nvPr/>
        </p:nvSpPr>
        <p:spPr>
          <a:xfrm>
            <a:off x="7397234" y="2714685"/>
            <a:ext cx="3247430" cy="252174"/>
          </a:xfrm>
          <a:prstGeom prst="rect">
            <a:avLst/>
          </a:prstGeom>
          <a:noFill/>
          <a:ln/>
        </p:spPr>
        <p:txBody>
          <a:bodyPr wrap="none" lIns="0" tIns="0" rIns="0" bIns="0" rtlCol="0" anchor="t"/>
          <a:lstStyle/>
          <a:p>
            <a:pPr marL="0" indent="0" algn="l">
              <a:lnSpc>
                <a:spcPts val="1950"/>
              </a:lnSpc>
              <a:buNone/>
            </a:pPr>
            <a:endParaRPr lang="en-US" sz="1550" dirty="0"/>
          </a:p>
        </p:txBody>
      </p:sp>
      <p:sp>
        <p:nvSpPr>
          <p:cNvPr id="15" name="Text 9"/>
          <p:cNvSpPr/>
          <p:nvPr/>
        </p:nvSpPr>
        <p:spPr>
          <a:xfrm>
            <a:off x="7397234" y="3045560"/>
            <a:ext cx="6282095" cy="234196"/>
          </a:xfrm>
          <a:prstGeom prst="rect">
            <a:avLst/>
          </a:prstGeom>
          <a:noFill/>
          <a:ln/>
        </p:spPr>
        <p:txBody>
          <a:bodyPr wrap="none" lIns="0" tIns="0" rIns="0" bIns="0" rtlCol="0" anchor="t"/>
          <a:lstStyle/>
          <a:p>
            <a:pPr marL="0" indent="0" algn="l">
              <a:lnSpc>
                <a:spcPts val="1800"/>
              </a:lnSpc>
              <a:buNone/>
            </a:pPr>
            <a:endParaRPr lang="en-US" sz="12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1071" y="4820364"/>
            <a:ext cx="403503" cy="403503"/>
          </a:xfrm>
          <a:prstGeom prst="rect">
            <a:avLst/>
          </a:prstGeom>
        </p:spPr>
      </p:pic>
      <p:sp>
        <p:nvSpPr>
          <p:cNvPr id="17" name="Text 10"/>
          <p:cNvSpPr/>
          <p:nvPr/>
        </p:nvSpPr>
        <p:spPr>
          <a:xfrm>
            <a:off x="951071" y="5387935"/>
            <a:ext cx="4818936"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Real-Time Communication: SignalR &amp; WebRTC</a:t>
            </a:r>
            <a:endParaRPr lang="en-US" sz="1550" dirty="0"/>
          </a:p>
        </p:txBody>
      </p:sp>
      <p:sp>
        <p:nvSpPr>
          <p:cNvPr id="18" name="Text 11"/>
          <p:cNvSpPr/>
          <p:nvPr/>
        </p:nvSpPr>
        <p:spPr>
          <a:xfrm>
            <a:off x="951071" y="5718810"/>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Enable instant messaging and live interactions.</a:t>
            </a:r>
            <a:endParaRPr lang="en-US" sz="125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97234" y="3542288"/>
            <a:ext cx="403503" cy="403503"/>
          </a:xfrm>
          <a:prstGeom prst="rect">
            <a:avLst/>
          </a:prstGeom>
        </p:spPr>
      </p:pic>
      <p:sp>
        <p:nvSpPr>
          <p:cNvPr id="20" name="Text 12"/>
          <p:cNvSpPr/>
          <p:nvPr/>
        </p:nvSpPr>
        <p:spPr>
          <a:xfrm>
            <a:off x="7397234" y="4109859"/>
            <a:ext cx="3020616"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Cloud Storage: ImageKit CDN</a:t>
            </a:r>
            <a:endParaRPr lang="en-US" sz="1550" dirty="0"/>
          </a:p>
        </p:txBody>
      </p:sp>
      <p:sp>
        <p:nvSpPr>
          <p:cNvPr id="21" name="Text 13"/>
          <p:cNvSpPr/>
          <p:nvPr/>
        </p:nvSpPr>
        <p:spPr>
          <a:xfrm>
            <a:off x="7397234" y="4440734"/>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Optimized content delivery for media assets.</a:t>
            </a:r>
            <a:endParaRPr lang="en-US" sz="125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1071" y="6215539"/>
            <a:ext cx="403503" cy="403503"/>
          </a:xfrm>
          <a:prstGeom prst="rect">
            <a:avLst/>
          </a:prstGeom>
        </p:spPr>
      </p:pic>
      <p:sp>
        <p:nvSpPr>
          <p:cNvPr id="23" name="Text 14"/>
          <p:cNvSpPr/>
          <p:nvPr/>
        </p:nvSpPr>
        <p:spPr>
          <a:xfrm>
            <a:off x="951071" y="6783110"/>
            <a:ext cx="3284815"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AI &amp; Automation: Vertex AI &amp; N8N</a:t>
            </a:r>
            <a:endParaRPr lang="en-US" sz="1550" dirty="0"/>
          </a:p>
        </p:txBody>
      </p:sp>
      <p:sp>
        <p:nvSpPr>
          <p:cNvPr id="24" name="Text 15"/>
          <p:cNvSpPr/>
          <p:nvPr/>
        </p:nvSpPr>
        <p:spPr>
          <a:xfrm>
            <a:off x="951071" y="7113984"/>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Workflow automation with intelligent AI capabilities.</a:t>
            </a:r>
            <a:endParaRPr lang="en-US" sz="1250" dirty="0"/>
          </a:p>
        </p:txBody>
      </p:sp>
      <p:pic>
        <p:nvPicPr>
          <p:cNvPr id="25"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97234" y="4937463"/>
            <a:ext cx="403503" cy="403503"/>
          </a:xfrm>
          <a:prstGeom prst="rect">
            <a:avLst/>
          </a:prstGeom>
        </p:spPr>
      </p:pic>
      <p:sp>
        <p:nvSpPr>
          <p:cNvPr id="26" name="Text 16"/>
          <p:cNvSpPr/>
          <p:nvPr/>
        </p:nvSpPr>
        <p:spPr>
          <a:xfrm>
            <a:off x="7397234" y="5505034"/>
            <a:ext cx="3669744" cy="252174"/>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Data Visualization: Chart.js &amp; jsPDF</a:t>
            </a:r>
            <a:endParaRPr lang="en-US" sz="1550" dirty="0"/>
          </a:p>
        </p:txBody>
      </p:sp>
      <p:sp>
        <p:nvSpPr>
          <p:cNvPr id="27" name="Text 17"/>
          <p:cNvSpPr/>
          <p:nvPr/>
        </p:nvSpPr>
        <p:spPr>
          <a:xfrm>
            <a:off x="7397234" y="5835908"/>
            <a:ext cx="6282095" cy="234196"/>
          </a:xfrm>
          <a:prstGeom prst="rect">
            <a:avLst/>
          </a:prstGeom>
          <a:noFill/>
          <a:ln/>
        </p:spPr>
        <p:txBody>
          <a:bodyPr wrap="none" lIns="0" tIns="0" rIns="0" bIns="0" rtlCol="0" anchor="t"/>
          <a:lstStyle/>
          <a:p>
            <a:pPr marL="0" indent="0" algn="l">
              <a:lnSpc>
                <a:spcPts val="1800"/>
              </a:lnSpc>
              <a:buNone/>
            </a:pPr>
            <a:r>
              <a:rPr lang="en-US" sz="1250" dirty="0">
                <a:solidFill>
                  <a:srgbClr val="405449"/>
                </a:solidFill>
                <a:latin typeface="Nobile" pitchFamily="34" charset="0"/>
                <a:ea typeface="Nobile" pitchFamily="34" charset="-122"/>
                <a:cs typeface="Nobile" pitchFamily="34" charset="-120"/>
              </a:rPr>
              <a:t>Libraries for dynamic charts and PDF report generation.</a:t>
            </a:r>
            <a:endParaRPr lang="en-US" sz="1250" dirty="0"/>
          </a:p>
        </p:txBody>
      </p:sp>
      <p:pic>
        <p:nvPicPr>
          <p:cNvPr id="29" name="Picture 28">
            <a:extLst>
              <a:ext uri="{FF2B5EF4-FFF2-40B4-BE49-F238E27FC236}">
                <a16:creationId xmlns:a16="http://schemas.microsoft.com/office/drawing/2014/main" id="{BCFDDB3A-B8EB-CA5B-00F8-7B87C20D2F05}"/>
              </a:ext>
            </a:extLst>
          </p:cNvPr>
          <p:cNvPicPr>
            <a:picLocks noChangeAspect="1"/>
          </p:cNvPicPr>
          <p:nvPr/>
        </p:nvPicPr>
        <p:blipFill>
          <a:blip r:embed="rId10"/>
          <a:stretch>
            <a:fillRect/>
          </a:stretch>
        </p:blipFill>
        <p:spPr>
          <a:xfrm>
            <a:off x="11959970" y="7762810"/>
            <a:ext cx="2553056" cy="466790"/>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4028-CBD8-F649-78FE-1C435DCB3D0A}"/>
            </a:ext>
          </a:extLst>
        </p:cNvPr>
        <p:cNvGrpSpPr/>
        <p:nvPr/>
      </p:nvGrpSpPr>
      <p:grpSpPr>
        <a:xfrm>
          <a:off x="0" y="0"/>
          <a:ext cx="0" cy="0"/>
          <a:chOff x="0" y="0"/>
          <a:chExt cx="0" cy="0"/>
        </a:xfrm>
      </p:grpSpPr>
      <p:sp>
        <p:nvSpPr>
          <p:cNvPr id="24" name="Text 15">
            <a:extLst>
              <a:ext uri="{FF2B5EF4-FFF2-40B4-BE49-F238E27FC236}">
                <a16:creationId xmlns:a16="http://schemas.microsoft.com/office/drawing/2014/main" id="{83C85394-8560-BACD-373D-FFD0DC8C292A}"/>
              </a:ext>
            </a:extLst>
          </p:cNvPr>
          <p:cNvSpPr/>
          <p:nvPr/>
        </p:nvSpPr>
        <p:spPr>
          <a:xfrm>
            <a:off x="951071" y="7113984"/>
            <a:ext cx="6282095" cy="234196"/>
          </a:xfrm>
          <a:prstGeom prst="rect">
            <a:avLst/>
          </a:prstGeom>
          <a:noFill/>
          <a:ln/>
        </p:spPr>
        <p:txBody>
          <a:bodyPr wrap="none" lIns="0" tIns="0" rIns="0" bIns="0" rtlCol="0" anchor="t"/>
          <a:lstStyle/>
          <a:p>
            <a:pPr marL="0" indent="0" algn="l">
              <a:lnSpc>
                <a:spcPts val="1800"/>
              </a:lnSpc>
              <a:buNone/>
            </a:pPr>
            <a:endParaRPr lang="en-US" sz="1250" dirty="0"/>
          </a:p>
        </p:txBody>
      </p:sp>
      <p:pic>
        <p:nvPicPr>
          <p:cNvPr id="29" name="Picture 28">
            <a:extLst>
              <a:ext uri="{FF2B5EF4-FFF2-40B4-BE49-F238E27FC236}">
                <a16:creationId xmlns:a16="http://schemas.microsoft.com/office/drawing/2014/main" id="{D8E6E396-A72D-929F-D0F1-C5A4CE67A90C}"/>
              </a:ext>
            </a:extLst>
          </p:cNvPr>
          <p:cNvPicPr>
            <a:picLocks noChangeAspect="1"/>
          </p:cNvPicPr>
          <p:nvPr/>
        </p:nvPicPr>
        <p:blipFill>
          <a:blip r:embed="rId4"/>
          <a:stretch>
            <a:fillRect/>
          </a:stretch>
        </p:blipFill>
        <p:spPr>
          <a:xfrm>
            <a:off x="11959970" y="7762810"/>
            <a:ext cx="2553056" cy="466790"/>
          </a:xfrm>
          <a:prstGeom prst="rect">
            <a:avLst/>
          </a:prstGeom>
        </p:spPr>
      </p:pic>
      <p:pic>
        <p:nvPicPr>
          <p:cNvPr id="2" name="Online Media 1" title="Accisure Promo video">
            <a:hlinkClick r:id="" action="ppaction://media"/>
            <a:extLst>
              <a:ext uri="{FF2B5EF4-FFF2-40B4-BE49-F238E27FC236}">
                <a16:creationId xmlns:a16="http://schemas.microsoft.com/office/drawing/2014/main" id="{E6E1756F-590F-41D8-865D-4FDBE81EFFCA}"/>
              </a:ext>
            </a:extLst>
          </p:cNvPr>
          <p:cNvPicPr>
            <a:picLocks noRot="1" noChangeAspect="1"/>
          </p:cNvPicPr>
          <p:nvPr>
            <a:videoFile r:link="rId1"/>
          </p:nvPr>
        </p:nvPicPr>
        <p:blipFill>
          <a:blip r:embed="rId5"/>
          <a:stretch>
            <a:fillRect/>
          </a:stretch>
        </p:blipFill>
        <p:spPr>
          <a:xfrm>
            <a:off x="499007" y="275276"/>
            <a:ext cx="13632386" cy="7679048"/>
          </a:xfrm>
          <a:prstGeom prst="rect">
            <a:avLst/>
          </a:prstGeom>
        </p:spPr>
      </p:pic>
    </p:spTree>
    <p:extLst>
      <p:ext uri="{BB962C8B-B14F-4D97-AF65-F5344CB8AC3E}">
        <p14:creationId xmlns:p14="http://schemas.microsoft.com/office/powerpoint/2010/main" val="28794702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0534C-1734-8E9F-54C9-00439942E645}"/>
            </a:ext>
          </a:extLst>
        </p:cNvPr>
        <p:cNvGrpSpPr/>
        <p:nvPr/>
      </p:nvGrpSpPr>
      <p:grpSpPr>
        <a:xfrm>
          <a:off x="0" y="0"/>
          <a:ext cx="0" cy="0"/>
          <a:chOff x="0" y="0"/>
          <a:chExt cx="0" cy="0"/>
        </a:xfrm>
      </p:grpSpPr>
      <p:sp>
        <p:nvSpPr>
          <p:cNvPr id="25" name="AutoShape 2" descr=", AI generated">
            <a:extLst>
              <a:ext uri="{FF2B5EF4-FFF2-40B4-BE49-F238E27FC236}">
                <a16:creationId xmlns:a16="http://schemas.microsoft.com/office/drawing/2014/main" id="{E3664FCF-4F2D-E800-D37A-AE08FAD168D4}"/>
              </a:ext>
            </a:extLst>
          </p:cNvPr>
          <p:cNvSpPr>
            <a:spLocks noChangeAspect="1" noChangeArrowheads="1"/>
          </p:cNvSpPr>
          <p:nvPr/>
        </p:nvSpPr>
        <p:spPr bwMode="auto">
          <a:xfrm>
            <a:off x="7162799" y="3962399"/>
            <a:ext cx="5504985" cy="55049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235EBD1C-04CE-82FB-0FBA-64A18AA87B09}"/>
              </a:ext>
            </a:extLst>
          </p:cNvPr>
          <p:cNvPicPr>
            <a:picLocks noChangeAspect="1"/>
          </p:cNvPicPr>
          <p:nvPr/>
        </p:nvPicPr>
        <p:blipFill>
          <a:blip r:embed="rId3"/>
          <a:stretch>
            <a:fillRect/>
          </a:stretch>
        </p:blipFill>
        <p:spPr>
          <a:xfrm>
            <a:off x="12305976" y="7564668"/>
            <a:ext cx="2324424" cy="571580"/>
          </a:xfrm>
          <a:prstGeom prst="rect">
            <a:avLst/>
          </a:prstGeom>
        </p:spPr>
      </p:pic>
      <p:pic>
        <p:nvPicPr>
          <p:cNvPr id="1028" name="Picture 4" descr="PlantUML Diagram">
            <a:extLst>
              <a:ext uri="{FF2B5EF4-FFF2-40B4-BE49-F238E27FC236}">
                <a16:creationId xmlns:a16="http://schemas.microsoft.com/office/drawing/2014/main" id="{62CB0921-C82A-013C-90E7-0631963D0B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09650"/>
            <a:ext cx="14325600" cy="621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07952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C25D14-C759-42BB-F9F4-3C46529B665B}"/>
              </a:ext>
            </a:extLst>
          </p:cNvPr>
          <p:cNvPicPr>
            <a:picLocks noChangeAspect="1"/>
          </p:cNvPicPr>
          <p:nvPr/>
        </p:nvPicPr>
        <p:blipFill>
          <a:blip r:embed="rId3"/>
          <a:srcRect l="4026" t="10309" r="5125"/>
          <a:stretch>
            <a:fillRect/>
          </a:stretch>
        </p:blipFill>
        <p:spPr>
          <a:xfrm>
            <a:off x="1" y="825190"/>
            <a:ext cx="14630400" cy="6579219"/>
          </a:xfrm>
          <a:prstGeom prst="rect">
            <a:avLst/>
          </a:prstGeom>
        </p:spPr>
      </p:pic>
      <p:pic>
        <p:nvPicPr>
          <p:cNvPr id="20" name="Picture 19">
            <a:extLst>
              <a:ext uri="{FF2B5EF4-FFF2-40B4-BE49-F238E27FC236}">
                <a16:creationId xmlns:a16="http://schemas.microsoft.com/office/drawing/2014/main" id="{29413DC1-D931-E18D-4E7C-02F313292675}"/>
              </a:ext>
            </a:extLst>
          </p:cNvPr>
          <p:cNvPicPr>
            <a:picLocks noChangeAspect="1"/>
          </p:cNvPicPr>
          <p:nvPr/>
        </p:nvPicPr>
        <p:blipFill>
          <a:blip r:embed="rId4"/>
          <a:stretch>
            <a:fillRect/>
          </a:stretch>
        </p:blipFill>
        <p:spPr>
          <a:xfrm>
            <a:off x="11658185" y="7772336"/>
            <a:ext cx="2972215" cy="457264"/>
          </a:xfrm>
          <a:prstGeom prst="rect">
            <a:avLst/>
          </a:prstGeom>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6527" y="553641"/>
            <a:ext cx="4916329" cy="614482"/>
          </a:xfrm>
          <a:prstGeom prst="rect">
            <a:avLst/>
          </a:prstGeom>
          <a:noFill/>
          <a:ln/>
        </p:spPr>
        <p:txBody>
          <a:bodyPr wrap="none" lIns="0" tIns="0" rIns="0" bIns="0" rtlCol="0" anchor="t"/>
          <a:lstStyle/>
          <a:p>
            <a:pPr marL="0" indent="0" algn="l">
              <a:lnSpc>
                <a:spcPts val="4800"/>
              </a:lnSpc>
              <a:buNone/>
            </a:pPr>
            <a:r>
              <a:rPr lang="en-US" sz="3850" b="1" dirty="0">
                <a:solidFill>
                  <a:srgbClr val="3B4540"/>
                </a:solidFill>
                <a:latin typeface="Fraunces Extra Bold" pitchFamily="34" charset="0"/>
                <a:ea typeface="Fraunces Extra Bold" pitchFamily="34" charset="-122"/>
                <a:cs typeface="Fraunces Extra Bold" pitchFamily="34" charset="-120"/>
              </a:rPr>
              <a:t>Unique Features</a:t>
            </a:r>
            <a:endParaRPr lang="en-US" sz="3850" dirty="0"/>
          </a:p>
        </p:txBody>
      </p:sp>
      <p:sp>
        <p:nvSpPr>
          <p:cNvPr id="3" name="Text 1"/>
          <p:cNvSpPr/>
          <p:nvPr/>
        </p:nvSpPr>
        <p:spPr>
          <a:xfrm>
            <a:off x="786527" y="1557814"/>
            <a:ext cx="13057346" cy="313253"/>
          </a:xfrm>
          <a:prstGeom prst="rect">
            <a:avLst/>
          </a:prstGeom>
          <a:noFill/>
          <a:ln/>
        </p:spPr>
        <p:txBody>
          <a:bodyPr wrap="none" lIns="0" tIns="0" rIns="0" bIns="0" rtlCol="0" anchor="t"/>
          <a:lstStyle/>
          <a:p>
            <a:pPr marL="0" indent="0" algn="l">
              <a:lnSpc>
                <a:spcPts val="2450"/>
              </a:lnSpc>
              <a:buNone/>
            </a:pPr>
            <a:r>
              <a:rPr lang="en-US" sz="1500" dirty="0">
                <a:solidFill>
                  <a:srgbClr val="405449"/>
                </a:solidFill>
                <a:latin typeface="Nobile" pitchFamily="34" charset="0"/>
                <a:ea typeface="Nobile" pitchFamily="34" charset="-122"/>
                <a:cs typeface="Nobile" pitchFamily="34" charset="-120"/>
              </a:rPr>
              <a:t>AcciSure integrates cutting-edge technology to redefine the insurance experience, making it smarter, faster, and more secure.</a:t>
            </a:r>
            <a:endParaRPr lang="en-US" sz="1500" dirty="0"/>
          </a:p>
        </p:txBody>
      </p:sp>
      <p:sp>
        <p:nvSpPr>
          <p:cNvPr id="4" name="Shape 2"/>
          <p:cNvSpPr/>
          <p:nvPr/>
        </p:nvSpPr>
        <p:spPr>
          <a:xfrm>
            <a:off x="786527" y="2090261"/>
            <a:ext cx="3118247" cy="3162300"/>
          </a:xfrm>
          <a:prstGeom prst="roundRect">
            <a:avLst>
              <a:gd name="adj" fmla="val 5676"/>
            </a:avLst>
          </a:prstGeom>
          <a:solidFill>
            <a:srgbClr val="E8F3E8"/>
          </a:solidFill>
          <a:ln/>
        </p:spPr>
        <p:txBody>
          <a:bodyPr/>
          <a:lstStyle/>
          <a:p>
            <a:endParaRPr lang="en-IN"/>
          </a:p>
        </p:txBody>
      </p:sp>
      <p:sp>
        <p:nvSpPr>
          <p:cNvPr id="5" name="Shape 3"/>
          <p:cNvSpPr/>
          <p:nvPr/>
        </p:nvSpPr>
        <p:spPr>
          <a:xfrm>
            <a:off x="983099" y="2286833"/>
            <a:ext cx="589955" cy="589955"/>
          </a:xfrm>
          <a:prstGeom prst="roundRect">
            <a:avLst>
              <a:gd name="adj" fmla="val 15497937"/>
            </a:avLst>
          </a:prstGeom>
          <a:solidFill>
            <a:srgbClr val="438951"/>
          </a:solidFill>
          <a:ln/>
        </p:spPr>
        <p:txBody>
          <a:bodyPr/>
          <a:lstStyle/>
          <a:p>
            <a:endParaRPr lang="en-IN"/>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5381" y="2449116"/>
            <a:ext cx="265390" cy="265390"/>
          </a:xfrm>
          <a:prstGeom prst="rect">
            <a:avLst/>
          </a:prstGeom>
        </p:spPr>
      </p:pic>
      <p:sp>
        <p:nvSpPr>
          <p:cNvPr id="7" name="Text 4"/>
          <p:cNvSpPr/>
          <p:nvPr/>
        </p:nvSpPr>
        <p:spPr>
          <a:xfrm>
            <a:off x="983099" y="3071574"/>
            <a:ext cx="2458164" cy="307300"/>
          </a:xfrm>
          <a:prstGeom prst="rect">
            <a:avLst/>
          </a:prstGeom>
          <a:noFill/>
          <a:ln/>
        </p:spPr>
        <p:txBody>
          <a:bodyPr wrap="none" lIns="0" tIns="0" rIns="0" bIns="0" rtlCol="0" anchor="t"/>
          <a:lstStyle/>
          <a:p>
            <a:pPr marL="0" indent="0" algn="l">
              <a:lnSpc>
                <a:spcPts val="2400"/>
              </a:lnSpc>
              <a:buNone/>
            </a:pPr>
            <a:r>
              <a:rPr lang="en-US" sz="1900" b="1" dirty="0">
                <a:solidFill>
                  <a:srgbClr val="405449"/>
                </a:solidFill>
                <a:latin typeface="Fraunces Extra Bold" pitchFamily="34" charset="0"/>
                <a:ea typeface="Fraunces Extra Bold" pitchFamily="34" charset="-122"/>
                <a:cs typeface="Fraunces Extra Bold" pitchFamily="34" charset="-120"/>
              </a:rPr>
              <a:t>AI Policy Chatbot</a:t>
            </a:r>
            <a:endParaRPr lang="en-US" sz="1900" dirty="0"/>
          </a:p>
        </p:txBody>
      </p:sp>
      <p:sp>
        <p:nvSpPr>
          <p:cNvPr id="8" name="Text 5"/>
          <p:cNvSpPr/>
          <p:nvPr/>
        </p:nvSpPr>
        <p:spPr>
          <a:xfrm>
            <a:off x="983099" y="3495675"/>
            <a:ext cx="2725103" cy="1253014"/>
          </a:xfrm>
          <a:prstGeom prst="rect">
            <a:avLst/>
          </a:prstGeom>
          <a:noFill/>
          <a:ln/>
        </p:spPr>
        <p:txBody>
          <a:bodyPr wrap="square" lIns="0" tIns="0" rIns="0" bIns="0" rtlCol="0" anchor="t"/>
          <a:lstStyle/>
          <a:p>
            <a:pPr marL="0" indent="0" algn="l">
              <a:lnSpc>
                <a:spcPts val="2450"/>
              </a:lnSpc>
              <a:buNone/>
            </a:pPr>
            <a:r>
              <a:rPr lang="en-US" sz="1500" dirty="0">
                <a:latin typeface="Nobile" pitchFamily="34" charset="0"/>
                <a:ea typeface="Nobile" pitchFamily="34" charset="-122"/>
                <a:cs typeface="Nobile" pitchFamily="34" charset="-120"/>
              </a:rPr>
              <a:t>Instant, multilingual support for policy queries and guidance, powered by N8N with RAG &amp; LLM.</a:t>
            </a:r>
            <a:endParaRPr lang="en-US" sz="1500" dirty="0"/>
          </a:p>
        </p:txBody>
      </p:sp>
      <p:sp>
        <p:nvSpPr>
          <p:cNvPr id="9" name="Shape 6"/>
          <p:cNvSpPr/>
          <p:nvPr/>
        </p:nvSpPr>
        <p:spPr>
          <a:xfrm>
            <a:off x="4099560" y="2090261"/>
            <a:ext cx="3118247" cy="3162300"/>
          </a:xfrm>
          <a:prstGeom prst="roundRect">
            <a:avLst>
              <a:gd name="adj" fmla="val 5676"/>
            </a:avLst>
          </a:prstGeom>
          <a:solidFill>
            <a:srgbClr val="E8F3E8"/>
          </a:solidFill>
          <a:ln/>
        </p:spPr>
        <p:txBody>
          <a:bodyPr/>
          <a:lstStyle/>
          <a:p>
            <a:endParaRPr lang="en-IN"/>
          </a:p>
        </p:txBody>
      </p:sp>
      <p:sp>
        <p:nvSpPr>
          <p:cNvPr id="10" name="Shape 7"/>
          <p:cNvSpPr/>
          <p:nvPr/>
        </p:nvSpPr>
        <p:spPr>
          <a:xfrm>
            <a:off x="4296132" y="2286833"/>
            <a:ext cx="589955" cy="589955"/>
          </a:xfrm>
          <a:prstGeom prst="roundRect">
            <a:avLst>
              <a:gd name="adj" fmla="val 15497937"/>
            </a:avLst>
          </a:prstGeom>
          <a:solidFill>
            <a:srgbClr val="438951"/>
          </a:solidFill>
          <a:ln/>
        </p:spPr>
        <p:txBody>
          <a:bodyPr/>
          <a:lstStyle/>
          <a:p>
            <a:endParaRPr lang="en-IN"/>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8414" y="2449116"/>
            <a:ext cx="265390" cy="265390"/>
          </a:xfrm>
          <a:prstGeom prst="rect">
            <a:avLst/>
          </a:prstGeom>
        </p:spPr>
      </p:pic>
      <p:sp>
        <p:nvSpPr>
          <p:cNvPr id="12" name="Text 8"/>
          <p:cNvSpPr/>
          <p:nvPr/>
        </p:nvSpPr>
        <p:spPr>
          <a:xfrm>
            <a:off x="4296132" y="3071574"/>
            <a:ext cx="2725103" cy="614601"/>
          </a:xfrm>
          <a:prstGeom prst="rect">
            <a:avLst/>
          </a:prstGeom>
          <a:noFill/>
          <a:ln/>
        </p:spPr>
        <p:txBody>
          <a:bodyPr wrap="square" lIns="0" tIns="0" rIns="0" bIns="0" rtlCol="0" anchor="t"/>
          <a:lstStyle/>
          <a:p>
            <a:pPr marL="0" indent="0" algn="l">
              <a:lnSpc>
                <a:spcPts val="2400"/>
              </a:lnSpc>
              <a:buNone/>
            </a:pPr>
            <a:r>
              <a:rPr lang="en-US" sz="1900" b="1" dirty="0">
                <a:solidFill>
                  <a:srgbClr val="405449"/>
                </a:solidFill>
                <a:latin typeface="Fraunces Extra Bold" pitchFamily="34" charset="0"/>
                <a:ea typeface="Fraunces Extra Bold" pitchFamily="34" charset="-122"/>
                <a:cs typeface="Fraunces Extra Bold" pitchFamily="34" charset="-120"/>
              </a:rPr>
              <a:t>AI Claims Intelligence</a:t>
            </a:r>
            <a:endParaRPr lang="en-US" sz="1900" dirty="0"/>
          </a:p>
        </p:txBody>
      </p:sp>
      <p:sp>
        <p:nvSpPr>
          <p:cNvPr id="13" name="Text 9"/>
          <p:cNvSpPr/>
          <p:nvPr/>
        </p:nvSpPr>
        <p:spPr>
          <a:xfrm>
            <a:off x="4296132" y="3587296"/>
            <a:ext cx="2725103" cy="1253014"/>
          </a:xfrm>
          <a:prstGeom prst="rect">
            <a:avLst/>
          </a:prstGeom>
          <a:noFill/>
          <a:ln/>
        </p:spPr>
        <p:txBody>
          <a:bodyPr wrap="square" lIns="0" tIns="0" rIns="0" bIns="0" rtlCol="0" anchor="t"/>
          <a:lstStyle/>
          <a:p>
            <a:pPr marL="0" indent="0" algn="l">
              <a:lnSpc>
                <a:spcPts val="2450"/>
              </a:lnSpc>
              <a:buNone/>
            </a:pPr>
            <a:r>
              <a:rPr lang="en-US" sz="1500" dirty="0">
                <a:latin typeface="Nobile" pitchFamily="34" charset="0"/>
                <a:ea typeface="Nobile" pitchFamily="34" charset="-122"/>
                <a:cs typeface="Nobile" pitchFamily="34" charset="-120"/>
              </a:rPr>
              <a:t>Automated document summarization and risk scoring for efficient claim assessment using Vertex AI</a:t>
            </a:r>
            <a:endParaRPr lang="en-US" sz="1500" dirty="0"/>
          </a:p>
        </p:txBody>
      </p:sp>
      <p:sp>
        <p:nvSpPr>
          <p:cNvPr id="14" name="Shape 10"/>
          <p:cNvSpPr/>
          <p:nvPr/>
        </p:nvSpPr>
        <p:spPr>
          <a:xfrm>
            <a:off x="7412593" y="2090261"/>
            <a:ext cx="3118247" cy="3162300"/>
          </a:xfrm>
          <a:prstGeom prst="roundRect">
            <a:avLst>
              <a:gd name="adj" fmla="val 5676"/>
            </a:avLst>
          </a:prstGeom>
          <a:solidFill>
            <a:srgbClr val="E8F3E8"/>
          </a:solidFill>
          <a:ln/>
        </p:spPr>
        <p:txBody>
          <a:bodyPr/>
          <a:lstStyle/>
          <a:p>
            <a:endParaRPr lang="en-IN"/>
          </a:p>
        </p:txBody>
      </p:sp>
      <p:sp>
        <p:nvSpPr>
          <p:cNvPr id="15" name="Shape 11"/>
          <p:cNvSpPr/>
          <p:nvPr/>
        </p:nvSpPr>
        <p:spPr>
          <a:xfrm>
            <a:off x="7609165" y="2286833"/>
            <a:ext cx="589955" cy="589955"/>
          </a:xfrm>
          <a:prstGeom prst="roundRect">
            <a:avLst>
              <a:gd name="adj" fmla="val 15497937"/>
            </a:avLst>
          </a:prstGeom>
          <a:solidFill>
            <a:srgbClr val="438951"/>
          </a:solidFill>
          <a:ln/>
        </p:spPr>
        <p:txBody>
          <a:bodyPr/>
          <a:lstStyle/>
          <a:p>
            <a:endParaRPr lang="en-IN"/>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71448" y="2449116"/>
            <a:ext cx="265390" cy="265390"/>
          </a:xfrm>
          <a:prstGeom prst="rect">
            <a:avLst/>
          </a:prstGeom>
        </p:spPr>
      </p:pic>
      <p:sp>
        <p:nvSpPr>
          <p:cNvPr id="17" name="Text 12"/>
          <p:cNvSpPr/>
          <p:nvPr/>
        </p:nvSpPr>
        <p:spPr>
          <a:xfrm>
            <a:off x="7609165" y="3071574"/>
            <a:ext cx="2458164" cy="307300"/>
          </a:xfrm>
          <a:prstGeom prst="rect">
            <a:avLst/>
          </a:prstGeom>
          <a:noFill/>
          <a:ln/>
        </p:spPr>
        <p:txBody>
          <a:bodyPr wrap="none" lIns="0" tIns="0" rIns="0" bIns="0" rtlCol="0" anchor="t"/>
          <a:lstStyle/>
          <a:p>
            <a:pPr marL="0" indent="0" algn="l">
              <a:lnSpc>
                <a:spcPts val="2400"/>
              </a:lnSpc>
              <a:buNone/>
            </a:pPr>
            <a:r>
              <a:rPr lang="en-US" sz="1900" b="1" dirty="0">
                <a:solidFill>
                  <a:srgbClr val="405449"/>
                </a:solidFill>
                <a:latin typeface="Fraunces Extra Bold" pitchFamily="34" charset="0"/>
                <a:ea typeface="Fraunces Extra Bold" pitchFamily="34" charset="-122"/>
                <a:cs typeface="Fraunces Extra Bold" pitchFamily="34" charset="-120"/>
              </a:rPr>
              <a:t>Real-time Chat</a:t>
            </a:r>
            <a:endParaRPr lang="en-US" sz="1900" dirty="0"/>
          </a:p>
        </p:txBody>
      </p:sp>
      <p:sp>
        <p:nvSpPr>
          <p:cNvPr id="18" name="Text 13"/>
          <p:cNvSpPr/>
          <p:nvPr/>
        </p:nvSpPr>
        <p:spPr>
          <a:xfrm>
            <a:off x="7609165" y="3495675"/>
            <a:ext cx="2725103" cy="1253014"/>
          </a:xfrm>
          <a:prstGeom prst="rect">
            <a:avLst/>
          </a:prstGeom>
          <a:noFill/>
          <a:ln/>
        </p:spPr>
        <p:txBody>
          <a:bodyPr wrap="square" lIns="0" tIns="0" rIns="0" bIns="0" rtlCol="0" anchor="t"/>
          <a:lstStyle/>
          <a:p>
            <a:pPr marL="0" indent="0" algn="l">
              <a:lnSpc>
                <a:spcPts val="2450"/>
              </a:lnSpc>
              <a:buNone/>
            </a:pPr>
            <a:r>
              <a:rPr lang="en-US" sz="1500" dirty="0">
                <a:latin typeface="Nobile" pitchFamily="34" charset="0"/>
                <a:ea typeface="Nobile" pitchFamily="34" charset="-122"/>
                <a:cs typeface="Nobile" pitchFamily="34" charset="-120"/>
              </a:rPr>
              <a:t>Seamless, instant communication between customers and agents via SignalR.</a:t>
            </a:r>
            <a:endParaRPr lang="en-US" sz="1500" dirty="0"/>
          </a:p>
        </p:txBody>
      </p:sp>
      <p:sp>
        <p:nvSpPr>
          <p:cNvPr id="19" name="Shape 14"/>
          <p:cNvSpPr/>
          <p:nvPr/>
        </p:nvSpPr>
        <p:spPr>
          <a:xfrm>
            <a:off x="10725626" y="2090261"/>
            <a:ext cx="3118247" cy="3162300"/>
          </a:xfrm>
          <a:prstGeom prst="roundRect">
            <a:avLst>
              <a:gd name="adj" fmla="val 5676"/>
            </a:avLst>
          </a:prstGeom>
          <a:solidFill>
            <a:srgbClr val="E8F3E8"/>
          </a:solidFill>
          <a:ln/>
        </p:spPr>
        <p:txBody>
          <a:bodyPr/>
          <a:lstStyle/>
          <a:p>
            <a:endParaRPr lang="en-IN"/>
          </a:p>
        </p:txBody>
      </p:sp>
      <p:sp>
        <p:nvSpPr>
          <p:cNvPr id="20" name="Shape 15"/>
          <p:cNvSpPr/>
          <p:nvPr/>
        </p:nvSpPr>
        <p:spPr>
          <a:xfrm>
            <a:off x="10922198" y="2286833"/>
            <a:ext cx="589955" cy="589955"/>
          </a:xfrm>
          <a:prstGeom prst="roundRect">
            <a:avLst>
              <a:gd name="adj" fmla="val 15497937"/>
            </a:avLst>
          </a:prstGeom>
          <a:solidFill>
            <a:srgbClr val="438951"/>
          </a:solidFill>
          <a:ln/>
        </p:spPr>
        <p:txBody>
          <a:bodyPr/>
          <a:lstStyle/>
          <a:p>
            <a:endParaRPr lang="en-IN"/>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4481" y="2449116"/>
            <a:ext cx="265390" cy="265390"/>
          </a:xfrm>
          <a:prstGeom prst="rect">
            <a:avLst/>
          </a:prstGeom>
        </p:spPr>
      </p:pic>
      <p:sp>
        <p:nvSpPr>
          <p:cNvPr id="22" name="Text 16"/>
          <p:cNvSpPr/>
          <p:nvPr/>
        </p:nvSpPr>
        <p:spPr>
          <a:xfrm>
            <a:off x="10922198" y="3071574"/>
            <a:ext cx="2725103" cy="614601"/>
          </a:xfrm>
          <a:prstGeom prst="rect">
            <a:avLst/>
          </a:prstGeom>
          <a:noFill/>
          <a:ln/>
        </p:spPr>
        <p:txBody>
          <a:bodyPr wrap="square" lIns="0" tIns="0" rIns="0" bIns="0" rtlCol="0" anchor="t"/>
          <a:lstStyle/>
          <a:p>
            <a:pPr marL="0" indent="0" algn="l">
              <a:lnSpc>
                <a:spcPts val="2400"/>
              </a:lnSpc>
              <a:buNone/>
            </a:pPr>
            <a:r>
              <a:rPr lang="en-US" sz="1900" b="1" dirty="0">
                <a:solidFill>
                  <a:srgbClr val="405449"/>
                </a:solidFill>
                <a:latin typeface="Fraunces Extra Bold" pitchFamily="34" charset="0"/>
              </a:rPr>
              <a:t>Onboarding Call </a:t>
            </a:r>
            <a:endParaRPr lang="en-US" sz="1900" dirty="0"/>
          </a:p>
        </p:txBody>
      </p:sp>
      <p:sp>
        <p:nvSpPr>
          <p:cNvPr id="23" name="Text 17"/>
          <p:cNvSpPr/>
          <p:nvPr/>
        </p:nvSpPr>
        <p:spPr>
          <a:xfrm>
            <a:off x="10922197" y="3514932"/>
            <a:ext cx="2725103" cy="939760"/>
          </a:xfrm>
          <a:prstGeom prst="rect">
            <a:avLst/>
          </a:prstGeom>
          <a:noFill/>
          <a:ln/>
        </p:spPr>
        <p:txBody>
          <a:bodyPr wrap="square" lIns="0" tIns="0" rIns="0" bIns="0" rtlCol="0" anchor="t"/>
          <a:lstStyle/>
          <a:p>
            <a:pPr>
              <a:lnSpc>
                <a:spcPts val="2200"/>
              </a:lnSpc>
              <a:buSzPct val="100000"/>
            </a:pPr>
            <a:r>
              <a:rPr lang="en-US" sz="1500" dirty="0">
                <a:latin typeface="Nobile" panose="020B0604020202020204" charset="0"/>
              </a:rPr>
              <a:t>An AI-powered onboarding assistant makes a call to the user and guides them through the KYC verification process.</a:t>
            </a:r>
            <a:endParaRPr lang="en-US" sz="1500" dirty="0">
              <a:solidFill>
                <a:srgbClr val="405449"/>
              </a:solidFill>
              <a:latin typeface="Nobile" panose="020B0604020202020204" charset="0"/>
              <a:ea typeface="Nobile" pitchFamily="34" charset="-122"/>
              <a:cs typeface="Nobile" pitchFamily="34" charset="-120"/>
            </a:endParaRPr>
          </a:p>
        </p:txBody>
      </p:sp>
      <p:sp>
        <p:nvSpPr>
          <p:cNvPr id="24" name="Shape 18"/>
          <p:cNvSpPr/>
          <p:nvPr/>
        </p:nvSpPr>
        <p:spPr>
          <a:xfrm>
            <a:off x="786527" y="5447348"/>
            <a:ext cx="4755629" cy="2495809"/>
          </a:xfrm>
          <a:prstGeom prst="roundRect">
            <a:avLst>
              <a:gd name="adj" fmla="val 7942"/>
            </a:avLst>
          </a:prstGeom>
          <a:solidFill>
            <a:srgbClr val="E8F3E8"/>
          </a:solidFill>
          <a:ln/>
        </p:spPr>
        <p:txBody>
          <a:bodyPr/>
          <a:lstStyle/>
          <a:p>
            <a:endParaRPr lang="en-IN"/>
          </a:p>
        </p:txBody>
      </p:sp>
      <p:sp>
        <p:nvSpPr>
          <p:cNvPr id="25" name="Shape 19"/>
          <p:cNvSpPr/>
          <p:nvPr/>
        </p:nvSpPr>
        <p:spPr>
          <a:xfrm>
            <a:off x="983099" y="5643920"/>
            <a:ext cx="589955" cy="589955"/>
          </a:xfrm>
          <a:prstGeom prst="roundRect">
            <a:avLst>
              <a:gd name="adj" fmla="val 15497937"/>
            </a:avLst>
          </a:prstGeom>
          <a:solidFill>
            <a:srgbClr val="438951"/>
          </a:solidFill>
          <a:ln/>
        </p:spPr>
        <p:txBody>
          <a:bodyPr/>
          <a:lstStyle/>
          <a:p>
            <a:endParaRPr lang="en-IN"/>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5381" y="5806202"/>
            <a:ext cx="265390" cy="265390"/>
          </a:xfrm>
          <a:prstGeom prst="rect">
            <a:avLst/>
          </a:prstGeom>
        </p:spPr>
      </p:pic>
      <p:sp>
        <p:nvSpPr>
          <p:cNvPr id="27" name="Text 20"/>
          <p:cNvSpPr/>
          <p:nvPr/>
        </p:nvSpPr>
        <p:spPr>
          <a:xfrm>
            <a:off x="983099" y="6428661"/>
            <a:ext cx="2656165" cy="307300"/>
          </a:xfrm>
          <a:prstGeom prst="rect">
            <a:avLst/>
          </a:prstGeom>
          <a:noFill/>
          <a:ln/>
        </p:spPr>
        <p:txBody>
          <a:bodyPr wrap="none" lIns="0" tIns="0" rIns="0" bIns="0" rtlCol="0" anchor="t"/>
          <a:lstStyle/>
          <a:p>
            <a:pPr marL="0" indent="0" algn="l">
              <a:lnSpc>
                <a:spcPts val="2400"/>
              </a:lnSpc>
              <a:buNone/>
            </a:pPr>
            <a:r>
              <a:rPr lang="en-US" sz="1900" b="1" dirty="0">
                <a:solidFill>
                  <a:srgbClr val="405449"/>
                </a:solidFill>
                <a:latin typeface="Fraunces Extra Bold" pitchFamily="34" charset="0"/>
                <a:ea typeface="Fraunces Extra Bold" pitchFamily="34" charset="-122"/>
                <a:cs typeface="Fraunces Extra Bold" pitchFamily="34" charset="-120"/>
              </a:rPr>
              <a:t>Secure Cloud Storage</a:t>
            </a:r>
            <a:endParaRPr lang="en-US" sz="1900" dirty="0"/>
          </a:p>
        </p:txBody>
      </p:sp>
      <p:sp>
        <p:nvSpPr>
          <p:cNvPr id="28" name="Text 21"/>
          <p:cNvSpPr/>
          <p:nvPr/>
        </p:nvSpPr>
        <p:spPr>
          <a:xfrm>
            <a:off x="983099" y="6852761"/>
            <a:ext cx="6038136" cy="626507"/>
          </a:xfrm>
          <a:prstGeom prst="rect">
            <a:avLst/>
          </a:prstGeom>
          <a:noFill/>
          <a:ln/>
        </p:spPr>
        <p:txBody>
          <a:bodyPr wrap="square" lIns="0" tIns="0" rIns="0" bIns="0" rtlCol="0" anchor="t"/>
          <a:lstStyle/>
          <a:p>
            <a:pPr marL="0" indent="0" algn="l">
              <a:lnSpc>
                <a:spcPts val="2450"/>
              </a:lnSpc>
              <a:buNone/>
            </a:pPr>
            <a:r>
              <a:rPr lang="en-US" sz="1500" dirty="0">
                <a:latin typeface="Nobile" pitchFamily="34" charset="0"/>
                <a:ea typeface="Nobile" pitchFamily="34" charset="-122"/>
                <a:cs typeface="Nobile" pitchFamily="34" charset="-120"/>
              </a:rPr>
              <a:t>Encrypted storage and efficient delivery of </a:t>
            </a:r>
          </a:p>
          <a:p>
            <a:pPr marL="0" indent="0" algn="l">
              <a:lnSpc>
                <a:spcPts val="2450"/>
              </a:lnSpc>
              <a:buNone/>
            </a:pPr>
            <a:r>
              <a:rPr lang="en-US" sz="1500" dirty="0">
                <a:latin typeface="Nobile" pitchFamily="34" charset="0"/>
                <a:ea typeface="Nobile" pitchFamily="34" charset="-122"/>
                <a:cs typeface="Nobile" pitchFamily="34" charset="-120"/>
              </a:rPr>
              <a:t>documents via ImageKit CDN.</a:t>
            </a:r>
            <a:endParaRPr lang="en-US" sz="1500" dirty="0"/>
          </a:p>
        </p:txBody>
      </p:sp>
      <p:sp>
        <p:nvSpPr>
          <p:cNvPr id="29" name="Shape 22"/>
          <p:cNvSpPr/>
          <p:nvPr/>
        </p:nvSpPr>
        <p:spPr>
          <a:xfrm>
            <a:off x="5702856" y="5410406"/>
            <a:ext cx="4353615" cy="2495809"/>
          </a:xfrm>
          <a:prstGeom prst="roundRect">
            <a:avLst>
              <a:gd name="adj" fmla="val 7942"/>
            </a:avLst>
          </a:prstGeom>
          <a:solidFill>
            <a:srgbClr val="E8F3E8"/>
          </a:solidFill>
          <a:ln/>
        </p:spPr>
        <p:txBody>
          <a:bodyPr/>
          <a:lstStyle/>
          <a:p>
            <a:endParaRPr lang="en-IN"/>
          </a:p>
        </p:txBody>
      </p:sp>
      <p:sp>
        <p:nvSpPr>
          <p:cNvPr id="30" name="Shape 23"/>
          <p:cNvSpPr/>
          <p:nvPr/>
        </p:nvSpPr>
        <p:spPr>
          <a:xfrm>
            <a:off x="5899429" y="5606978"/>
            <a:ext cx="601732" cy="589955"/>
          </a:xfrm>
          <a:prstGeom prst="roundRect">
            <a:avLst>
              <a:gd name="adj" fmla="val 15497937"/>
            </a:avLst>
          </a:prstGeom>
          <a:solidFill>
            <a:srgbClr val="438951"/>
          </a:solidFill>
          <a:ln/>
        </p:spPr>
        <p:txBody>
          <a:bodyPr/>
          <a:lstStyle/>
          <a:p>
            <a:endParaRPr lang="en-IN"/>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61711" y="5769260"/>
            <a:ext cx="196243" cy="265390"/>
          </a:xfrm>
          <a:prstGeom prst="rect">
            <a:avLst/>
          </a:prstGeom>
        </p:spPr>
      </p:pic>
      <p:sp>
        <p:nvSpPr>
          <p:cNvPr id="32" name="Text 24"/>
          <p:cNvSpPr/>
          <p:nvPr/>
        </p:nvSpPr>
        <p:spPr>
          <a:xfrm>
            <a:off x="5899429" y="6391719"/>
            <a:ext cx="1982774" cy="307300"/>
          </a:xfrm>
          <a:prstGeom prst="rect">
            <a:avLst/>
          </a:prstGeom>
          <a:noFill/>
          <a:ln/>
        </p:spPr>
        <p:txBody>
          <a:bodyPr wrap="none" lIns="0" tIns="0" rIns="0" bIns="0" rtlCol="0" anchor="t"/>
          <a:lstStyle/>
          <a:p>
            <a:pPr marL="0" indent="0" algn="l">
              <a:lnSpc>
                <a:spcPts val="2400"/>
              </a:lnSpc>
              <a:buNone/>
            </a:pPr>
            <a:r>
              <a:rPr lang="en-US" sz="1900" b="1" dirty="0">
                <a:solidFill>
                  <a:srgbClr val="405449"/>
                </a:solidFill>
                <a:latin typeface="Fraunces Extra Bold" pitchFamily="34" charset="0"/>
                <a:ea typeface="Fraunces Extra Bold" pitchFamily="34" charset="-122"/>
                <a:cs typeface="Fraunces Extra Bold" pitchFamily="34" charset="-120"/>
              </a:rPr>
              <a:t>AI Voice Assistant in Dashboard </a:t>
            </a:r>
            <a:endParaRPr lang="en-US" sz="1900" dirty="0"/>
          </a:p>
        </p:txBody>
      </p:sp>
      <p:sp>
        <p:nvSpPr>
          <p:cNvPr id="33" name="Text 25"/>
          <p:cNvSpPr/>
          <p:nvPr/>
        </p:nvSpPr>
        <p:spPr>
          <a:xfrm>
            <a:off x="5899428" y="6815819"/>
            <a:ext cx="4464918" cy="626507"/>
          </a:xfrm>
          <a:prstGeom prst="rect">
            <a:avLst/>
          </a:prstGeom>
          <a:noFill/>
          <a:ln/>
        </p:spPr>
        <p:txBody>
          <a:bodyPr wrap="square" lIns="0" tIns="0" rIns="0" bIns="0" rtlCol="0" anchor="t"/>
          <a:lstStyle/>
          <a:p>
            <a:pPr>
              <a:lnSpc>
                <a:spcPts val="2450"/>
              </a:lnSpc>
            </a:pPr>
            <a:r>
              <a:rPr lang="en-US" sz="1500" dirty="0">
                <a:latin typeface="Nobile" panose="020B0604020202020204" charset="0"/>
              </a:rPr>
              <a:t>An AI voice assistant integrated into the dashboard that guides users through all operations via voice and chat.</a:t>
            </a:r>
          </a:p>
        </p:txBody>
      </p:sp>
      <p:pic>
        <p:nvPicPr>
          <p:cNvPr id="34" name="Picture 33">
            <a:extLst>
              <a:ext uri="{FF2B5EF4-FFF2-40B4-BE49-F238E27FC236}">
                <a16:creationId xmlns:a16="http://schemas.microsoft.com/office/drawing/2014/main" id="{E83A9A1C-5117-54E3-57AD-EA3A1D60FA86}"/>
              </a:ext>
            </a:extLst>
          </p:cNvPr>
          <p:cNvPicPr>
            <a:picLocks noChangeAspect="1"/>
          </p:cNvPicPr>
          <p:nvPr/>
        </p:nvPicPr>
        <p:blipFill>
          <a:blip r:embed="rId9"/>
          <a:stretch>
            <a:fillRect/>
          </a:stretch>
        </p:blipFill>
        <p:spPr>
          <a:xfrm>
            <a:off x="11959970" y="7729356"/>
            <a:ext cx="2553056" cy="466790"/>
          </a:xfrm>
          <a:prstGeom prst="rect">
            <a:avLst/>
          </a:prstGeom>
        </p:spPr>
      </p:pic>
      <p:sp>
        <p:nvSpPr>
          <p:cNvPr id="35" name="Shape 14">
            <a:extLst>
              <a:ext uri="{FF2B5EF4-FFF2-40B4-BE49-F238E27FC236}">
                <a16:creationId xmlns:a16="http://schemas.microsoft.com/office/drawing/2014/main" id="{9C130486-556A-7365-3183-A8FDFE9D5C5D}"/>
              </a:ext>
            </a:extLst>
          </p:cNvPr>
          <p:cNvSpPr/>
          <p:nvPr/>
        </p:nvSpPr>
        <p:spPr>
          <a:xfrm>
            <a:off x="10146619" y="5443674"/>
            <a:ext cx="3626701" cy="2495809"/>
          </a:xfrm>
          <a:prstGeom prst="roundRect">
            <a:avLst>
              <a:gd name="adj" fmla="val 5676"/>
            </a:avLst>
          </a:prstGeom>
          <a:solidFill>
            <a:srgbClr val="E8F3E8"/>
          </a:solidFill>
          <a:ln/>
        </p:spPr>
        <p:txBody>
          <a:bodyPr/>
          <a:lstStyle/>
          <a:p>
            <a:endParaRPr lang="en-IN"/>
          </a:p>
        </p:txBody>
      </p:sp>
      <p:sp>
        <p:nvSpPr>
          <p:cNvPr id="36" name="Shape 15">
            <a:extLst>
              <a:ext uri="{FF2B5EF4-FFF2-40B4-BE49-F238E27FC236}">
                <a16:creationId xmlns:a16="http://schemas.microsoft.com/office/drawing/2014/main" id="{EF416D21-BE2B-9DA3-6B17-51D6A1E4B101}"/>
              </a:ext>
            </a:extLst>
          </p:cNvPr>
          <p:cNvSpPr/>
          <p:nvPr/>
        </p:nvSpPr>
        <p:spPr>
          <a:xfrm>
            <a:off x="10426350" y="5653848"/>
            <a:ext cx="589955" cy="589955"/>
          </a:xfrm>
          <a:prstGeom prst="roundRect">
            <a:avLst>
              <a:gd name="adj" fmla="val 15497937"/>
            </a:avLst>
          </a:prstGeom>
          <a:solidFill>
            <a:srgbClr val="438951"/>
          </a:solidFill>
          <a:ln/>
        </p:spPr>
        <p:txBody>
          <a:bodyPr/>
          <a:lstStyle/>
          <a:p>
            <a:endParaRPr lang="en-IN"/>
          </a:p>
        </p:txBody>
      </p:sp>
      <p:pic>
        <p:nvPicPr>
          <p:cNvPr id="37" name="Image 3" descr="preencoded.png">
            <a:extLst>
              <a:ext uri="{FF2B5EF4-FFF2-40B4-BE49-F238E27FC236}">
                <a16:creationId xmlns:a16="http://schemas.microsoft.com/office/drawing/2014/main" id="{B750F33A-82BE-E0F9-67F2-930050B287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88632" y="5798011"/>
            <a:ext cx="265390" cy="265390"/>
          </a:xfrm>
          <a:prstGeom prst="rect">
            <a:avLst/>
          </a:prstGeom>
        </p:spPr>
      </p:pic>
      <p:sp>
        <p:nvSpPr>
          <p:cNvPr id="38" name="Text 16">
            <a:extLst>
              <a:ext uri="{FF2B5EF4-FFF2-40B4-BE49-F238E27FC236}">
                <a16:creationId xmlns:a16="http://schemas.microsoft.com/office/drawing/2014/main" id="{72AA87C9-00CD-E17B-98F7-56403CA8AB0E}"/>
              </a:ext>
            </a:extLst>
          </p:cNvPr>
          <p:cNvSpPr/>
          <p:nvPr/>
        </p:nvSpPr>
        <p:spPr>
          <a:xfrm>
            <a:off x="10394045" y="6373594"/>
            <a:ext cx="2725103" cy="614601"/>
          </a:xfrm>
          <a:prstGeom prst="rect">
            <a:avLst/>
          </a:prstGeom>
          <a:noFill/>
          <a:ln/>
        </p:spPr>
        <p:txBody>
          <a:bodyPr wrap="square" lIns="0" tIns="0" rIns="0" bIns="0" rtlCol="0" anchor="t"/>
          <a:lstStyle/>
          <a:p>
            <a:pPr marL="0" indent="0" algn="l">
              <a:lnSpc>
                <a:spcPts val="2400"/>
              </a:lnSpc>
              <a:buNone/>
            </a:pPr>
            <a:r>
              <a:rPr lang="en-US" sz="1900" b="1" dirty="0">
                <a:solidFill>
                  <a:srgbClr val="405449"/>
                </a:solidFill>
                <a:latin typeface="Fraunces Extra Bold" pitchFamily="34" charset="0"/>
                <a:ea typeface="Fraunces Extra Bold" pitchFamily="34" charset="-122"/>
                <a:cs typeface="Fraunces Extra Bold" pitchFamily="34" charset="-120"/>
              </a:rPr>
              <a:t>Integrated Video Calls</a:t>
            </a:r>
            <a:endParaRPr lang="en-US" sz="1900" dirty="0"/>
          </a:p>
        </p:txBody>
      </p:sp>
      <p:sp>
        <p:nvSpPr>
          <p:cNvPr id="39" name="Text 17">
            <a:extLst>
              <a:ext uri="{FF2B5EF4-FFF2-40B4-BE49-F238E27FC236}">
                <a16:creationId xmlns:a16="http://schemas.microsoft.com/office/drawing/2014/main" id="{0126D988-F510-8840-4A49-0F2818897EA1}"/>
              </a:ext>
            </a:extLst>
          </p:cNvPr>
          <p:cNvSpPr/>
          <p:nvPr/>
        </p:nvSpPr>
        <p:spPr>
          <a:xfrm>
            <a:off x="10411058" y="6646647"/>
            <a:ext cx="2725103" cy="939760"/>
          </a:xfrm>
          <a:prstGeom prst="rect">
            <a:avLst/>
          </a:prstGeom>
          <a:noFill/>
          <a:ln/>
        </p:spPr>
        <p:txBody>
          <a:bodyPr wrap="square" lIns="0" tIns="0" rIns="0" bIns="0" rtlCol="0" anchor="t"/>
          <a:lstStyle/>
          <a:p>
            <a:pPr marL="0" indent="0" algn="l">
              <a:lnSpc>
                <a:spcPts val="2450"/>
              </a:lnSpc>
              <a:buNone/>
            </a:pPr>
            <a:r>
              <a:rPr lang="en-US" sz="1500" dirty="0">
                <a:latin typeface="Nobile" pitchFamily="34" charset="0"/>
                <a:ea typeface="Nobile" pitchFamily="34" charset="-122"/>
                <a:cs typeface="Nobile" pitchFamily="34" charset="-120"/>
              </a:rPr>
              <a:t>Face-to-face consultations and document verification using WebRTC.</a:t>
            </a:r>
            <a:endParaRPr lang="en-US" sz="1500"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4611" y="552212"/>
            <a:ext cx="11148417" cy="542687"/>
          </a:xfrm>
          <a:prstGeom prst="rect">
            <a:avLst/>
          </a:prstGeom>
          <a:noFill/>
          <a:ln/>
        </p:spPr>
        <p:txBody>
          <a:bodyPr wrap="none" lIns="0" tIns="0" rIns="0" bIns="0" rtlCol="0" anchor="t"/>
          <a:lstStyle/>
          <a:p>
            <a:pPr marL="0" indent="0" algn="l">
              <a:lnSpc>
                <a:spcPts val="4250"/>
              </a:lnSpc>
              <a:buNone/>
            </a:pPr>
            <a:r>
              <a:rPr lang="en-US" sz="3400" b="1" dirty="0">
                <a:solidFill>
                  <a:srgbClr val="3B4540"/>
                </a:solidFill>
                <a:latin typeface="Fraunces Extra Bold" pitchFamily="34" charset="0"/>
                <a:ea typeface="Fraunces Extra Bold" pitchFamily="34" charset="-122"/>
                <a:cs typeface="Fraunces Extra Bold" pitchFamily="34" charset="-120"/>
              </a:rPr>
              <a:t>Hey Acci Assistant: Real-Time Voice AI Integration</a:t>
            </a:r>
            <a:endParaRPr lang="en-US" sz="3400" dirty="0"/>
          </a:p>
        </p:txBody>
      </p:sp>
      <p:sp>
        <p:nvSpPr>
          <p:cNvPr id="3" name="Text 1"/>
          <p:cNvSpPr/>
          <p:nvPr/>
        </p:nvSpPr>
        <p:spPr>
          <a:xfrm>
            <a:off x="694611" y="1398746"/>
            <a:ext cx="13241179" cy="521017"/>
          </a:xfrm>
          <a:prstGeom prst="rect">
            <a:avLst/>
          </a:prstGeom>
          <a:noFill/>
          <a:ln/>
        </p:spPr>
        <p:txBody>
          <a:bodyPr wrap="square" lIns="0" tIns="0" rIns="0" bIns="0" rtlCol="0" anchor="t"/>
          <a:lstStyle/>
          <a:p>
            <a:pPr marL="0" indent="0" algn="l">
              <a:lnSpc>
                <a:spcPts val="2050"/>
              </a:lnSpc>
              <a:buNone/>
            </a:pPr>
            <a:r>
              <a:rPr lang="en-US" sz="1350" dirty="0">
                <a:solidFill>
                  <a:srgbClr val="405449"/>
                </a:solidFill>
                <a:latin typeface="Nobile" pitchFamily="34" charset="0"/>
                <a:ea typeface="Nobile" pitchFamily="34" charset="-122"/>
                <a:cs typeface="Nobile" pitchFamily="34" charset="-120"/>
              </a:rPr>
              <a:t>Our voice-enabled assistant provides customers with instant access to policy and claim information through natural conversation. The system combines cutting-edge speech processing with real-time data integration to deliver responses with minimal latency.</a:t>
            </a:r>
            <a:endParaRPr lang="en-US" sz="1350" dirty="0"/>
          </a:p>
        </p:txBody>
      </p:sp>
      <p:pic>
        <p:nvPicPr>
          <p:cNvPr id="4" name="Image 0" descr="preencoded.png"/>
          <p:cNvPicPr>
            <a:picLocks noChangeAspect="1"/>
          </p:cNvPicPr>
          <p:nvPr/>
        </p:nvPicPr>
        <p:blipFill>
          <a:blip r:embed="rId3"/>
          <a:stretch>
            <a:fillRect/>
          </a:stretch>
        </p:blipFill>
        <p:spPr>
          <a:xfrm>
            <a:off x="694611" y="2090618"/>
            <a:ext cx="868323" cy="1230511"/>
          </a:xfrm>
          <a:prstGeom prst="rect">
            <a:avLst/>
          </a:prstGeom>
        </p:spPr>
      </p:pic>
      <p:sp>
        <p:nvSpPr>
          <p:cNvPr id="5" name="Text 2"/>
          <p:cNvSpPr/>
          <p:nvPr/>
        </p:nvSpPr>
        <p:spPr>
          <a:xfrm>
            <a:off x="1714857" y="2264212"/>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405449"/>
                </a:solidFill>
                <a:latin typeface="Fraunces Extra Bold" pitchFamily="34" charset="0"/>
                <a:ea typeface="Fraunces Extra Bold" pitchFamily="34" charset="-122"/>
                <a:cs typeface="Fraunces Extra Bold" pitchFamily="34" charset="-120"/>
              </a:rPr>
              <a:t>Audio Capture</a:t>
            </a:r>
            <a:endParaRPr lang="en-US" sz="1700" dirty="0"/>
          </a:p>
        </p:txBody>
      </p:sp>
      <p:sp>
        <p:nvSpPr>
          <p:cNvPr id="6" name="Text 3"/>
          <p:cNvSpPr/>
          <p:nvPr/>
        </p:nvSpPr>
        <p:spPr>
          <a:xfrm>
            <a:off x="1714857" y="2626519"/>
            <a:ext cx="12220932" cy="521017"/>
          </a:xfrm>
          <a:prstGeom prst="rect">
            <a:avLst/>
          </a:prstGeom>
          <a:noFill/>
          <a:ln/>
        </p:spPr>
        <p:txBody>
          <a:bodyPr wrap="square" lIns="0" tIns="0" rIns="0" bIns="0" rtlCol="0" anchor="t"/>
          <a:lstStyle/>
          <a:p>
            <a:pPr marL="0" indent="0" algn="l">
              <a:lnSpc>
                <a:spcPts val="2050"/>
              </a:lnSpc>
              <a:buNone/>
            </a:pPr>
            <a:r>
              <a:rPr lang="en-US" sz="1350" dirty="0">
                <a:solidFill>
                  <a:srgbClr val="405449"/>
                </a:solidFill>
                <a:latin typeface="Nobile" pitchFamily="34" charset="0"/>
                <a:ea typeface="Nobile" pitchFamily="34" charset="-122"/>
                <a:cs typeface="Nobile" pitchFamily="34" charset="-120"/>
              </a:rPr>
              <a:t>Vapi AI captures user voice input through secure WebSocket connections, handling multiple concurrent conversations with enterprise-grade reliability.</a:t>
            </a:r>
            <a:endParaRPr lang="en-US" sz="1350" dirty="0"/>
          </a:p>
        </p:txBody>
      </p:sp>
      <p:pic>
        <p:nvPicPr>
          <p:cNvPr id="7" name="Image 1" descr="preencoded.png"/>
          <p:cNvPicPr>
            <a:picLocks noChangeAspect="1"/>
          </p:cNvPicPr>
          <p:nvPr/>
        </p:nvPicPr>
        <p:blipFill>
          <a:blip r:embed="rId4"/>
          <a:stretch>
            <a:fillRect/>
          </a:stretch>
        </p:blipFill>
        <p:spPr>
          <a:xfrm>
            <a:off x="694611" y="3321129"/>
            <a:ext cx="868323" cy="1230511"/>
          </a:xfrm>
          <a:prstGeom prst="rect">
            <a:avLst/>
          </a:prstGeom>
        </p:spPr>
      </p:pic>
      <p:sp>
        <p:nvSpPr>
          <p:cNvPr id="8" name="Text 4"/>
          <p:cNvSpPr/>
          <p:nvPr/>
        </p:nvSpPr>
        <p:spPr>
          <a:xfrm>
            <a:off x="1714857" y="3494723"/>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405449"/>
                </a:solidFill>
                <a:latin typeface="Fraunces Extra Bold" pitchFamily="34" charset="0"/>
                <a:ea typeface="Fraunces Extra Bold" pitchFamily="34" charset="-122"/>
                <a:cs typeface="Fraunces Extra Bold" pitchFamily="34" charset="-120"/>
              </a:rPr>
              <a:t>Speech-to-Text</a:t>
            </a:r>
            <a:endParaRPr lang="en-US" sz="1700" dirty="0"/>
          </a:p>
        </p:txBody>
      </p:sp>
      <p:sp>
        <p:nvSpPr>
          <p:cNvPr id="9" name="Text 5"/>
          <p:cNvSpPr/>
          <p:nvPr/>
        </p:nvSpPr>
        <p:spPr>
          <a:xfrm>
            <a:off x="1714857" y="3857030"/>
            <a:ext cx="12220932" cy="521017"/>
          </a:xfrm>
          <a:prstGeom prst="rect">
            <a:avLst/>
          </a:prstGeom>
          <a:noFill/>
          <a:ln/>
        </p:spPr>
        <p:txBody>
          <a:bodyPr wrap="square" lIns="0" tIns="0" rIns="0" bIns="0" rtlCol="0" anchor="t"/>
          <a:lstStyle/>
          <a:p>
            <a:pPr marL="0" indent="0" algn="l">
              <a:lnSpc>
                <a:spcPts val="2050"/>
              </a:lnSpc>
              <a:buNone/>
            </a:pPr>
            <a:r>
              <a:rPr lang="en-US" sz="1350" dirty="0">
                <a:solidFill>
                  <a:srgbClr val="405449"/>
                </a:solidFill>
                <a:latin typeface="Nobile" pitchFamily="34" charset="0"/>
                <a:ea typeface="Nobile" pitchFamily="34" charset="-122"/>
                <a:cs typeface="Nobile" pitchFamily="34" charset="-120"/>
              </a:rPr>
              <a:t>Groq's Whisper model processes audio with ultra-low latency, achieving industry-leading transcription accuracy and speed for insurance terminology.</a:t>
            </a:r>
            <a:endParaRPr lang="en-US" sz="1350" dirty="0"/>
          </a:p>
        </p:txBody>
      </p:sp>
      <p:pic>
        <p:nvPicPr>
          <p:cNvPr id="10" name="Image 2" descr="preencoded.png"/>
          <p:cNvPicPr>
            <a:picLocks noChangeAspect="1"/>
          </p:cNvPicPr>
          <p:nvPr/>
        </p:nvPicPr>
        <p:blipFill>
          <a:blip r:embed="rId5"/>
          <a:stretch>
            <a:fillRect/>
          </a:stretch>
        </p:blipFill>
        <p:spPr>
          <a:xfrm>
            <a:off x="694611" y="4551640"/>
            <a:ext cx="868323" cy="1041916"/>
          </a:xfrm>
          <a:prstGeom prst="rect">
            <a:avLst/>
          </a:prstGeom>
        </p:spPr>
      </p:pic>
      <p:sp>
        <p:nvSpPr>
          <p:cNvPr id="11" name="Text 6"/>
          <p:cNvSpPr/>
          <p:nvPr/>
        </p:nvSpPr>
        <p:spPr>
          <a:xfrm>
            <a:off x="1714857" y="4725233"/>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405449"/>
                </a:solidFill>
                <a:latin typeface="Fraunces Extra Bold" pitchFamily="34" charset="0"/>
                <a:ea typeface="Fraunces Extra Bold" pitchFamily="34" charset="-122"/>
                <a:cs typeface="Fraunces Extra Bold" pitchFamily="34" charset="-120"/>
              </a:rPr>
              <a:t>Intent Processing</a:t>
            </a:r>
            <a:endParaRPr lang="en-US" sz="1700" dirty="0"/>
          </a:p>
        </p:txBody>
      </p:sp>
      <p:sp>
        <p:nvSpPr>
          <p:cNvPr id="12" name="Text 7"/>
          <p:cNvSpPr/>
          <p:nvPr/>
        </p:nvSpPr>
        <p:spPr>
          <a:xfrm>
            <a:off x="1714857" y="5087541"/>
            <a:ext cx="12220932" cy="260509"/>
          </a:xfrm>
          <a:prstGeom prst="rect">
            <a:avLst/>
          </a:prstGeom>
          <a:noFill/>
          <a:ln/>
        </p:spPr>
        <p:txBody>
          <a:bodyPr wrap="none" lIns="0" tIns="0" rIns="0" bIns="0" rtlCol="0" anchor="t"/>
          <a:lstStyle/>
          <a:p>
            <a:pPr marL="0" indent="0" algn="l">
              <a:lnSpc>
                <a:spcPts val="2050"/>
              </a:lnSpc>
              <a:buNone/>
            </a:pPr>
            <a:r>
              <a:rPr lang="en-US" sz="1350" dirty="0">
                <a:solidFill>
                  <a:srgbClr val="405449"/>
                </a:solidFill>
                <a:latin typeface="Nobile" pitchFamily="34" charset="0"/>
                <a:ea typeface="Nobile" pitchFamily="34" charset="-122"/>
                <a:cs typeface="Nobile" pitchFamily="34" charset="-120"/>
              </a:rPr>
              <a:t>Groq/Mistral LLM analyzes transcribed text to understand user intent, extracting policy numbers, claim IDs, and specific information requests.</a:t>
            </a:r>
            <a:endParaRPr lang="en-US" sz="1350" dirty="0"/>
          </a:p>
        </p:txBody>
      </p:sp>
      <p:pic>
        <p:nvPicPr>
          <p:cNvPr id="13" name="Image 3" descr="preencoded.png"/>
          <p:cNvPicPr>
            <a:picLocks noChangeAspect="1"/>
          </p:cNvPicPr>
          <p:nvPr/>
        </p:nvPicPr>
        <p:blipFill>
          <a:blip r:embed="rId6"/>
          <a:stretch>
            <a:fillRect/>
          </a:stretch>
        </p:blipFill>
        <p:spPr>
          <a:xfrm>
            <a:off x="694611" y="5593556"/>
            <a:ext cx="868323" cy="1041916"/>
          </a:xfrm>
          <a:prstGeom prst="rect">
            <a:avLst/>
          </a:prstGeom>
        </p:spPr>
      </p:pic>
      <p:sp>
        <p:nvSpPr>
          <p:cNvPr id="14" name="Text 8"/>
          <p:cNvSpPr/>
          <p:nvPr/>
        </p:nvSpPr>
        <p:spPr>
          <a:xfrm>
            <a:off x="1714857" y="5767149"/>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405449"/>
                </a:solidFill>
                <a:latin typeface="Fraunces Extra Bold" pitchFamily="34" charset="0"/>
                <a:ea typeface="Fraunces Extra Bold" pitchFamily="34" charset="-122"/>
                <a:cs typeface="Fraunces Extra Bold" pitchFamily="34" charset="-120"/>
              </a:rPr>
              <a:t>Data Fetching</a:t>
            </a:r>
            <a:endParaRPr lang="en-US" sz="1700" dirty="0"/>
          </a:p>
        </p:txBody>
      </p:sp>
      <p:sp>
        <p:nvSpPr>
          <p:cNvPr id="15" name="Text 9"/>
          <p:cNvSpPr/>
          <p:nvPr/>
        </p:nvSpPr>
        <p:spPr>
          <a:xfrm>
            <a:off x="1714857" y="6129457"/>
            <a:ext cx="12220932" cy="260509"/>
          </a:xfrm>
          <a:prstGeom prst="rect">
            <a:avLst/>
          </a:prstGeom>
          <a:noFill/>
          <a:ln/>
        </p:spPr>
        <p:txBody>
          <a:bodyPr wrap="none" lIns="0" tIns="0" rIns="0" bIns="0" rtlCol="0" anchor="t"/>
          <a:lstStyle/>
          <a:p>
            <a:pPr marL="0" indent="0" algn="l">
              <a:lnSpc>
                <a:spcPts val="2050"/>
              </a:lnSpc>
              <a:buNone/>
            </a:pPr>
            <a:r>
              <a:rPr lang="en-US" sz="1350" dirty="0">
                <a:solidFill>
                  <a:srgbClr val="405449"/>
                </a:solidFill>
                <a:latin typeface="Nobile" pitchFamily="34" charset="0"/>
                <a:ea typeface="Nobile" pitchFamily="34" charset="-122"/>
                <a:cs typeface="Nobile" pitchFamily="34" charset="-120"/>
              </a:rPr>
              <a:t>Backend queries Azure SQL database for real-time policy and claim status, ensuring customers receive current, accurate information.</a:t>
            </a:r>
            <a:endParaRPr lang="en-US" sz="1350" dirty="0"/>
          </a:p>
        </p:txBody>
      </p:sp>
      <p:pic>
        <p:nvPicPr>
          <p:cNvPr id="16" name="Image 4" descr="preencoded.png"/>
          <p:cNvPicPr>
            <a:picLocks noChangeAspect="1"/>
          </p:cNvPicPr>
          <p:nvPr/>
        </p:nvPicPr>
        <p:blipFill>
          <a:blip r:embed="rId7"/>
          <a:stretch>
            <a:fillRect/>
          </a:stretch>
        </p:blipFill>
        <p:spPr>
          <a:xfrm>
            <a:off x="694611" y="6635472"/>
            <a:ext cx="868323" cy="1041916"/>
          </a:xfrm>
          <a:prstGeom prst="rect">
            <a:avLst/>
          </a:prstGeom>
        </p:spPr>
      </p:pic>
      <p:sp>
        <p:nvSpPr>
          <p:cNvPr id="17" name="Text 10"/>
          <p:cNvSpPr/>
          <p:nvPr/>
        </p:nvSpPr>
        <p:spPr>
          <a:xfrm>
            <a:off x="1714857" y="6809065"/>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405449"/>
                </a:solidFill>
                <a:latin typeface="Fraunces Extra Bold" pitchFamily="34" charset="0"/>
                <a:ea typeface="Fraunces Extra Bold" pitchFamily="34" charset="-122"/>
                <a:cs typeface="Fraunces Extra Bold" pitchFamily="34" charset="-120"/>
              </a:rPr>
              <a:t>Voice Response</a:t>
            </a:r>
            <a:endParaRPr lang="en-US" sz="1700" dirty="0"/>
          </a:p>
        </p:txBody>
      </p:sp>
      <p:sp>
        <p:nvSpPr>
          <p:cNvPr id="18" name="Text 11"/>
          <p:cNvSpPr/>
          <p:nvPr/>
        </p:nvSpPr>
        <p:spPr>
          <a:xfrm>
            <a:off x="1714857" y="7171373"/>
            <a:ext cx="12220932" cy="260509"/>
          </a:xfrm>
          <a:prstGeom prst="rect">
            <a:avLst/>
          </a:prstGeom>
          <a:noFill/>
          <a:ln/>
        </p:spPr>
        <p:txBody>
          <a:bodyPr wrap="none" lIns="0" tIns="0" rIns="0" bIns="0" rtlCol="0" anchor="t"/>
          <a:lstStyle/>
          <a:p>
            <a:pPr marL="0" indent="0" algn="l">
              <a:lnSpc>
                <a:spcPts val="2050"/>
              </a:lnSpc>
              <a:buNone/>
            </a:pPr>
            <a:r>
              <a:rPr lang="en-US" sz="1350" dirty="0">
                <a:solidFill>
                  <a:srgbClr val="405449"/>
                </a:solidFill>
                <a:latin typeface="Nobile" pitchFamily="34" charset="0"/>
                <a:ea typeface="Nobile" pitchFamily="34" charset="-122"/>
                <a:cs typeface="Nobile" pitchFamily="34" charset="-120"/>
              </a:rPr>
              <a:t>Vapi TTS converts final response to natural-sounding voice with low latency streaming, creating seamless conversational experiences.</a:t>
            </a:r>
            <a:endParaRPr lang="en-US" sz="1350" dirty="0"/>
          </a:p>
        </p:txBody>
      </p:sp>
      <p:pic>
        <p:nvPicPr>
          <p:cNvPr id="20" name="Picture 19">
            <a:extLst>
              <a:ext uri="{FF2B5EF4-FFF2-40B4-BE49-F238E27FC236}">
                <a16:creationId xmlns:a16="http://schemas.microsoft.com/office/drawing/2014/main" id="{48EA51B6-3C68-3613-9111-C90F4B914BB2}"/>
              </a:ext>
            </a:extLst>
          </p:cNvPr>
          <p:cNvPicPr>
            <a:picLocks noChangeAspect="1"/>
          </p:cNvPicPr>
          <p:nvPr/>
        </p:nvPicPr>
        <p:blipFill>
          <a:blip r:embed="rId8"/>
          <a:stretch>
            <a:fillRect/>
          </a:stretch>
        </p:blipFill>
        <p:spPr>
          <a:xfrm>
            <a:off x="12810871" y="7699689"/>
            <a:ext cx="1819529" cy="5135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6993" y="565547"/>
            <a:ext cx="13216414" cy="1104900"/>
          </a:xfrm>
          <a:prstGeom prst="rect">
            <a:avLst/>
          </a:prstGeom>
          <a:noFill/>
          <a:ln/>
        </p:spPr>
        <p:txBody>
          <a:bodyPr wrap="square" lIns="0" tIns="0" rIns="0" bIns="0" rtlCol="0" anchor="t"/>
          <a:lstStyle/>
          <a:p>
            <a:pPr marL="0" indent="0" algn="l">
              <a:lnSpc>
                <a:spcPts val="4300"/>
              </a:lnSpc>
              <a:buNone/>
            </a:pPr>
            <a:r>
              <a:rPr lang="en-US" sz="3450" b="1" dirty="0">
                <a:solidFill>
                  <a:srgbClr val="3B4540"/>
                </a:solidFill>
                <a:latin typeface="Fraunces Extra Bold" pitchFamily="34" charset="0"/>
                <a:ea typeface="Fraunces Extra Bold" pitchFamily="34" charset="-122"/>
                <a:cs typeface="Fraunces Extra Bold" pitchFamily="34" charset="-120"/>
              </a:rPr>
              <a:t>Backend LLM Analyzer: Intelligent Dashboard for Claims Operations</a:t>
            </a:r>
            <a:endParaRPr lang="en-US" sz="3450" dirty="0"/>
          </a:p>
        </p:txBody>
      </p:sp>
      <p:sp>
        <p:nvSpPr>
          <p:cNvPr id="3" name="Text 1"/>
          <p:cNvSpPr/>
          <p:nvPr/>
        </p:nvSpPr>
        <p:spPr>
          <a:xfrm>
            <a:off x="706993" y="2048232"/>
            <a:ext cx="6392585" cy="1337072"/>
          </a:xfrm>
          <a:prstGeom prst="rect">
            <a:avLst/>
          </a:prstGeom>
          <a:noFill/>
          <a:ln/>
        </p:spPr>
        <p:txBody>
          <a:bodyPr wrap="squar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Claims officers and agents require comprehensive insights to make informed decisions efficiently. Our backend analyzer leverages large language models to process complex customer and claim data, generating actionable intelligence that surfaces fraud signals, calculates risk scores, and summarizes critical information.</a:t>
            </a:r>
            <a:endParaRPr lang="en-US" sz="1350" dirty="0"/>
          </a:p>
        </p:txBody>
      </p:sp>
      <p:sp>
        <p:nvSpPr>
          <p:cNvPr id="4" name="Text 2"/>
          <p:cNvSpPr/>
          <p:nvPr/>
        </p:nvSpPr>
        <p:spPr>
          <a:xfrm>
            <a:off x="706993" y="3526988"/>
            <a:ext cx="6392585" cy="1604486"/>
          </a:xfrm>
          <a:prstGeom prst="rect">
            <a:avLst/>
          </a:prstGeom>
          <a:noFill/>
          <a:ln/>
        </p:spPr>
        <p:txBody>
          <a:bodyPr wrap="squar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The system integrates directly with Azure SQL to extract structured and unstructured data, then applies advanced LLM processing to identify patterns and anomalies that would be difficult to detect through manual review. Generated insights populate interactive dashboards with visualizations including risk heat maps, trend analysis charts, and correlation matrices.</a:t>
            </a:r>
            <a:endParaRPr lang="en-US" sz="1350" dirty="0"/>
          </a:p>
        </p:txBody>
      </p:sp>
      <p:sp>
        <p:nvSpPr>
          <p:cNvPr id="5" name="Text 3"/>
          <p:cNvSpPr/>
          <p:nvPr/>
        </p:nvSpPr>
        <p:spPr>
          <a:xfrm>
            <a:off x="7538442" y="2063948"/>
            <a:ext cx="2209562" cy="276225"/>
          </a:xfrm>
          <a:prstGeom prst="rect">
            <a:avLst/>
          </a:prstGeom>
          <a:noFill/>
          <a:ln/>
        </p:spPr>
        <p:txBody>
          <a:bodyPr wrap="none" lIns="0" tIns="0" rIns="0" bIns="0" rtlCol="0" anchor="t"/>
          <a:lstStyle/>
          <a:p>
            <a:pPr marL="0" indent="0" algn="l">
              <a:lnSpc>
                <a:spcPts val="2150"/>
              </a:lnSpc>
              <a:buNone/>
            </a:pPr>
            <a:r>
              <a:rPr lang="en-US" sz="1700" b="1" dirty="0">
                <a:solidFill>
                  <a:srgbClr val="3B4540"/>
                </a:solidFill>
                <a:latin typeface="Fraunces Extra Bold" pitchFamily="34" charset="0"/>
                <a:ea typeface="Fraunces Extra Bold" pitchFamily="34" charset="-122"/>
                <a:cs typeface="Fraunces Extra Bold" pitchFamily="34" charset="-120"/>
              </a:rPr>
              <a:t>Key Capabilities</a:t>
            </a:r>
            <a:endParaRPr lang="en-US" sz="1700" dirty="0"/>
          </a:p>
        </p:txBody>
      </p:sp>
      <p:sp>
        <p:nvSpPr>
          <p:cNvPr id="6" name="Text 4"/>
          <p:cNvSpPr/>
          <p:nvPr/>
        </p:nvSpPr>
        <p:spPr>
          <a:xfrm>
            <a:off x="7538442" y="2497574"/>
            <a:ext cx="6392585" cy="1557099"/>
          </a:xfrm>
          <a:prstGeom prst="rect">
            <a:avLst/>
          </a:prstGeom>
          <a:noFill/>
          <a:ln/>
        </p:spPr>
        <p:txBody>
          <a:bodyPr wrap="square" lIns="0" tIns="0" rIns="0" bIns="0" rtlCol="0" anchor="t"/>
          <a:lstStyle/>
          <a:p>
            <a:pPr marL="342900" indent="-342900" algn="l">
              <a:lnSpc>
                <a:spcPts val="2100"/>
              </a:lnSpc>
              <a:buSzPct val="100000"/>
              <a:buChar char="•"/>
            </a:pPr>
            <a:r>
              <a:rPr lang="en-US" sz="1350" dirty="0">
                <a:solidFill>
                  <a:srgbClr val="405449"/>
                </a:solidFill>
                <a:latin typeface="Nobile" pitchFamily="34" charset="0"/>
                <a:ea typeface="Nobile" pitchFamily="34" charset="-122"/>
                <a:cs typeface="Nobile" pitchFamily="34" charset="-120"/>
              </a:rPr>
              <a:t>Fraud detection using anomaly pattern recognition</a:t>
            </a:r>
            <a:endParaRPr lang="en-US" sz="1350" dirty="0"/>
          </a:p>
          <a:p>
            <a:pPr marL="342900" indent="-342900" algn="l">
              <a:lnSpc>
                <a:spcPts val="2100"/>
              </a:lnSpc>
              <a:buSzPct val="100000"/>
              <a:buChar char="•"/>
            </a:pPr>
            <a:r>
              <a:rPr lang="en-US" sz="1350" dirty="0">
                <a:solidFill>
                  <a:srgbClr val="405449"/>
                </a:solidFill>
                <a:latin typeface="Nobile" pitchFamily="34" charset="0"/>
                <a:ea typeface="Nobile" pitchFamily="34" charset="-122"/>
                <a:cs typeface="Nobile" pitchFamily="34" charset="-120"/>
              </a:rPr>
              <a:t>Dynamic risk scoring based on claim characteristics</a:t>
            </a:r>
            <a:endParaRPr lang="en-US" sz="1350" dirty="0"/>
          </a:p>
          <a:p>
            <a:pPr marL="342900" indent="-342900" algn="l">
              <a:lnSpc>
                <a:spcPts val="2100"/>
              </a:lnSpc>
              <a:buSzPct val="100000"/>
              <a:buChar char="•"/>
            </a:pPr>
            <a:r>
              <a:rPr lang="en-US" sz="1350" dirty="0">
                <a:solidFill>
                  <a:srgbClr val="405449"/>
                </a:solidFill>
                <a:latin typeface="Nobile" pitchFamily="34" charset="0"/>
                <a:ea typeface="Nobile" pitchFamily="34" charset="-122"/>
                <a:cs typeface="Nobile" pitchFamily="34" charset="-120"/>
              </a:rPr>
              <a:t>Natural language summarization of complex cases</a:t>
            </a:r>
            <a:endParaRPr lang="en-US" sz="1350" dirty="0"/>
          </a:p>
          <a:p>
            <a:pPr marL="342900" indent="-342900" algn="l">
              <a:lnSpc>
                <a:spcPts val="2100"/>
              </a:lnSpc>
              <a:buSzPct val="100000"/>
              <a:buChar char="•"/>
            </a:pPr>
            <a:r>
              <a:rPr lang="en-US" sz="1350" dirty="0">
                <a:solidFill>
                  <a:srgbClr val="405449"/>
                </a:solidFill>
                <a:latin typeface="Nobile" pitchFamily="34" charset="0"/>
                <a:ea typeface="Nobile" pitchFamily="34" charset="-122"/>
                <a:cs typeface="Nobile" pitchFamily="34" charset="-120"/>
              </a:rPr>
              <a:t>Correlation analysis across multiple data sources</a:t>
            </a:r>
            <a:endParaRPr lang="en-US" sz="1350" dirty="0"/>
          </a:p>
          <a:p>
            <a:pPr marL="342900" indent="-342900" algn="l">
              <a:lnSpc>
                <a:spcPts val="2100"/>
              </a:lnSpc>
              <a:buSzPct val="100000"/>
              <a:buChar char="•"/>
            </a:pPr>
            <a:r>
              <a:rPr lang="en-US" sz="1350" dirty="0">
                <a:solidFill>
                  <a:srgbClr val="405449"/>
                </a:solidFill>
                <a:latin typeface="Nobile" pitchFamily="34" charset="0"/>
                <a:ea typeface="Nobile" pitchFamily="34" charset="-122"/>
                <a:cs typeface="Nobile" pitchFamily="34" charset="-120"/>
              </a:rPr>
              <a:t>Automated document classification and tagging</a:t>
            </a:r>
            <a:endParaRPr lang="en-US" sz="1350" dirty="0"/>
          </a:p>
        </p:txBody>
      </p:sp>
      <p:sp>
        <p:nvSpPr>
          <p:cNvPr id="7" name="Shape 5"/>
          <p:cNvSpPr/>
          <p:nvPr/>
        </p:nvSpPr>
        <p:spPr>
          <a:xfrm>
            <a:off x="706993" y="5450205"/>
            <a:ext cx="4300538" cy="2213848"/>
          </a:xfrm>
          <a:prstGeom prst="roundRect">
            <a:avLst>
              <a:gd name="adj" fmla="val 7186"/>
            </a:avLst>
          </a:prstGeom>
          <a:solidFill>
            <a:srgbClr val="E8F3E8"/>
          </a:solidFill>
          <a:ln/>
        </p:spPr>
      </p:sp>
      <p:sp>
        <p:nvSpPr>
          <p:cNvPr id="8" name="Shape 6"/>
          <p:cNvSpPr/>
          <p:nvPr/>
        </p:nvSpPr>
        <p:spPr>
          <a:xfrm>
            <a:off x="883682" y="5626894"/>
            <a:ext cx="530185" cy="530185"/>
          </a:xfrm>
          <a:prstGeom prst="roundRect">
            <a:avLst>
              <a:gd name="adj" fmla="val 17245085"/>
            </a:avLst>
          </a:prstGeom>
          <a:solidFill>
            <a:srgbClr val="438951"/>
          </a:solidFill>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414" y="5772626"/>
            <a:ext cx="238601" cy="238601"/>
          </a:xfrm>
          <a:prstGeom prst="rect">
            <a:avLst/>
          </a:prstGeom>
        </p:spPr>
      </p:pic>
      <p:sp>
        <p:nvSpPr>
          <p:cNvPr id="10" name="Text 7"/>
          <p:cNvSpPr/>
          <p:nvPr/>
        </p:nvSpPr>
        <p:spPr>
          <a:xfrm>
            <a:off x="883682" y="6314480"/>
            <a:ext cx="2209562" cy="276225"/>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Data Extraction</a:t>
            </a:r>
            <a:endParaRPr lang="en-US" sz="1700" dirty="0"/>
          </a:p>
        </p:txBody>
      </p:sp>
      <p:sp>
        <p:nvSpPr>
          <p:cNvPr id="11" name="Text 8"/>
          <p:cNvSpPr/>
          <p:nvPr/>
        </p:nvSpPr>
        <p:spPr>
          <a:xfrm>
            <a:off x="883682" y="6685121"/>
            <a:ext cx="3947160" cy="802243"/>
          </a:xfrm>
          <a:prstGeom prst="rect">
            <a:avLst/>
          </a:prstGeom>
          <a:noFill/>
          <a:ln/>
        </p:spPr>
        <p:txBody>
          <a:bodyPr wrap="squar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Azure SQL queries retrieve customer profiles, claim histories, and policy details for comprehensive analysis.</a:t>
            </a:r>
            <a:endParaRPr lang="en-US" sz="1350" dirty="0"/>
          </a:p>
        </p:txBody>
      </p:sp>
      <p:sp>
        <p:nvSpPr>
          <p:cNvPr id="12" name="Shape 9"/>
          <p:cNvSpPr/>
          <p:nvPr/>
        </p:nvSpPr>
        <p:spPr>
          <a:xfrm>
            <a:off x="5164931" y="5450205"/>
            <a:ext cx="4300538" cy="2213848"/>
          </a:xfrm>
          <a:prstGeom prst="roundRect">
            <a:avLst>
              <a:gd name="adj" fmla="val 7186"/>
            </a:avLst>
          </a:prstGeom>
          <a:solidFill>
            <a:srgbClr val="E8F3E8"/>
          </a:solidFill>
          <a:ln/>
        </p:spPr>
      </p:sp>
      <p:sp>
        <p:nvSpPr>
          <p:cNvPr id="13" name="Shape 10"/>
          <p:cNvSpPr/>
          <p:nvPr/>
        </p:nvSpPr>
        <p:spPr>
          <a:xfrm>
            <a:off x="5341620" y="5626894"/>
            <a:ext cx="530185" cy="530185"/>
          </a:xfrm>
          <a:prstGeom prst="roundRect">
            <a:avLst>
              <a:gd name="adj" fmla="val 17245085"/>
            </a:avLst>
          </a:prstGeom>
          <a:solidFill>
            <a:srgbClr val="438951"/>
          </a:solidFill>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7353" y="5772626"/>
            <a:ext cx="238601" cy="238601"/>
          </a:xfrm>
          <a:prstGeom prst="rect">
            <a:avLst/>
          </a:prstGeom>
        </p:spPr>
      </p:pic>
      <p:sp>
        <p:nvSpPr>
          <p:cNvPr id="15" name="Text 11"/>
          <p:cNvSpPr/>
          <p:nvPr/>
        </p:nvSpPr>
        <p:spPr>
          <a:xfrm>
            <a:off x="5341620" y="6314480"/>
            <a:ext cx="2209562" cy="276225"/>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LLM Processing</a:t>
            </a:r>
            <a:endParaRPr lang="en-US" sz="1700" dirty="0"/>
          </a:p>
        </p:txBody>
      </p:sp>
      <p:sp>
        <p:nvSpPr>
          <p:cNvPr id="16" name="Text 12"/>
          <p:cNvSpPr/>
          <p:nvPr/>
        </p:nvSpPr>
        <p:spPr>
          <a:xfrm>
            <a:off x="5341620" y="6685121"/>
            <a:ext cx="3947160" cy="802243"/>
          </a:xfrm>
          <a:prstGeom prst="rect">
            <a:avLst/>
          </a:prstGeom>
          <a:noFill/>
          <a:ln/>
        </p:spPr>
        <p:txBody>
          <a:bodyPr wrap="squar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Vertex AI and Groq/Mistral models analyze data patterns, generating insights and identifying potential issues.</a:t>
            </a:r>
            <a:endParaRPr lang="en-US" sz="1350" dirty="0"/>
          </a:p>
        </p:txBody>
      </p:sp>
      <p:sp>
        <p:nvSpPr>
          <p:cNvPr id="17" name="Shape 13"/>
          <p:cNvSpPr/>
          <p:nvPr/>
        </p:nvSpPr>
        <p:spPr>
          <a:xfrm>
            <a:off x="9622869" y="5450205"/>
            <a:ext cx="4300538" cy="2213848"/>
          </a:xfrm>
          <a:prstGeom prst="roundRect">
            <a:avLst>
              <a:gd name="adj" fmla="val 7186"/>
            </a:avLst>
          </a:prstGeom>
          <a:solidFill>
            <a:srgbClr val="E8F3E8"/>
          </a:solidFill>
          <a:ln/>
        </p:spPr>
      </p:sp>
      <p:sp>
        <p:nvSpPr>
          <p:cNvPr id="18" name="Shape 14"/>
          <p:cNvSpPr/>
          <p:nvPr/>
        </p:nvSpPr>
        <p:spPr>
          <a:xfrm>
            <a:off x="9799558" y="5626894"/>
            <a:ext cx="530185" cy="530185"/>
          </a:xfrm>
          <a:prstGeom prst="roundRect">
            <a:avLst>
              <a:gd name="adj" fmla="val 17245085"/>
            </a:avLst>
          </a:prstGeom>
          <a:solidFill>
            <a:srgbClr val="438951"/>
          </a:solidFill>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45291" y="5772626"/>
            <a:ext cx="238601" cy="238601"/>
          </a:xfrm>
          <a:prstGeom prst="rect">
            <a:avLst/>
          </a:prstGeom>
        </p:spPr>
      </p:pic>
      <p:sp>
        <p:nvSpPr>
          <p:cNvPr id="20" name="Text 15"/>
          <p:cNvSpPr/>
          <p:nvPr/>
        </p:nvSpPr>
        <p:spPr>
          <a:xfrm>
            <a:off x="9799558" y="6314480"/>
            <a:ext cx="2756535" cy="276225"/>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Dashboard Visualization</a:t>
            </a:r>
            <a:endParaRPr lang="en-US" sz="1700" dirty="0"/>
          </a:p>
        </p:txBody>
      </p:sp>
      <p:sp>
        <p:nvSpPr>
          <p:cNvPr id="21" name="Text 16"/>
          <p:cNvSpPr/>
          <p:nvPr/>
        </p:nvSpPr>
        <p:spPr>
          <a:xfrm>
            <a:off x="9799558" y="6685121"/>
            <a:ext cx="3947160" cy="802243"/>
          </a:xfrm>
          <a:prstGeom prst="rect">
            <a:avLst/>
          </a:prstGeom>
          <a:noFill/>
          <a:ln/>
        </p:spPr>
        <p:txBody>
          <a:bodyPr wrap="squar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Interactive graphs and charts present risk scores, fraud signals, and summary statistics for quick decision-making.</a:t>
            </a:r>
            <a:endParaRPr lang="en-US" sz="1350" dirty="0"/>
          </a:p>
        </p:txBody>
      </p:sp>
      <p:pic>
        <p:nvPicPr>
          <p:cNvPr id="22" name="Picture 21">
            <a:extLst>
              <a:ext uri="{FF2B5EF4-FFF2-40B4-BE49-F238E27FC236}">
                <a16:creationId xmlns:a16="http://schemas.microsoft.com/office/drawing/2014/main" id="{3975EAEC-FA2F-015B-D0FC-6C4EE5FF46D7}"/>
              </a:ext>
            </a:extLst>
          </p:cNvPr>
          <p:cNvPicPr>
            <a:picLocks noChangeAspect="1"/>
          </p:cNvPicPr>
          <p:nvPr/>
        </p:nvPicPr>
        <p:blipFill>
          <a:blip r:embed="rId6"/>
          <a:stretch>
            <a:fillRect/>
          </a:stretch>
        </p:blipFill>
        <p:spPr>
          <a:xfrm>
            <a:off x="12810871" y="7710840"/>
            <a:ext cx="1819529" cy="5135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9376" y="509230"/>
            <a:ext cx="12216289" cy="562094"/>
          </a:xfrm>
          <a:prstGeom prst="rect">
            <a:avLst/>
          </a:prstGeom>
          <a:noFill/>
          <a:ln/>
        </p:spPr>
        <p:txBody>
          <a:bodyPr wrap="none" lIns="0" tIns="0" rIns="0" bIns="0" rtlCol="0" anchor="t"/>
          <a:lstStyle/>
          <a:p>
            <a:pPr marL="0" indent="0" algn="l">
              <a:lnSpc>
                <a:spcPts val="4400"/>
              </a:lnSpc>
              <a:buNone/>
            </a:pPr>
            <a:r>
              <a:rPr lang="en-US" sz="3500" b="1" dirty="0">
                <a:solidFill>
                  <a:srgbClr val="3B4540"/>
                </a:solidFill>
                <a:latin typeface="Fraunces Extra Bold" pitchFamily="34" charset="0"/>
                <a:ea typeface="Fraunces Extra Bold" pitchFamily="34" charset="-122"/>
                <a:cs typeface="Fraunces Extra Bold" pitchFamily="34" charset="-120"/>
              </a:rPr>
              <a:t>KYC Verification: Face Recognition with AI Validation</a:t>
            </a:r>
            <a:endParaRPr lang="en-US" sz="3500" dirty="0"/>
          </a:p>
        </p:txBody>
      </p:sp>
      <p:sp>
        <p:nvSpPr>
          <p:cNvPr id="3" name="Text 1"/>
          <p:cNvSpPr/>
          <p:nvPr/>
        </p:nvSpPr>
        <p:spPr>
          <a:xfrm>
            <a:off x="719376" y="1397318"/>
            <a:ext cx="13191649" cy="82296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Know Your Customer (KYC) compliance requires robust identity verification that balances security with user experience. Our implementation combines facial recognition using FaceNet embeddings with LLM-enhanced validation to create a multi-layered verification system. The approach leverages deep learning for biometric matching while applying contextual analysis to detect spoofing attempts and anomalies.</a:t>
            </a:r>
            <a:endParaRPr lang="en-US" sz="1400" dirty="0"/>
          </a:p>
        </p:txBody>
      </p:sp>
      <p:sp>
        <p:nvSpPr>
          <p:cNvPr id="4" name="Text 2"/>
          <p:cNvSpPr/>
          <p:nvPr/>
        </p:nvSpPr>
        <p:spPr>
          <a:xfrm>
            <a:off x="719376" y="2403634"/>
            <a:ext cx="359688" cy="224790"/>
          </a:xfrm>
          <a:prstGeom prst="rect">
            <a:avLst/>
          </a:prstGeom>
          <a:noFill/>
          <a:ln/>
        </p:spPr>
        <p:txBody>
          <a:bodyPr wrap="none" lIns="0" tIns="0" rIns="0" bIns="0" rtlCol="0" anchor="t"/>
          <a:lstStyle/>
          <a:p>
            <a:pPr marL="0" indent="0" algn="l">
              <a:lnSpc>
                <a:spcPts val="2150"/>
              </a:lnSpc>
              <a:buNone/>
            </a:pPr>
            <a:r>
              <a:rPr lang="en-US" sz="1400" dirty="0">
                <a:solidFill>
                  <a:srgbClr val="405449"/>
                </a:solidFill>
                <a:latin typeface="Fraunces Light" pitchFamily="34" charset="0"/>
                <a:ea typeface="Fraunces Light" pitchFamily="34" charset="-122"/>
                <a:cs typeface="Fraunces Light" pitchFamily="34" charset="-120"/>
              </a:rPr>
              <a:t>01</a:t>
            </a:r>
            <a:endParaRPr lang="en-US" sz="1400" dirty="0"/>
          </a:p>
        </p:txBody>
      </p:sp>
      <p:sp>
        <p:nvSpPr>
          <p:cNvPr id="5" name="Shape 3"/>
          <p:cNvSpPr/>
          <p:nvPr/>
        </p:nvSpPr>
        <p:spPr>
          <a:xfrm>
            <a:off x="719376" y="2686407"/>
            <a:ext cx="6514267" cy="22860"/>
          </a:xfrm>
          <a:prstGeom prst="rect">
            <a:avLst/>
          </a:prstGeom>
          <a:solidFill>
            <a:srgbClr val="438951"/>
          </a:solidFill>
          <a:ln/>
        </p:spPr>
      </p:sp>
      <p:sp>
        <p:nvSpPr>
          <p:cNvPr id="6" name="Text 4"/>
          <p:cNvSpPr/>
          <p:nvPr/>
        </p:nvSpPr>
        <p:spPr>
          <a:xfrm>
            <a:off x="719376" y="2822019"/>
            <a:ext cx="2771061" cy="2809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Image Capture &amp; Upload</a:t>
            </a:r>
            <a:endParaRPr lang="en-US" sz="1750" dirty="0"/>
          </a:p>
        </p:txBody>
      </p:sp>
      <p:sp>
        <p:nvSpPr>
          <p:cNvPr id="7" name="Text 5"/>
          <p:cNvSpPr/>
          <p:nvPr/>
        </p:nvSpPr>
        <p:spPr>
          <a:xfrm>
            <a:off x="719376" y="3200757"/>
            <a:ext cx="6514267" cy="54864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User uploads identification photo through secure web or mobile interface with quality validation and format standardization.</a:t>
            </a:r>
            <a:endParaRPr lang="en-US" sz="1400" dirty="0"/>
          </a:p>
        </p:txBody>
      </p:sp>
      <p:sp>
        <p:nvSpPr>
          <p:cNvPr id="8" name="Text 6"/>
          <p:cNvSpPr/>
          <p:nvPr/>
        </p:nvSpPr>
        <p:spPr>
          <a:xfrm>
            <a:off x="7396639" y="2403634"/>
            <a:ext cx="359688" cy="224790"/>
          </a:xfrm>
          <a:prstGeom prst="rect">
            <a:avLst/>
          </a:prstGeom>
          <a:noFill/>
          <a:ln/>
        </p:spPr>
        <p:txBody>
          <a:bodyPr wrap="none" lIns="0" tIns="0" rIns="0" bIns="0" rtlCol="0" anchor="t"/>
          <a:lstStyle/>
          <a:p>
            <a:pPr marL="0" indent="0" algn="l">
              <a:lnSpc>
                <a:spcPts val="2150"/>
              </a:lnSpc>
              <a:buNone/>
            </a:pPr>
            <a:r>
              <a:rPr lang="en-US" sz="1400" dirty="0">
                <a:solidFill>
                  <a:srgbClr val="405449"/>
                </a:solidFill>
                <a:latin typeface="Fraunces Light" pitchFamily="34" charset="0"/>
                <a:ea typeface="Fraunces Light" pitchFamily="34" charset="-122"/>
                <a:cs typeface="Fraunces Light" pitchFamily="34" charset="-120"/>
              </a:rPr>
              <a:t>02</a:t>
            </a:r>
            <a:endParaRPr lang="en-US" sz="1400" dirty="0"/>
          </a:p>
        </p:txBody>
      </p:sp>
      <p:sp>
        <p:nvSpPr>
          <p:cNvPr id="9" name="Shape 7"/>
          <p:cNvSpPr/>
          <p:nvPr/>
        </p:nvSpPr>
        <p:spPr>
          <a:xfrm>
            <a:off x="7396639" y="2686407"/>
            <a:ext cx="6514386" cy="22860"/>
          </a:xfrm>
          <a:prstGeom prst="rect">
            <a:avLst/>
          </a:prstGeom>
          <a:solidFill>
            <a:srgbClr val="438951"/>
          </a:solidFill>
          <a:ln/>
        </p:spPr>
      </p:sp>
      <p:sp>
        <p:nvSpPr>
          <p:cNvPr id="10" name="Text 8"/>
          <p:cNvSpPr/>
          <p:nvPr/>
        </p:nvSpPr>
        <p:spPr>
          <a:xfrm>
            <a:off x="7396639" y="2822019"/>
            <a:ext cx="3589377" cy="2809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FaceNet Embedding Generation</a:t>
            </a:r>
            <a:endParaRPr lang="en-US" sz="1750" dirty="0"/>
          </a:p>
        </p:txBody>
      </p:sp>
      <p:sp>
        <p:nvSpPr>
          <p:cNvPr id="11" name="Text 9"/>
          <p:cNvSpPr/>
          <p:nvPr/>
        </p:nvSpPr>
        <p:spPr>
          <a:xfrm>
            <a:off x="7396639" y="3200757"/>
            <a:ext cx="6514386" cy="82296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Python backend processes image through FaceNet model, generating 128-dimensional vector embeddings that represent facial features mathematically.</a:t>
            </a:r>
            <a:endParaRPr lang="en-US" sz="1400" dirty="0"/>
          </a:p>
        </p:txBody>
      </p:sp>
      <p:sp>
        <p:nvSpPr>
          <p:cNvPr id="12" name="Text 10"/>
          <p:cNvSpPr/>
          <p:nvPr/>
        </p:nvSpPr>
        <p:spPr>
          <a:xfrm>
            <a:off x="719376" y="4321612"/>
            <a:ext cx="359688" cy="224790"/>
          </a:xfrm>
          <a:prstGeom prst="rect">
            <a:avLst/>
          </a:prstGeom>
          <a:noFill/>
          <a:ln/>
        </p:spPr>
        <p:txBody>
          <a:bodyPr wrap="none" lIns="0" tIns="0" rIns="0" bIns="0" rtlCol="0" anchor="t"/>
          <a:lstStyle/>
          <a:p>
            <a:pPr marL="0" indent="0" algn="l">
              <a:lnSpc>
                <a:spcPts val="2150"/>
              </a:lnSpc>
              <a:buNone/>
            </a:pPr>
            <a:r>
              <a:rPr lang="en-US" sz="1400" dirty="0">
                <a:solidFill>
                  <a:srgbClr val="405449"/>
                </a:solidFill>
                <a:latin typeface="Fraunces Light" pitchFamily="34" charset="0"/>
                <a:ea typeface="Fraunces Light" pitchFamily="34" charset="-122"/>
                <a:cs typeface="Fraunces Light" pitchFamily="34" charset="-120"/>
              </a:rPr>
              <a:t>03</a:t>
            </a:r>
            <a:endParaRPr lang="en-US" sz="1400" dirty="0"/>
          </a:p>
        </p:txBody>
      </p:sp>
      <p:sp>
        <p:nvSpPr>
          <p:cNvPr id="13" name="Shape 11"/>
          <p:cNvSpPr/>
          <p:nvPr/>
        </p:nvSpPr>
        <p:spPr>
          <a:xfrm>
            <a:off x="719376" y="4604385"/>
            <a:ext cx="6514267" cy="22860"/>
          </a:xfrm>
          <a:prstGeom prst="rect">
            <a:avLst/>
          </a:prstGeom>
          <a:solidFill>
            <a:srgbClr val="438951"/>
          </a:solidFill>
          <a:ln/>
        </p:spPr>
      </p:sp>
      <p:sp>
        <p:nvSpPr>
          <p:cNvPr id="14" name="Text 12"/>
          <p:cNvSpPr/>
          <p:nvPr/>
        </p:nvSpPr>
        <p:spPr>
          <a:xfrm>
            <a:off x="719376" y="4739997"/>
            <a:ext cx="2248257" cy="2809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Vector Comparison</a:t>
            </a:r>
            <a:endParaRPr lang="en-US" sz="1750" dirty="0"/>
          </a:p>
        </p:txBody>
      </p:sp>
      <p:sp>
        <p:nvSpPr>
          <p:cNvPr id="15" name="Text 13"/>
          <p:cNvSpPr/>
          <p:nvPr/>
        </p:nvSpPr>
        <p:spPr>
          <a:xfrm>
            <a:off x="719376" y="5118735"/>
            <a:ext cx="6514267" cy="82296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Azure SQL performs cosine similarity calculations between new embeddings and stored reference vectors, identifying matches above threshold.</a:t>
            </a:r>
            <a:endParaRPr lang="en-US" sz="1400" dirty="0"/>
          </a:p>
        </p:txBody>
      </p:sp>
      <p:sp>
        <p:nvSpPr>
          <p:cNvPr id="16" name="Text 14"/>
          <p:cNvSpPr/>
          <p:nvPr/>
        </p:nvSpPr>
        <p:spPr>
          <a:xfrm>
            <a:off x="7396639" y="4321612"/>
            <a:ext cx="359688" cy="224790"/>
          </a:xfrm>
          <a:prstGeom prst="rect">
            <a:avLst/>
          </a:prstGeom>
          <a:noFill/>
          <a:ln/>
        </p:spPr>
        <p:txBody>
          <a:bodyPr wrap="none" lIns="0" tIns="0" rIns="0" bIns="0" rtlCol="0" anchor="t"/>
          <a:lstStyle/>
          <a:p>
            <a:pPr marL="0" indent="0" algn="l">
              <a:lnSpc>
                <a:spcPts val="2150"/>
              </a:lnSpc>
              <a:buNone/>
            </a:pPr>
            <a:r>
              <a:rPr lang="en-US" sz="1400" dirty="0">
                <a:solidFill>
                  <a:srgbClr val="405449"/>
                </a:solidFill>
                <a:latin typeface="Fraunces Light" pitchFamily="34" charset="0"/>
                <a:ea typeface="Fraunces Light" pitchFamily="34" charset="-122"/>
                <a:cs typeface="Fraunces Light" pitchFamily="34" charset="-120"/>
              </a:rPr>
              <a:t>04</a:t>
            </a:r>
            <a:endParaRPr lang="en-US" sz="1400" dirty="0"/>
          </a:p>
        </p:txBody>
      </p:sp>
      <p:sp>
        <p:nvSpPr>
          <p:cNvPr id="17" name="Shape 15"/>
          <p:cNvSpPr/>
          <p:nvPr/>
        </p:nvSpPr>
        <p:spPr>
          <a:xfrm>
            <a:off x="7396639" y="4604385"/>
            <a:ext cx="6514386" cy="22860"/>
          </a:xfrm>
          <a:prstGeom prst="rect">
            <a:avLst/>
          </a:prstGeom>
          <a:solidFill>
            <a:srgbClr val="438951"/>
          </a:solidFill>
          <a:ln/>
        </p:spPr>
      </p:sp>
      <p:sp>
        <p:nvSpPr>
          <p:cNvPr id="18" name="Text 16"/>
          <p:cNvSpPr/>
          <p:nvPr/>
        </p:nvSpPr>
        <p:spPr>
          <a:xfrm>
            <a:off x="7396639" y="4739997"/>
            <a:ext cx="2661880" cy="2809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LLM Metadata Analysis</a:t>
            </a:r>
            <a:endParaRPr lang="en-US" sz="1750" dirty="0"/>
          </a:p>
        </p:txBody>
      </p:sp>
      <p:sp>
        <p:nvSpPr>
          <p:cNvPr id="19" name="Text 17"/>
          <p:cNvSpPr/>
          <p:nvPr/>
        </p:nvSpPr>
        <p:spPr>
          <a:xfrm>
            <a:off x="7396639" y="5118735"/>
            <a:ext cx="6514386" cy="54864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Groq/Mistral LLM analyzes image metadata, timestamps, and contextual anomalies to detect potential spoofing or manipulation attempts.</a:t>
            </a:r>
            <a:endParaRPr lang="en-US" sz="1400" dirty="0"/>
          </a:p>
        </p:txBody>
      </p:sp>
      <p:sp>
        <p:nvSpPr>
          <p:cNvPr id="20" name="Text 18"/>
          <p:cNvSpPr/>
          <p:nvPr/>
        </p:nvSpPr>
        <p:spPr>
          <a:xfrm>
            <a:off x="719376" y="6239589"/>
            <a:ext cx="359688" cy="224790"/>
          </a:xfrm>
          <a:prstGeom prst="rect">
            <a:avLst/>
          </a:prstGeom>
          <a:noFill/>
          <a:ln/>
        </p:spPr>
        <p:txBody>
          <a:bodyPr wrap="none" lIns="0" tIns="0" rIns="0" bIns="0" rtlCol="0" anchor="t"/>
          <a:lstStyle/>
          <a:p>
            <a:pPr marL="0" indent="0" algn="l">
              <a:lnSpc>
                <a:spcPts val="2150"/>
              </a:lnSpc>
              <a:buNone/>
            </a:pPr>
            <a:r>
              <a:rPr lang="en-US" sz="1400" dirty="0">
                <a:solidFill>
                  <a:srgbClr val="405449"/>
                </a:solidFill>
                <a:latin typeface="Fraunces Light" pitchFamily="34" charset="0"/>
                <a:ea typeface="Fraunces Light" pitchFamily="34" charset="-122"/>
                <a:cs typeface="Fraunces Light" pitchFamily="34" charset="-120"/>
              </a:rPr>
              <a:t>05</a:t>
            </a:r>
            <a:endParaRPr lang="en-US" sz="1400" dirty="0"/>
          </a:p>
        </p:txBody>
      </p:sp>
      <p:sp>
        <p:nvSpPr>
          <p:cNvPr id="21" name="Shape 19"/>
          <p:cNvSpPr/>
          <p:nvPr/>
        </p:nvSpPr>
        <p:spPr>
          <a:xfrm>
            <a:off x="719376" y="6522363"/>
            <a:ext cx="6514267" cy="22860"/>
          </a:xfrm>
          <a:prstGeom prst="rect">
            <a:avLst/>
          </a:prstGeom>
          <a:solidFill>
            <a:srgbClr val="438951"/>
          </a:solidFill>
          <a:ln/>
        </p:spPr>
      </p:sp>
      <p:sp>
        <p:nvSpPr>
          <p:cNvPr id="22" name="Text 20"/>
          <p:cNvSpPr/>
          <p:nvPr/>
        </p:nvSpPr>
        <p:spPr>
          <a:xfrm>
            <a:off x="719376" y="6657975"/>
            <a:ext cx="2248257" cy="2809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Verification Score</a:t>
            </a:r>
            <a:endParaRPr lang="en-US" sz="1750" dirty="0"/>
          </a:p>
        </p:txBody>
      </p:sp>
      <p:sp>
        <p:nvSpPr>
          <p:cNvPr id="23" name="Text 21"/>
          <p:cNvSpPr/>
          <p:nvPr/>
        </p:nvSpPr>
        <p:spPr>
          <a:xfrm>
            <a:off x="719376" y="7036713"/>
            <a:ext cx="6514267" cy="54864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Combined algorithmic and AI analysis generates weighted verification score with confidence levels and risk flags for manual review if needed.</a:t>
            </a:r>
            <a:endParaRPr lang="en-US" sz="1400" dirty="0"/>
          </a:p>
        </p:txBody>
      </p:sp>
      <p:sp>
        <p:nvSpPr>
          <p:cNvPr id="24" name="Text 22"/>
          <p:cNvSpPr/>
          <p:nvPr/>
        </p:nvSpPr>
        <p:spPr>
          <a:xfrm>
            <a:off x="7396639" y="6239589"/>
            <a:ext cx="359688" cy="224790"/>
          </a:xfrm>
          <a:prstGeom prst="rect">
            <a:avLst/>
          </a:prstGeom>
          <a:noFill/>
          <a:ln/>
        </p:spPr>
        <p:txBody>
          <a:bodyPr wrap="none" lIns="0" tIns="0" rIns="0" bIns="0" rtlCol="0" anchor="t"/>
          <a:lstStyle/>
          <a:p>
            <a:pPr marL="0" indent="0" algn="l">
              <a:lnSpc>
                <a:spcPts val="2150"/>
              </a:lnSpc>
              <a:buNone/>
            </a:pPr>
            <a:r>
              <a:rPr lang="en-US" sz="1400" dirty="0">
                <a:solidFill>
                  <a:srgbClr val="405449"/>
                </a:solidFill>
                <a:latin typeface="Fraunces Light" pitchFamily="34" charset="0"/>
                <a:ea typeface="Fraunces Light" pitchFamily="34" charset="-122"/>
                <a:cs typeface="Fraunces Light" pitchFamily="34" charset="-120"/>
              </a:rPr>
              <a:t>06</a:t>
            </a:r>
            <a:endParaRPr lang="en-US" sz="1400" dirty="0"/>
          </a:p>
        </p:txBody>
      </p:sp>
      <p:sp>
        <p:nvSpPr>
          <p:cNvPr id="25" name="Shape 23"/>
          <p:cNvSpPr/>
          <p:nvPr/>
        </p:nvSpPr>
        <p:spPr>
          <a:xfrm>
            <a:off x="7396639" y="6522363"/>
            <a:ext cx="6514386" cy="22860"/>
          </a:xfrm>
          <a:prstGeom prst="rect">
            <a:avLst/>
          </a:prstGeom>
          <a:solidFill>
            <a:srgbClr val="438951"/>
          </a:solidFill>
          <a:ln/>
        </p:spPr>
      </p:sp>
      <p:sp>
        <p:nvSpPr>
          <p:cNvPr id="26" name="Text 24"/>
          <p:cNvSpPr/>
          <p:nvPr/>
        </p:nvSpPr>
        <p:spPr>
          <a:xfrm>
            <a:off x="7396639" y="6657975"/>
            <a:ext cx="2248257" cy="2809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Data Storage</a:t>
            </a:r>
            <a:endParaRPr lang="en-US" sz="1750" dirty="0"/>
          </a:p>
        </p:txBody>
      </p:sp>
      <p:sp>
        <p:nvSpPr>
          <p:cNvPr id="27" name="Text 25"/>
          <p:cNvSpPr/>
          <p:nvPr/>
        </p:nvSpPr>
        <p:spPr>
          <a:xfrm>
            <a:off x="7396639" y="7036713"/>
            <a:ext cx="6514386" cy="548640"/>
          </a:xfrm>
          <a:prstGeom prst="rect">
            <a:avLst/>
          </a:prstGeom>
          <a:noFill/>
          <a:ln/>
        </p:spPr>
        <p:txBody>
          <a:bodyPr wrap="square" lIns="0" tIns="0" rIns="0" bIns="0" rtlCol="0" anchor="t"/>
          <a:lstStyle/>
          <a:p>
            <a:pPr marL="0" indent="0" algn="l">
              <a:lnSpc>
                <a:spcPts val="2150"/>
              </a:lnSpc>
              <a:buNone/>
            </a:pPr>
            <a:r>
              <a:rPr lang="en-US" sz="1400" dirty="0">
                <a:solidFill>
                  <a:srgbClr val="405449"/>
                </a:solidFill>
                <a:latin typeface="Nobile" pitchFamily="34" charset="0"/>
                <a:ea typeface="Nobile" pitchFamily="34" charset="-122"/>
                <a:cs typeface="Nobile" pitchFamily="34" charset="-120"/>
              </a:rPr>
              <a:t>Encrypted images, embeddings, and verification results stored in Azure SQL with audit trails for compliance and regulatory requirements.</a:t>
            </a:r>
            <a:endParaRPr lang="en-US" sz="1400" dirty="0"/>
          </a:p>
        </p:txBody>
      </p:sp>
      <p:pic>
        <p:nvPicPr>
          <p:cNvPr id="28" name="Picture 27">
            <a:extLst>
              <a:ext uri="{FF2B5EF4-FFF2-40B4-BE49-F238E27FC236}">
                <a16:creationId xmlns:a16="http://schemas.microsoft.com/office/drawing/2014/main" id="{29F9F56C-577F-EFDA-0F55-06CD033CD1C3}"/>
              </a:ext>
            </a:extLst>
          </p:cNvPr>
          <p:cNvPicPr>
            <a:picLocks noChangeAspect="1"/>
          </p:cNvPicPr>
          <p:nvPr/>
        </p:nvPicPr>
        <p:blipFill>
          <a:blip r:embed="rId3"/>
          <a:stretch>
            <a:fillRect/>
          </a:stretch>
        </p:blipFill>
        <p:spPr>
          <a:xfrm>
            <a:off x="12810871" y="7710840"/>
            <a:ext cx="1819529" cy="5135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46014" y="480774"/>
            <a:ext cx="9479637" cy="465177"/>
          </a:xfrm>
          <a:prstGeom prst="rect">
            <a:avLst/>
          </a:prstGeom>
          <a:noFill/>
          <a:ln/>
        </p:spPr>
        <p:txBody>
          <a:bodyPr wrap="none" lIns="0" tIns="0" rIns="0" bIns="0" rtlCol="0" anchor="t"/>
          <a:lstStyle/>
          <a:p>
            <a:pPr marL="0" indent="0" algn="l">
              <a:lnSpc>
                <a:spcPts val="3650"/>
              </a:lnSpc>
              <a:buNone/>
            </a:pPr>
            <a:r>
              <a:rPr lang="en-US" sz="2900" b="1" dirty="0">
                <a:solidFill>
                  <a:srgbClr val="3B4540"/>
                </a:solidFill>
                <a:latin typeface="Fraunces Extra Bold" pitchFamily="34" charset="0"/>
                <a:ea typeface="Fraunces Extra Bold" pitchFamily="34" charset="-122"/>
                <a:cs typeface="Fraunces Extra Bold" pitchFamily="34" charset="-120"/>
              </a:rPr>
              <a:t>AI Onboarding Assistant: Guided Voice Experience</a:t>
            </a:r>
            <a:endParaRPr lang="en-US" sz="2900" dirty="0"/>
          </a:p>
        </p:txBody>
      </p:sp>
      <p:sp>
        <p:nvSpPr>
          <p:cNvPr id="3" name="Text 1"/>
          <p:cNvSpPr/>
          <p:nvPr/>
        </p:nvSpPr>
        <p:spPr>
          <a:xfrm>
            <a:off x="1446014" y="1169194"/>
            <a:ext cx="11738253" cy="625078"/>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Customer onboarding represents a critical first interaction that sets expectations for the entire insurance relationship. Our AI-powered onboarding assistant transforms this traditionally paperwork-heavy process into a conversational, guided experience delivered through voice channels. The system combines telephony integration with dynamic LLM processing to adapt to customer responses in real-time.</a:t>
            </a:r>
            <a:endParaRPr lang="en-US" sz="1150" dirty="0"/>
          </a:p>
        </p:txBody>
      </p:sp>
      <p:sp>
        <p:nvSpPr>
          <p:cNvPr id="4" name="Shape 2"/>
          <p:cNvSpPr/>
          <p:nvPr/>
        </p:nvSpPr>
        <p:spPr>
          <a:xfrm>
            <a:off x="7307461" y="1919764"/>
            <a:ext cx="15240" cy="4258151"/>
          </a:xfrm>
          <a:prstGeom prst="roundRect">
            <a:avLst>
              <a:gd name="adj" fmla="val 879072"/>
            </a:avLst>
          </a:prstGeom>
          <a:solidFill>
            <a:srgbClr val="CED9CE"/>
          </a:solidFill>
          <a:ln/>
        </p:spPr>
      </p:sp>
      <p:sp>
        <p:nvSpPr>
          <p:cNvPr id="5" name="Shape 3"/>
          <p:cNvSpPr/>
          <p:nvPr/>
        </p:nvSpPr>
        <p:spPr>
          <a:xfrm>
            <a:off x="6716375" y="2079546"/>
            <a:ext cx="446484" cy="15240"/>
          </a:xfrm>
          <a:prstGeom prst="roundRect">
            <a:avLst>
              <a:gd name="adj" fmla="val 879072"/>
            </a:avLst>
          </a:prstGeom>
          <a:solidFill>
            <a:srgbClr val="CED9CE"/>
          </a:solidFill>
          <a:ln/>
        </p:spPr>
      </p:sp>
      <p:sp>
        <p:nvSpPr>
          <p:cNvPr id="6" name="Shape 4"/>
          <p:cNvSpPr/>
          <p:nvPr/>
        </p:nvSpPr>
        <p:spPr>
          <a:xfrm>
            <a:off x="7147620" y="1919764"/>
            <a:ext cx="334923" cy="334923"/>
          </a:xfrm>
          <a:prstGeom prst="roundRect">
            <a:avLst>
              <a:gd name="adj" fmla="val 40000"/>
            </a:avLst>
          </a:prstGeom>
          <a:solidFill>
            <a:srgbClr val="E8F3E8"/>
          </a:solidFill>
          <a:ln/>
        </p:spPr>
      </p:sp>
      <p:sp>
        <p:nvSpPr>
          <p:cNvPr id="7" name="Text 5"/>
          <p:cNvSpPr/>
          <p:nvPr/>
        </p:nvSpPr>
        <p:spPr>
          <a:xfrm>
            <a:off x="7203400" y="1947624"/>
            <a:ext cx="223242" cy="279083"/>
          </a:xfrm>
          <a:prstGeom prst="rect">
            <a:avLst/>
          </a:prstGeom>
          <a:noFill/>
          <a:ln/>
        </p:spPr>
        <p:txBody>
          <a:bodyPr wrap="none" lIns="0" tIns="0" rIns="0" bIns="0" rtlCol="0" anchor="t"/>
          <a:lstStyle/>
          <a:p>
            <a:pPr marL="0" indent="0" algn="ctr">
              <a:lnSpc>
                <a:spcPts val="1750"/>
              </a:lnSpc>
              <a:buNone/>
            </a:pPr>
            <a:r>
              <a:rPr lang="en-US" sz="1750" b="1" dirty="0">
                <a:solidFill>
                  <a:srgbClr val="405449"/>
                </a:solidFill>
                <a:latin typeface="Fraunces Extra Bold" pitchFamily="34" charset="0"/>
                <a:ea typeface="Fraunces Extra Bold" pitchFamily="34" charset="-122"/>
                <a:cs typeface="Fraunces Extra Bold" pitchFamily="34" charset="-120"/>
              </a:rPr>
              <a:t>1</a:t>
            </a:r>
            <a:endParaRPr lang="en-US" sz="1750" dirty="0"/>
          </a:p>
        </p:txBody>
      </p:sp>
      <p:sp>
        <p:nvSpPr>
          <p:cNvPr id="8" name="Text 6"/>
          <p:cNvSpPr/>
          <p:nvPr/>
        </p:nvSpPr>
        <p:spPr>
          <a:xfrm>
            <a:off x="4710232" y="1970842"/>
            <a:ext cx="1860590" cy="232529"/>
          </a:xfrm>
          <a:prstGeom prst="rect">
            <a:avLst/>
          </a:prstGeom>
          <a:noFill/>
          <a:ln/>
        </p:spPr>
        <p:txBody>
          <a:bodyPr wrap="none" lIns="0" tIns="0" rIns="0" bIns="0" rtlCol="0" anchor="t"/>
          <a:lstStyle/>
          <a:p>
            <a:pPr marL="0" indent="0" algn="r">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Call Initiation</a:t>
            </a:r>
            <a:endParaRPr lang="en-US" sz="1450" dirty="0"/>
          </a:p>
        </p:txBody>
      </p:sp>
      <p:sp>
        <p:nvSpPr>
          <p:cNvPr id="9" name="Text 7"/>
          <p:cNvSpPr/>
          <p:nvPr/>
        </p:nvSpPr>
        <p:spPr>
          <a:xfrm>
            <a:off x="1446014" y="2270284"/>
            <a:ext cx="5124807" cy="416719"/>
          </a:xfrm>
          <a:prstGeom prst="rect">
            <a:avLst/>
          </a:prstGeom>
          <a:noFill/>
          <a:ln/>
        </p:spPr>
        <p:txBody>
          <a:bodyPr wrap="square" lIns="0" tIns="0" rIns="0" bIns="0" rtlCol="0" anchor="t"/>
          <a:lstStyle/>
          <a:p>
            <a:pPr marL="0" indent="0" algn="r">
              <a:lnSpc>
                <a:spcPts val="1600"/>
              </a:lnSpc>
              <a:buNone/>
            </a:pPr>
            <a:r>
              <a:rPr lang="en-US" sz="1150" dirty="0">
                <a:solidFill>
                  <a:srgbClr val="405449"/>
                </a:solidFill>
                <a:latin typeface="Nobile" pitchFamily="34" charset="0"/>
                <a:ea typeface="Nobile" pitchFamily="34" charset="-122"/>
                <a:cs typeface="Nobile" pitchFamily="34" charset="-120"/>
              </a:rPr>
              <a:t>Customer initiates onboarding call through standard telephone connection, with Vapi AI or Twilio handling telephony infrastructure.</a:t>
            </a:r>
            <a:endParaRPr lang="en-US" sz="1150" dirty="0"/>
          </a:p>
        </p:txBody>
      </p:sp>
      <p:sp>
        <p:nvSpPr>
          <p:cNvPr id="10" name="Shape 8"/>
          <p:cNvSpPr/>
          <p:nvPr/>
        </p:nvSpPr>
        <p:spPr>
          <a:xfrm>
            <a:off x="7467302" y="2898100"/>
            <a:ext cx="446484" cy="15240"/>
          </a:xfrm>
          <a:prstGeom prst="roundRect">
            <a:avLst>
              <a:gd name="adj" fmla="val 879072"/>
            </a:avLst>
          </a:prstGeom>
          <a:solidFill>
            <a:srgbClr val="CED9CE"/>
          </a:solidFill>
          <a:ln/>
        </p:spPr>
      </p:sp>
      <p:sp>
        <p:nvSpPr>
          <p:cNvPr id="11" name="Shape 9"/>
          <p:cNvSpPr/>
          <p:nvPr/>
        </p:nvSpPr>
        <p:spPr>
          <a:xfrm>
            <a:off x="7147620" y="2738318"/>
            <a:ext cx="334923" cy="334923"/>
          </a:xfrm>
          <a:prstGeom prst="roundRect">
            <a:avLst>
              <a:gd name="adj" fmla="val 40000"/>
            </a:avLst>
          </a:prstGeom>
          <a:solidFill>
            <a:srgbClr val="E8F3E8"/>
          </a:solidFill>
          <a:ln/>
        </p:spPr>
      </p:sp>
      <p:sp>
        <p:nvSpPr>
          <p:cNvPr id="12" name="Text 10"/>
          <p:cNvSpPr/>
          <p:nvPr/>
        </p:nvSpPr>
        <p:spPr>
          <a:xfrm>
            <a:off x="7203400" y="2766179"/>
            <a:ext cx="223242" cy="279083"/>
          </a:xfrm>
          <a:prstGeom prst="rect">
            <a:avLst/>
          </a:prstGeom>
          <a:noFill/>
          <a:ln/>
        </p:spPr>
        <p:txBody>
          <a:bodyPr wrap="none" lIns="0" tIns="0" rIns="0" bIns="0" rtlCol="0" anchor="t"/>
          <a:lstStyle/>
          <a:p>
            <a:pPr marL="0" indent="0" algn="ctr">
              <a:lnSpc>
                <a:spcPts val="1750"/>
              </a:lnSpc>
              <a:buNone/>
            </a:pPr>
            <a:r>
              <a:rPr lang="en-US" sz="1750" b="1" dirty="0">
                <a:solidFill>
                  <a:srgbClr val="405449"/>
                </a:solidFill>
                <a:latin typeface="Fraunces Extra Bold" pitchFamily="34" charset="0"/>
                <a:ea typeface="Fraunces Extra Bold" pitchFamily="34" charset="-122"/>
                <a:cs typeface="Fraunces Extra Bold" pitchFamily="34" charset="-120"/>
              </a:rPr>
              <a:t>2</a:t>
            </a:r>
            <a:endParaRPr lang="en-US" sz="1750" dirty="0"/>
          </a:p>
        </p:txBody>
      </p:sp>
      <p:sp>
        <p:nvSpPr>
          <p:cNvPr id="13" name="Text 11"/>
          <p:cNvSpPr/>
          <p:nvPr/>
        </p:nvSpPr>
        <p:spPr>
          <a:xfrm>
            <a:off x="8059341" y="2789396"/>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Audio Streaming</a:t>
            </a:r>
            <a:endParaRPr lang="en-US" sz="1450" dirty="0"/>
          </a:p>
        </p:txBody>
      </p:sp>
      <p:sp>
        <p:nvSpPr>
          <p:cNvPr id="14" name="Text 12"/>
          <p:cNvSpPr/>
          <p:nvPr/>
        </p:nvSpPr>
        <p:spPr>
          <a:xfrm>
            <a:off x="8059341" y="3088838"/>
            <a:ext cx="5124926"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Continuous audio stream captured and forwarded to n8n workflow orchestrator for real-time processing and routing.</a:t>
            </a:r>
            <a:endParaRPr lang="en-US" sz="1150" dirty="0"/>
          </a:p>
        </p:txBody>
      </p:sp>
      <p:sp>
        <p:nvSpPr>
          <p:cNvPr id="15" name="Shape 13"/>
          <p:cNvSpPr/>
          <p:nvPr/>
        </p:nvSpPr>
        <p:spPr>
          <a:xfrm>
            <a:off x="6716375" y="3630573"/>
            <a:ext cx="446484" cy="15240"/>
          </a:xfrm>
          <a:prstGeom prst="roundRect">
            <a:avLst>
              <a:gd name="adj" fmla="val 879072"/>
            </a:avLst>
          </a:prstGeom>
          <a:solidFill>
            <a:srgbClr val="CED9CE"/>
          </a:solidFill>
          <a:ln/>
        </p:spPr>
      </p:sp>
      <p:sp>
        <p:nvSpPr>
          <p:cNvPr id="16" name="Shape 14"/>
          <p:cNvSpPr/>
          <p:nvPr/>
        </p:nvSpPr>
        <p:spPr>
          <a:xfrm>
            <a:off x="7147620" y="3470791"/>
            <a:ext cx="334923" cy="334923"/>
          </a:xfrm>
          <a:prstGeom prst="roundRect">
            <a:avLst>
              <a:gd name="adj" fmla="val 40000"/>
            </a:avLst>
          </a:prstGeom>
          <a:solidFill>
            <a:srgbClr val="E8F3E8"/>
          </a:solidFill>
          <a:ln/>
        </p:spPr>
      </p:sp>
      <p:sp>
        <p:nvSpPr>
          <p:cNvPr id="17" name="Text 15"/>
          <p:cNvSpPr/>
          <p:nvPr/>
        </p:nvSpPr>
        <p:spPr>
          <a:xfrm>
            <a:off x="7203400" y="3498652"/>
            <a:ext cx="223242" cy="279083"/>
          </a:xfrm>
          <a:prstGeom prst="rect">
            <a:avLst/>
          </a:prstGeom>
          <a:noFill/>
          <a:ln/>
        </p:spPr>
        <p:txBody>
          <a:bodyPr wrap="none" lIns="0" tIns="0" rIns="0" bIns="0" rtlCol="0" anchor="t"/>
          <a:lstStyle/>
          <a:p>
            <a:pPr marL="0" indent="0" algn="ctr">
              <a:lnSpc>
                <a:spcPts val="1750"/>
              </a:lnSpc>
              <a:buNone/>
            </a:pPr>
            <a:r>
              <a:rPr lang="en-US" sz="1750" b="1" dirty="0">
                <a:solidFill>
                  <a:srgbClr val="405449"/>
                </a:solidFill>
                <a:latin typeface="Fraunces Extra Bold" pitchFamily="34" charset="0"/>
                <a:ea typeface="Fraunces Extra Bold" pitchFamily="34" charset="-122"/>
                <a:cs typeface="Fraunces Extra Bold" pitchFamily="34" charset="-120"/>
              </a:rPr>
              <a:t>3</a:t>
            </a:r>
            <a:endParaRPr lang="en-US" sz="1750" dirty="0"/>
          </a:p>
        </p:txBody>
      </p:sp>
      <p:sp>
        <p:nvSpPr>
          <p:cNvPr id="18" name="Text 16"/>
          <p:cNvSpPr/>
          <p:nvPr/>
        </p:nvSpPr>
        <p:spPr>
          <a:xfrm>
            <a:off x="4708327" y="3521869"/>
            <a:ext cx="1862495" cy="232529"/>
          </a:xfrm>
          <a:prstGeom prst="rect">
            <a:avLst/>
          </a:prstGeom>
          <a:noFill/>
          <a:ln/>
        </p:spPr>
        <p:txBody>
          <a:bodyPr wrap="none" lIns="0" tIns="0" rIns="0" bIns="0" rtlCol="0" anchor="t"/>
          <a:lstStyle/>
          <a:p>
            <a:pPr marL="0" indent="0" algn="r">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Speech Recognition</a:t>
            </a:r>
            <a:endParaRPr lang="en-US" sz="1450" dirty="0"/>
          </a:p>
        </p:txBody>
      </p:sp>
      <p:sp>
        <p:nvSpPr>
          <p:cNvPr id="19" name="Text 17"/>
          <p:cNvSpPr/>
          <p:nvPr/>
        </p:nvSpPr>
        <p:spPr>
          <a:xfrm>
            <a:off x="1446014" y="3821311"/>
            <a:ext cx="5124807" cy="625078"/>
          </a:xfrm>
          <a:prstGeom prst="rect">
            <a:avLst/>
          </a:prstGeom>
          <a:noFill/>
          <a:ln/>
        </p:spPr>
        <p:txBody>
          <a:bodyPr wrap="square" lIns="0" tIns="0" rIns="0" bIns="0" rtlCol="0" anchor="t"/>
          <a:lstStyle/>
          <a:p>
            <a:pPr marL="0" indent="0" algn="r">
              <a:lnSpc>
                <a:spcPts val="1600"/>
              </a:lnSpc>
              <a:buNone/>
            </a:pPr>
            <a:r>
              <a:rPr lang="en-US" sz="1150" dirty="0">
                <a:solidFill>
                  <a:srgbClr val="405449"/>
                </a:solidFill>
                <a:latin typeface="Nobile" pitchFamily="34" charset="0"/>
                <a:ea typeface="Nobile" pitchFamily="34" charset="-122"/>
                <a:cs typeface="Nobile" pitchFamily="34" charset="-120"/>
              </a:rPr>
              <a:t>Deepgram converts streamed audio to text with streaming API support, enabling incremental processing without waiting for complete sentences.</a:t>
            </a:r>
            <a:endParaRPr lang="en-US" sz="1150" dirty="0"/>
          </a:p>
        </p:txBody>
      </p:sp>
      <p:sp>
        <p:nvSpPr>
          <p:cNvPr id="20" name="Shape 18"/>
          <p:cNvSpPr/>
          <p:nvPr/>
        </p:nvSpPr>
        <p:spPr>
          <a:xfrm>
            <a:off x="7467302" y="4363164"/>
            <a:ext cx="446484" cy="15240"/>
          </a:xfrm>
          <a:prstGeom prst="roundRect">
            <a:avLst>
              <a:gd name="adj" fmla="val 879072"/>
            </a:avLst>
          </a:prstGeom>
          <a:solidFill>
            <a:srgbClr val="CED9CE"/>
          </a:solidFill>
          <a:ln/>
        </p:spPr>
      </p:sp>
      <p:sp>
        <p:nvSpPr>
          <p:cNvPr id="21" name="Shape 19"/>
          <p:cNvSpPr/>
          <p:nvPr/>
        </p:nvSpPr>
        <p:spPr>
          <a:xfrm>
            <a:off x="7147620" y="4203383"/>
            <a:ext cx="334923" cy="334923"/>
          </a:xfrm>
          <a:prstGeom prst="roundRect">
            <a:avLst>
              <a:gd name="adj" fmla="val 40000"/>
            </a:avLst>
          </a:prstGeom>
          <a:solidFill>
            <a:srgbClr val="E8F3E8"/>
          </a:solidFill>
          <a:ln/>
        </p:spPr>
      </p:sp>
      <p:sp>
        <p:nvSpPr>
          <p:cNvPr id="22" name="Text 20"/>
          <p:cNvSpPr/>
          <p:nvPr/>
        </p:nvSpPr>
        <p:spPr>
          <a:xfrm>
            <a:off x="7203400" y="4231243"/>
            <a:ext cx="223242" cy="279083"/>
          </a:xfrm>
          <a:prstGeom prst="rect">
            <a:avLst/>
          </a:prstGeom>
          <a:noFill/>
          <a:ln/>
        </p:spPr>
        <p:txBody>
          <a:bodyPr wrap="none" lIns="0" tIns="0" rIns="0" bIns="0" rtlCol="0" anchor="t"/>
          <a:lstStyle/>
          <a:p>
            <a:pPr marL="0" indent="0" algn="ctr">
              <a:lnSpc>
                <a:spcPts val="1750"/>
              </a:lnSpc>
              <a:buNone/>
            </a:pPr>
            <a:r>
              <a:rPr lang="en-US" sz="1750" b="1" dirty="0">
                <a:solidFill>
                  <a:srgbClr val="405449"/>
                </a:solidFill>
                <a:latin typeface="Fraunces Extra Bold" pitchFamily="34" charset="0"/>
                <a:ea typeface="Fraunces Extra Bold" pitchFamily="34" charset="-122"/>
                <a:cs typeface="Fraunces Extra Bold" pitchFamily="34" charset="-120"/>
              </a:rPr>
              <a:t>4</a:t>
            </a:r>
            <a:endParaRPr lang="en-US" sz="1750" dirty="0"/>
          </a:p>
        </p:txBody>
      </p:sp>
      <p:sp>
        <p:nvSpPr>
          <p:cNvPr id="23" name="Text 21"/>
          <p:cNvSpPr/>
          <p:nvPr/>
        </p:nvSpPr>
        <p:spPr>
          <a:xfrm>
            <a:off x="8059341" y="4254460"/>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LLM Processing</a:t>
            </a:r>
            <a:endParaRPr lang="en-US" sz="1450" dirty="0"/>
          </a:p>
        </p:txBody>
      </p:sp>
      <p:sp>
        <p:nvSpPr>
          <p:cNvPr id="24" name="Text 22"/>
          <p:cNvSpPr/>
          <p:nvPr/>
        </p:nvSpPr>
        <p:spPr>
          <a:xfrm>
            <a:off x="8059341" y="4553902"/>
            <a:ext cx="5124926"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Mistral/Groq LLM interprets customer responses, determines next required information, and generates appropriate guidance dynamically.</a:t>
            </a:r>
            <a:endParaRPr lang="en-US" sz="1150" dirty="0"/>
          </a:p>
        </p:txBody>
      </p:sp>
      <p:sp>
        <p:nvSpPr>
          <p:cNvPr id="25" name="Shape 23"/>
          <p:cNvSpPr/>
          <p:nvPr/>
        </p:nvSpPr>
        <p:spPr>
          <a:xfrm>
            <a:off x="6716375" y="5095756"/>
            <a:ext cx="446484" cy="15240"/>
          </a:xfrm>
          <a:prstGeom prst="roundRect">
            <a:avLst>
              <a:gd name="adj" fmla="val 879072"/>
            </a:avLst>
          </a:prstGeom>
          <a:solidFill>
            <a:srgbClr val="CED9CE"/>
          </a:solidFill>
          <a:ln/>
        </p:spPr>
      </p:sp>
      <p:sp>
        <p:nvSpPr>
          <p:cNvPr id="26" name="Shape 24"/>
          <p:cNvSpPr/>
          <p:nvPr/>
        </p:nvSpPr>
        <p:spPr>
          <a:xfrm>
            <a:off x="7147620" y="4935974"/>
            <a:ext cx="334923" cy="334923"/>
          </a:xfrm>
          <a:prstGeom prst="roundRect">
            <a:avLst>
              <a:gd name="adj" fmla="val 40000"/>
            </a:avLst>
          </a:prstGeom>
          <a:solidFill>
            <a:srgbClr val="E8F3E8"/>
          </a:solidFill>
          <a:ln/>
        </p:spPr>
      </p:sp>
      <p:sp>
        <p:nvSpPr>
          <p:cNvPr id="27" name="Text 25"/>
          <p:cNvSpPr/>
          <p:nvPr/>
        </p:nvSpPr>
        <p:spPr>
          <a:xfrm>
            <a:off x="7203400" y="4963835"/>
            <a:ext cx="223242" cy="279083"/>
          </a:xfrm>
          <a:prstGeom prst="rect">
            <a:avLst/>
          </a:prstGeom>
          <a:noFill/>
          <a:ln/>
        </p:spPr>
        <p:txBody>
          <a:bodyPr wrap="none" lIns="0" tIns="0" rIns="0" bIns="0" rtlCol="0" anchor="t"/>
          <a:lstStyle/>
          <a:p>
            <a:pPr marL="0" indent="0" algn="ctr">
              <a:lnSpc>
                <a:spcPts val="1750"/>
              </a:lnSpc>
              <a:buNone/>
            </a:pPr>
            <a:r>
              <a:rPr lang="en-US" sz="1750" b="1" dirty="0">
                <a:solidFill>
                  <a:srgbClr val="405449"/>
                </a:solidFill>
                <a:latin typeface="Fraunces Extra Bold" pitchFamily="34" charset="0"/>
                <a:ea typeface="Fraunces Extra Bold" pitchFamily="34" charset="-122"/>
                <a:cs typeface="Fraunces Extra Bold" pitchFamily="34" charset="-120"/>
              </a:rPr>
              <a:t>5</a:t>
            </a:r>
            <a:endParaRPr lang="en-US" sz="1750" dirty="0"/>
          </a:p>
        </p:txBody>
      </p:sp>
      <p:sp>
        <p:nvSpPr>
          <p:cNvPr id="28" name="Text 26"/>
          <p:cNvSpPr/>
          <p:nvPr/>
        </p:nvSpPr>
        <p:spPr>
          <a:xfrm>
            <a:off x="4710232" y="4987052"/>
            <a:ext cx="1860590" cy="232529"/>
          </a:xfrm>
          <a:prstGeom prst="rect">
            <a:avLst/>
          </a:prstGeom>
          <a:noFill/>
          <a:ln/>
        </p:spPr>
        <p:txBody>
          <a:bodyPr wrap="none" lIns="0" tIns="0" rIns="0" bIns="0" rtlCol="0" anchor="t"/>
          <a:lstStyle/>
          <a:p>
            <a:pPr marL="0" indent="0" algn="r">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Voice Response</a:t>
            </a:r>
            <a:endParaRPr lang="en-US" sz="1450" dirty="0"/>
          </a:p>
        </p:txBody>
      </p:sp>
      <p:sp>
        <p:nvSpPr>
          <p:cNvPr id="29" name="Text 27"/>
          <p:cNvSpPr/>
          <p:nvPr/>
        </p:nvSpPr>
        <p:spPr>
          <a:xfrm>
            <a:off x="1446014" y="5286494"/>
            <a:ext cx="5124807" cy="416719"/>
          </a:xfrm>
          <a:prstGeom prst="rect">
            <a:avLst/>
          </a:prstGeom>
          <a:noFill/>
          <a:ln/>
        </p:spPr>
        <p:txBody>
          <a:bodyPr wrap="square" lIns="0" tIns="0" rIns="0" bIns="0" rtlCol="0" anchor="t"/>
          <a:lstStyle/>
          <a:p>
            <a:pPr marL="0" indent="0" algn="r">
              <a:lnSpc>
                <a:spcPts val="1600"/>
              </a:lnSpc>
              <a:buNone/>
            </a:pPr>
            <a:r>
              <a:rPr lang="en-US" sz="1150" dirty="0">
                <a:solidFill>
                  <a:srgbClr val="405449"/>
                </a:solidFill>
                <a:latin typeface="Nobile" pitchFamily="34" charset="0"/>
                <a:ea typeface="Nobile" pitchFamily="34" charset="-122"/>
                <a:cs typeface="Nobile" pitchFamily="34" charset="-120"/>
              </a:rPr>
              <a:t>Generated guidance converted back to natural voice through TTS and streamed in real-time, creating interactive conversation flow.</a:t>
            </a:r>
            <a:endParaRPr lang="en-US" sz="1150" dirty="0"/>
          </a:p>
        </p:txBody>
      </p:sp>
      <p:sp>
        <p:nvSpPr>
          <p:cNvPr id="30" name="Text 28"/>
          <p:cNvSpPr/>
          <p:nvPr/>
        </p:nvSpPr>
        <p:spPr>
          <a:xfrm>
            <a:off x="1446014" y="6414968"/>
            <a:ext cx="2063234" cy="232529"/>
          </a:xfrm>
          <a:prstGeom prst="rect">
            <a:avLst/>
          </a:prstGeom>
          <a:noFill/>
          <a:ln/>
        </p:spPr>
        <p:txBody>
          <a:bodyPr wrap="none" lIns="0" tIns="0" rIns="0" bIns="0" rtlCol="0" anchor="t"/>
          <a:lstStyle/>
          <a:p>
            <a:pPr marL="0" indent="0" algn="l">
              <a:lnSpc>
                <a:spcPts val="1800"/>
              </a:lnSpc>
              <a:buNone/>
            </a:pPr>
            <a:r>
              <a:rPr lang="en-US" sz="1450" b="1" dirty="0">
                <a:solidFill>
                  <a:srgbClr val="3B4540"/>
                </a:solidFill>
                <a:latin typeface="Fraunces Extra Bold" pitchFamily="34" charset="0"/>
                <a:ea typeface="Fraunces Extra Bold" pitchFamily="34" charset="-122"/>
                <a:cs typeface="Fraunces Extra Bold" pitchFamily="34" charset="-120"/>
              </a:rPr>
              <a:t>Technical Advantages</a:t>
            </a:r>
            <a:endParaRPr lang="en-US" sz="1450" dirty="0"/>
          </a:p>
        </p:txBody>
      </p:sp>
      <p:sp>
        <p:nvSpPr>
          <p:cNvPr id="31" name="Text 29"/>
          <p:cNvSpPr/>
          <p:nvPr/>
        </p:nvSpPr>
        <p:spPr>
          <a:xfrm>
            <a:off x="1446014" y="6759059"/>
            <a:ext cx="5687497" cy="950595"/>
          </a:xfrm>
          <a:prstGeom prst="rect">
            <a:avLst/>
          </a:prstGeom>
          <a:noFill/>
          <a:ln/>
        </p:spPr>
        <p:txBody>
          <a:bodyPr wrap="square" lIns="0" tIns="0" rIns="0" bIns="0" rtlCol="0" anchor="t"/>
          <a:lstStyle/>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Streaming processing reduces latency</a:t>
            </a:r>
            <a:endParaRPr lang="en-US" sz="1150" dirty="0"/>
          </a:p>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Dynamic branching based on responses</a:t>
            </a:r>
            <a:endParaRPr lang="en-US" sz="1150" dirty="0"/>
          </a:p>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Handles incomplete or ambiguous input</a:t>
            </a:r>
            <a:endParaRPr lang="en-US" sz="1150" dirty="0"/>
          </a:p>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Multi-lingual support through LLM capabilities</a:t>
            </a:r>
            <a:endParaRPr lang="en-US" sz="1150" dirty="0"/>
          </a:p>
        </p:txBody>
      </p:sp>
      <p:sp>
        <p:nvSpPr>
          <p:cNvPr id="32" name="Text 30"/>
          <p:cNvSpPr/>
          <p:nvPr/>
        </p:nvSpPr>
        <p:spPr>
          <a:xfrm>
            <a:off x="7504271" y="6414968"/>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3B4540"/>
                </a:solidFill>
                <a:latin typeface="Fraunces Extra Bold" pitchFamily="34" charset="0"/>
                <a:ea typeface="Fraunces Extra Bold" pitchFamily="34" charset="-122"/>
                <a:cs typeface="Fraunces Extra Bold" pitchFamily="34" charset="-120"/>
              </a:rPr>
              <a:t>Business Benefits</a:t>
            </a:r>
            <a:endParaRPr lang="en-US" sz="1450" dirty="0"/>
          </a:p>
        </p:txBody>
      </p:sp>
      <p:sp>
        <p:nvSpPr>
          <p:cNvPr id="33" name="Text 31"/>
          <p:cNvSpPr/>
          <p:nvPr/>
        </p:nvSpPr>
        <p:spPr>
          <a:xfrm>
            <a:off x="7504271" y="6759059"/>
            <a:ext cx="5687497" cy="950595"/>
          </a:xfrm>
          <a:prstGeom prst="rect">
            <a:avLst/>
          </a:prstGeom>
          <a:noFill/>
          <a:ln/>
        </p:spPr>
        <p:txBody>
          <a:bodyPr wrap="square" lIns="0" tIns="0" rIns="0" bIns="0" rtlCol="0" anchor="t"/>
          <a:lstStyle/>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24/7 automated onboarding availability</a:t>
            </a:r>
            <a:endParaRPr lang="en-US" sz="1150" dirty="0"/>
          </a:p>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Consistent process execution</a:t>
            </a:r>
            <a:endParaRPr lang="en-US" sz="1150" dirty="0"/>
          </a:p>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Reduced manual agent workload</a:t>
            </a:r>
            <a:endParaRPr lang="en-US" sz="1150" dirty="0"/>
          </a:p>
          <a:p>
            <a:pPr marL="342900" indent="-342900" algn="l">
              <a:lnSpc>
                <a:spcPts val="1600"/>
              </a:lnSpc>
              <a:buSzPct val="100000"/>
              <a:buChar char="•"/>
            </a:pPr>
            <a:r>
              <a:rPr lang="en-US" sz="1150" dirty="0">
                <a:solidFill>
                  <a:srgbClr val="405449"/>
                </a:solidFill>
                <a:latin typeface="Nobile" pitchFamily="34" charset="0"/>
                <a:ea typeface="Nobile" pitchFamily="34" charset="-122"/>
                <a:cs typeface="Nobile" pitchFamily="34" charset="-120"/>
              </a:rPr>
              <a:t>Scalable to handle peak volumes</a:t>
            </a:r>
            <a:endParaRPr lang="en-US" sz="1150" dirty="0"/>
          </a:p>
        </p:txBody>
      </p:sp>
      <p:pic>
        <p:nvPicPr>
          <p:cNvPr id="34" name="Picture 33">
            <a:extLst>
              <a:ext uri="{FF2B5EF4-FFF2-40B4-BE49-F238E27FC236}">
                <a16:creationId xmlns:a16="http://schemas.microsoft.com/office/drawing/2014/main" id="{B40A9F96-11A4-5ED6-10F7-F5C33D50235E}"/>
              </a:ext>
            </a:extLst>
          </p:cNvPr>
          <p:cNvPicPr>
            <a:picLocks noChangeAspect="1"/>
          </p:cNvPicPr>
          <p:nvPr/>
        </p:nvPicPr>
        <p:blipFill>
          <a:blip r:embed="rId3"/>
          <a:stretch>
            <a:fillRect/>
          </a:stretch>
        </p:blipFill>
        <p:spPr>
          <a:xfrm>
            <a:off x="12810871" y="7699689"/>
            <a:ext cx="1819529" cy="5135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2228" y="506016"/>
            <a:ext cx="6590348" cy="532924"/>
          </a:xfrm>
          <a:prstGeom prst="rect">
            <a:avLst/>
          </a:prstGeom>
          <a:noFill/>
          <a:ln/>
        </p:spPr>
        <p:txBody>
          <a:bodyPr wrap="none" lIns="0" tIns="0" rIns="0" bIns="0" rtlCol="0" anchor="t"/>
          <a:lstStyle/>
          <a:p>
            <a:pPr marL="0" indent="0" algn="l">
              <a:lnSpc>
                <a:spcPts val="4150"/>
              </a:lnSpc>
              <a:buNone/>
            </a:pPr>
            <a:r>
              <a:rPr lang="en-US" sz="3350" b="1" dirty="0">
                <a:solidFill>
                  <a:srgbClr val="3B4540"/>
                </a:solidFill>
                <a:latin typeface="Fraunces Extra Bold" pitchFamily="34" charset="0"/>
                <a:ea typeface="Fraunces Extra Bold" pitchFamily="34" charset="-122"/>
                <a:cs typeface="Fraunces Extra Bold" pitchFamily="34" charset="-120"/>
              </a:rPr>
              <a:t>System Architecture Overview</a:t>
            </a:r>
            <a:endParaRPr lang="en-US" sz="3350" dirty="0"/>
          </a:p>
        </p:txBody>
      </p:sp>
      <p:sp>
        <p:nvSpPr>
          <p:cNvPr id="3" name="Text 1"/>
          <p:cNvSpPr/>
          <p:nvPr/>
        </p:nvSpPr>
        <p:spPr>
          <a:xfrm>
            <a:off x="682228" y="1332071"/>
            <a:ext cx="13265944" cy="761167"/>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Our insurance platform integrates multiple AI services, cloud databases, and communication channels into a cohesive architecture. The following diagram illustrates the core components and their interactions, showing data flow patterns and system dependencies that enable real-time processing and intelligent automation.</a:t>
            </a:r>
            <a:endParaRPr lang="en-US" sz="1300" dirty="0"/>
          </a:p>
        </p:txBody>
      </p:sp>
      <p:sp>
        <p:nvSpPr>
          <p:cNvPr id="4" name="Shape 2"/>
          <p:cNvSpPr/>
          <p:nvPr/>
        </p:nvSpPr>
        <p:spPr>
          <a:xfrm>
            <a:off x="682228" y="2258020"/>
            <a:ext cx="383738" cy="383738"/>
          </a:xfrm>
          <a:prstGeom prst="roundRect">
            <a:avLst>
              <a:gd name="adj" fmla="val 40003"/>
            </a:avLst>
          </a:prstGeom>
          <a:solidFill>
            <a:srgbClr val="E8F3E8"/>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165" y="2321957"/>
            <a:ext cx="255746" cy="255746"/>
          </a:xfrm>
          <a:prstGeom prst="rect">
            <a:avLst/>
          </a:prstGeom>
        </p:spPr>
      </p:pic>
      <p:sp>
        <p:nvSpPr>
          <p:cNvPr id="6" name="Text 3"/>
          <p:cNvSpPr/>
          <p:nvPr/>
        </p:nvSpPr>
        <p:spPr>
          <a:xfrm>
            <a:off x="1212533" y="2316599"/>
            <a:ext cx="2187178" cy="266462"/>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Azure SQL Database</a:t>
            </a:r>
            <a:endParaRPr lang="en-US" sz="1650" dirty="0"/>
          </a:p>
        </p:txBody>
      </p:sp>
      <p:sp>
        <p:nvSpPr>
          <p:cNvPr id="7" name="Text 4"/>
          <p:cNvSpPr/>
          <p:nvPr/>
        </p:nvSpPr>
        <p:spPr>
          <a:xfrm>
            <a:off x="1212533" y="2670929"/>
            <a:ext cx="12735639" cy="253722"/>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Central data repository storing customer profiles, policy details, claim histories, verification results, and audit logs.</a:t>
            </a:r>
            <a:endParaRPr lang="en-US" sz="1300" dirty="0"/>
          </a:p>
        </p:txBody>
      </p:sp>
      <p:sp>
        <p:nvSpPr>
          <p:cNvPr id="8" name="Shape 5"/>
          <p:cNvSpPr/>
          <p:nvPr/>
        </p:nvSpPr>
        <p:spPr>
          <a:xfrm>
            <a:off x="682228" y="3217783"/>
            <a:ext cx="383738" cy="383738"/>
          </a:xfrm>
          <a:prstGeom prst="roundRect">
            <a:avLst>
              <a:gd name="adj" fmla="val 40003"/>
            </a:avLst>
          </a:prstGeom>
          <a:solidFill>
            <a:srgbClr val="E8F3E8"/>
          </a:solidFill>
          <a:ln/>
        </p:spPr>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165" y="3281720"/>
            <a:ext cx="255746" cy="255746"/>
          </a:xfrm>
          <a:prstGeom prst="rect">
            <a:avLst/>
          </a:prstGeom>
        </p:spPr>
      </p:pic>
      <p:sp>
        <p:nvSpPr>
          <p:cNvPr id="10" name="Text 6"/>
          <p:cNvSpPr/>
          <p:nvPr/>
        </p:nvSpPr>
        <p:spPr>
          <a:xfrm>
            <a:off x="1212533" y="3276362"/>
            <a:ext cx="2131933" cy="266462"/>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Voice AI Layer</a:t>
            </a:r>
            <a:endParaRPr lang="en-US" sz="1650" dirty="0"/>
          </a:p>
        </p:txBody>
      </p:sp>
      <p:sp>
        <p:nvSpPr>
          <p:cNvPr id="11" name="Text 7"/>
          <p:cNvSpPr/>
          <p:nvPr/>
        </p:nvSpPr>
        <p:spPr>
          <a:xfrm>
            <a:off x="1212533" y="3630692"/>
            <a:ext cx="12735639" cy="253722"/>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Vapi AI and Twilio handle telephony infrastructure, audio streaming, and real-time voice conversion for customer interactions.</a:t>
            </a:r>
            <a:endParaRPr lang="en-US" sz="1300" dirty="0"/>
          </a:p>
        </p:txBody>
      </p:sp>
      <p:sp>
        <p:nvSpPr>
          <p:cNvPr id="12" name="Shape 8"/>
          <p:cNvSpPr/>
          <p:nvPr/>
        </p:nvSpPr>
        <p:spPr>
          <a:xfrm>
            <a:off x="682228" y="4177546"/>
            <a:ext cx="383738" cy="383738"/>
          </a:xfrm>
          <a:prstGeom prst="roundRect">
            <a:avLst>
              <a:gd name="adj" fmla="val 40003"/>
            </a:avLst>
          </a:prstGeom>
          <a:solidFill>
            <a:srgbClr val="E8F3E8"/>
          </a:solidFill>
          <a:ln/>
        </p:spPr>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165" y="4241483"/>
            <a:ext cx="255746" cy="255746"/>
          </a:xfrm>
          <a:prstGeom prst="rect">
            <a:avLst/>
          </a:prstGeom>
        </p:spPr>
      </p:pic>
      <p:sp>
        <p:nvSpPr>
          <p:cNvPr id="14" name="Text 9"/>
          <p:cNvSpPr/>
          <p:nvPr/>
        </p:nvSpPr>
        <p:spPr>
          <a:xfrm>
            <a:off x="1212533" y="4236125"/>
            <a:ext cx="2131933" cy="266462"/>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LLM Processing</a:t>
            </a:r>
            <a:endParaRPr lang="en-US" sz="1650" dirty="0"/>
          </a:p>
        </p:txBody>
      </p:sp>
      <p:sp>
        <p:nvSpPr>
          <p:cNvPr id="15" name="Text 10"/>
          <p:cNvSpPr/>
          <p:nvPr/>
        </p:nvSpPr>
        <p:spPr>
          <a:xfrm>
            <a:off x="1212533" y="4590455"/>
            <a:ext cx="12735639" cy="253722"/>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Groq, Mistral, and Vertex AI models provide intent recognition, data analysis, fraud detection, and conversational intelligence.</a:t>
            </a:r>
            <a:endParaRPr lang="en-US" sz="1300" dirty="0"/>
          </a:p>
        </p:txBody>
      </p:sp>
      <p:sp>
        <p:nvSpPr>
          <p:cNvPr id="16" name="Shape 11"/>
          <p:cNvSpPr/>
          <p:nvPr/>
        </p:nvSpPr>
        <p:spPr>
          <a:xfrm>
            <a:off x="682228" y="5137309"/>
            <a:ext cx="383738" cy="383738"/>
          </a:xfrm>
          <a:prstGeom prst="roundRect">
            <a:avLst>
              <a:gd name="adj" fmla="val 40003"/>
            </a:avLst>
          </a:prstGeom>
          <a:solidFill>
            <a:srgbClr val="E8F3E8"/>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6165" y="5201245"/>
            <a:ext cx="255746" cy="255746"/>
          </a:xfrm>
          <a:prstGeom prst="rect">
            <a:avLst/>
          </a:prstGeom>
        </p:spPr>
      </p:pic>
      <p:sp>
        <p:nvSpPr>
          <p:cNvPr id="18" name="Text 12"/>
          <p:cNvSpPr/>
          <p:nvPr/>
        </p:nvSpPr>
        <p:spPr>
          <a:xfrm>
            <a:off x="1212533" y="5195888"/>
            <a:ext cx="2354699" cy="266462"/>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n8n Workflow Engine</a:t>
            </a:r>
            <a:endParaRPr lang="en-US" sz="1650" dirty="0"/>
          </a:p>
        </p:txBody>
      </p:sp>
      <p:sp>
        <p:nvSpPr>
          <p:cNvPr id="19" name="Text 13"/>
          <p:cNvSpPr/>
          <p:nvPr/>
        </p:nvSpPr>
        <p:spPr>
          <a:xfrm>
            <a:off x="1212533" y="5550218"/>
            <a:ext cx="12735639" cy="253722"/>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Orchestrates multi-step processes including OTP delivery, onboarding flows, and system integrations through visual automation.</a:t>
            </a:r>
            <a:endParaRPr lang="en-US" sz="1300" dirty="0"/>
          </a:p>
        </p:txBody>
      </p:sp>
      <p:sp>
        <p:nvSpPr>
          <p:cNvPr id="20" name="Shape 14"/>
          <p:cNvSpPr/>
          <p:nvPr/>
        </p:nvSpPr>
        <p:spPr>
          <a:xfrm>
            <a:off x="682228" y="6097072"/>
            <a:ext cx="383738" cy="383738"/>
          </a:xfrm>
          <a:prstGeom prst="roundRect">
            <a:avLst>
              <a:gd name="adj" fmla="val 40003"/>
            </a:avLst>
          </a:prstGeom>
          <a:solidFill>
            <a:srgbClr val="E8F3E8"/>
          </a:solidFill>
          <a:ln/>
        </p:spPr>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6165" y="6161008"/>
            <a:ext cx="255746" cy="255746"/>
          </a:xfrm>
          <a:prstGeom prst="rect">
            <a:avLst/>
          </a:prstGeom>
        </p:spPr>
      </p:pic>
      <p:sp>
        <p:nvSpPr>
          <p:cNvPr id="22" name="Text 15"/>
          <p:cNvSpPr/>
          <p:nvPr/>
        </p:nvSpPr>
        <p:spPr>
          <a:xfrm>
            <a:off x="1212533" y="6155650"/>
            <a:ext cx="2201466" cy="266462"/>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FaceNet Verification</a:t>
            </a:r>
            <a:endParaRPr lang="en-US" sz="1650" dirty="0"/>
          </a:p>
        </p:txBody>
      </p:sp>
      <p:sp>
        <p:nvSpPr>
          <p:cNvPr id="23" name="Text 16"/>
          <p:cNvSpPr/>
          <p:nvPr/>
        </p:nvSpPr>
        <p:spPr>
          <a:xfrm>
            <a:off x="1212533" y="6509980"/>
            <a:ext cx="12735639" cy="253722"/>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Python-based facial recognition system generating embeddings and performing biometric matching for KYC compliance.</a:t>
            </a:r>
            <a:endParaRPr lang="en-US" sz="1300" dirty="0"/>
          </a:p>
        </p:txBody>
      </p:sp>
      <p:sp>
        <p:nvSpPr>
          <p:cNvPr id="24" name="Shape 17"/>
          <p:cNvSpPr/>
          <p:nvPr/>
        </p:nvSpPr>
        <p:spPr>
          <a:xfrm>
            <a:off x="682228" y="7056834"/>
            <a:ext cx="383738" cy="383738"/>
          </a:xfrm>
          <a:prstGeom prst="roundRect">
            <a:avLst>
              <a:gd name="adj" fmla="val 40003"/>
            </a:avLst>
          </a:prstGeom>
          <a:solidFill>
            <a:srgbClr val="E8F3E8"/>
          </a:solidFill>
          <a:ln/>
        </p:spPr>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165" y="7120771"/>
            <a:ext cx="255746" cy="255746"/>
          </a:xfrm>
          <a:prstGeom prst="rect">
            <a:avLst/>
          </a:prstGeom>
        </p:spPr>
      </p:pic>
      <p:sp>
        <p:nvSpPr>
          <p:cNvPr id="26" name="Text 18"/>
          <p:cNvSpPr/>
          <p:nvPr/>
        </p:nvSpPr>
        <p:spPr>
          <a:xfrm>
            <a:off x="1212533" y="7115413"/>
            <a:ext cx="2131933" cy="266462"/>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Twilio APIs</a:t>
            </a:r>
            <a:endParaRPr lang="en-US" sz="1650" dirty="0"/>
          </a:p>
        </p:txBody>
      </p:sp>
      <p:sp>
        <p:nvSpPr>
          <p:cNvPr id="27" name="Text 19"/>
          <p:cNvSpPr/>
          <p:nvPr/>
        </p:nvSpPr>
        <p:spPr>
          <a:xfrm>
            <a:off x="1212533" y="7469743"/>
            <a:ext cx="12735639" cy="253722"/>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Handles SMS, WhatsApp, and voice communications for OTP delivery, notifications, and telephony integration.</a:t>
            </a:r>
            <a:endParaRPr lang="en-US" sz="1300" dirty="0"/>
          </a:p>
        </p:txBody>
      </p:sp>
      <p:pic>
        <p:nvPicPr>
          <p:cNvPr id="28" name="Picture 27">
            <a:extLst>
              <a:ext uri="{FF2B5EF4-FFF2-40B4-BE49-F238E27FC236}">
                <a16:creationId xmlns:a16="http://schemas.microsoft.com/office/drawing/2014/main" id="{D7756D7E-B5D4-70AF-8F9B-8DB2277A8F21}"/>
              </a:ext>
            </a:extLst>
          </p:cNvPr>
          <p:cNvPicPr>
            <a:picLocks noChangeAspect="1"/>
          </p:cNvPicPr>
          <p:nvPr/>
        </p:nvPicPr>
        <p:blipFill>
          <a:blip r:embed="rId9"/>
          <a:stretch>
            <a:fillRect/>
          </a:stretch>
        </p:blipFill>
        <p:spPr>
          <a:xfrm>
            <a:off x="12810871" y="7699689"/>
            <a:ext cx="1819529" cy="5135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79183" y="438031"/>
            <a:ext cx="5288875" cy="494228"/>
          </a:xfrm>
          <a:prstGeom prst="rect">
            <a:avLst/>
          </a:prstGeom>
          <a:noFill/>
          <a:ln/>
        </p:spPr>
        <p:txBody>
          <a:bodyPr wrap="none" lIns="0" tIns="0" rIns="0" bIns="0" rtlCol="0" anchor="t"/>
          <a:lstStyle/>
          <a:p>
            <a:pPr marL="0" indent="0" algn="l">
              <a:lnSpc>
                <a:spcPts val="3850"/>
              </a:lnSpc>
              <a:buNone/>
            </a:pPr>
            <a:r>
              <a:rPr lang="en-US" sz="3100" b="1" dirty="0">
                <a:solidFill>
                  <a:srgbClr val="3B4540"/>
                </a:solidFill>
                <a:latin typeface="Fraunces Extra Bold" pitchFamily="34" charset="0"/>
                <a:ea typeface="Fraunces Extra Bold" pitchFamily="34" charset="-122"/>
                <a:cs typeface="Fraunces Extra Bold" pitchFamily="34" charset="-120"/>
              </a:rPr>
              <a:t>Implementation Roadmap</a:t>
            </a:r>
            <a:endParaRPr lang="en-US" sz="3100" dirty="0"/>
          </a:p>
        </p:txBody>
      </p:sp>
      <p:sp>
        <p:nvSpPr>
          <p:cNvPr id="3" name="Text 1"/>
          <p:cNvSpPr/>
          <p:nvPr/>
        </p:nvSpPr>
        <p:spPr>
          <a:xfrm>
            <a:off x="1079183" y="1184315"/>
            <a:ext cx="12471916" cy="454581"/>
          </a:xfrm>
          <a:prstGeom prst="rect">
            <a:avLst/>
          </a:prstGeom>
          <a:noFill/>
          <a:ln/>
        </p:spPr>
        <p:txBody>
          <a:bodyPr wrap="square" lIns="0" tIns="0" rIns="0" bIns="0" rtlCol="0" anchor="t"/>
          <a:lstStyle/>
          <a:p>
            <a:pPr marL="0" indent="0" algn="l">
              <a:lnSpc>
                <a:spcPts val="1750"/>
              </a:lnSpc>
              <a:buNone/>
            </a:pPr>
            <a:r>
              <a:rPr lang="en-US" sz="1200" dirty="0">
                <a:solidFill>
                  <a:srgbClr val="405449"/>
                </a:solidFill>
                <a:latin typeface="Nobile" pitchFamily="34" charset="0"/>
                <a:ea typeface="Nobile" pitchFamily="34" charset="-122"/>
                <a:cs typeface="Nobile" pitchFamily="34" charset="-120"/>
              </a:rPr>
              <a:t>Deploying an AI-powered insurance platform requires phased approach balancing feature delivery with technical stability. The following roadmap sequences implementation to maximize business value while minimizing technical debt and operational risk.</a:t>
            </a:r>
            <a:endParaRPr lang="en-US" sz="1200" dirty="0"/>
          </a:p>
        </p:txBody>
      </p:sp>
      <p:sp>
        <p:nvSpPr>
          <p:cNvPr id="4" name="Shape 2"/>
          <p:cNvSpPr/>
          <p:nvPr/>
        </p:nvSpPr>
        <p:spPr>
          <a:xfrm>
            <a:off x="1079183" y="1780580"/>
            <a:ext cx="1247180" cy="1093470"/>
          </a:xfrm>
          <a:prstGeom prst="roundRect">
            <a:avLst>
              <a:gd name="adj" fmla="val 13018"/>
            </a:avLst>
          </a:prstGeom>
          <a:solidFill>
            <a:srgbClr val="E8F3E8"/>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1508" y="2215991"/>
            <a:ext cx="222409" cy="222409"/>
          </a:xfrm>
          <a:prstGeom prst="rect">
            <a:avLst/>
          </a:prstGeom>
        </p:spPr>
      </p:pic>
      <p:sp>
        <p:nvSpPr>
          <p:cNvPr id="6" name="Text 3"/>
          <p:cNvSpPr/>
          <p:nvPr/>
        </p:nvSpPr>
        <p:spPr>
          <a:xfrm>
            <a:off x="2484477" y="1938695"/>
            <a:ext cx="2848689" cy="247055"/>
          </a:xfrm>
          <a:prstGeom prst="rect">
            <a:avLst/>
          </a:prstGeom>
          <a:noFill/>
          <a:ln/>
        </p:spPr>
        <p:txBody>
          <a:bodyPr wrap="none" lIns="0" tIns="0" rIns="0" bIns="0" rtlCol="0" anchor="t"/>
          <a:lstStyle/>
          <a:p>
            <a:pPr marL="0" indent="0" algn="l">
              <a:lnSpc>
                <a:spcPts val="1900"/>
              </a:lnSpc>
              <a:buNone/>
            </a:pPr>
            <a:r>
              <a:rPr lang="en-US" sz="1550" b="1" dirty="0">
                <a:solidFill>
                  <a:srgbClr val="405449"/>
                </a:solidFill>
                <a:latin typeface="Fraunces Extra Bold" pitchFamily="34" charset="0"/>
                <a:ea typeface="Fraunces Extra Bold" pitchFamily="34" charset="-122"/>
                <a:cs typeface="Fraunces Extra Bold" pitchFamily="34" charset="-120"/>
              </a:rPr>
              <a:t>Phase 1: Core Infrastructure</a:t>
            </a:r>
            <a:endParaRPr lang="en-US" sz="1550" dirty="0"/>
          </a:p>
        </p:txBody>
      </p:sp>
      <p:sp>
        <p:nvSpPr>
          <p:cNvPr id="7" name="Text 4"/>
          <p:cNvSpPr/>
          <p:nvPr/>
        </p:nvSpPr>
        <p:spPr>
          <a:xfrm>
            <a:off x="2484477" y="2261354"/>
            <a:ext cx="10908506" cy="454581"/>
          </a:xfrm>
          <a:prstGeom prst="rect">
            <a:avLst/>
          </a:prstGeom>
          <a:noFill/>
          <a:ln/>
        </p:spPr>
        <p:txBody>
          <a:bodyPr wrap="square" lIns="0" tIns="0" rIns="0" bIns="0" rtlCol="0" anchor="t"/>
          <a:lstStyle/>
          <a:p>
            <a:pPr marL="0" indent="0" algn="l">
              <a:lnSpc>
                <a:spcPts val="1750"/>
              </a:lnSpc>
              <a:buNone/>
            </a:pPr>
            <a:r>
              <a:rPr lang="en-US" sz="1200" dirty="0">
                <a:solidFill>
                  <a:srgbClr val="405449"/>
                </a:solidFill>
                <a:latin typeface="Nobile" pitchFamily="34" charset="0"/>
                <a:ea typeface="Nobile" pitchFamily="34" charset="-122"/>
                <a:cs typeface="Nobile" pitchFamily="34" charset="-120"/>
              </a:rPr>
              <a:t>Establish Azure SQL database schema, implement authentication flows with n8n, configure basic OTP delivery through both SMTP and Twilio channels.</a:t>
            </a:r>
            <a:endParaRPr lang="en-US" sz="1200" dirty="0"/>
          </a:p>
        </p:txBody>
      </p:sp>
      <p:sp>
        <p:nvSpPr>
          <p:cNvPr id="8" name="Shape 5"/>
          <p:cNvSpPr/>
          <p:nvPr/>
        </p:nvSpPr>
        <p:spPr>
          <a:xfrm>
            <a:off x="2405420" y="2864525"/>
            <a:ext cx="11066621" cy="11430"/>
          </a:xfrm>
          <a:prstGeom prst="roundRect">
            <a:avLst>
              <a:gd name="adj" fmla="val 1245352"/>
            </a:avLst>
          </a:prstGeom>
          <a:solidFill>
            <a:srgbClr val="CED9CE"/>
          </a:solidFill>
          <a:ln/>
        </p:spPr>
      </p:sp>
      <p:sp>
        <p:nvSpPr>
          <p:cNvPr id="9" name="Shape 6"/>
          <p:cNvSpPr/>
          <p:nvPr/>
        </p:nvSpPr>
        <p:spPr>
          <a:xfrm>
            <a:off x="1079183" y="2953107"/>
            <a:ext cx="2494359" cy="1093470"/>
          </a:xfrm>
          <a:prstGeom prst="roundRect">
            <a:avLst>
              <a:gd name="adj" fmla="val 13018"/>
            </a:avLst>
          </a:prstGeom>
          <a:solidFill>
            <a:srgbClr val="E8F3E8"/>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5158" y="3388519"/>
            <a:ext cx="222409" cy="222409"/>
          </a:xfrm>
          <a:prstGeom prst="rect">
            <a:avLst/>
          </a:prstGeom>
        </p:spPr>
      </p:pic>
      <p:sp>
        <p:nvSpPr>
          <p:cNvPr id="11" name="Text 7"/>
          <p:cNvSpPr/>
          <p:nvPr/>
        </p:nvSpPr>
        <p:spPr>
          <a:xfrm>
            <a:off x="3731657" y="3111222"/>
            <a:ext cx="2906078" cy="247055"/>
          </a:xfrm>
          <a:prstGeom prst="rect">
            <a:avLst/>
          </a:prstGeom>
          <a:noFill/>
          <a:ln/>
        </p:spPr>
        <p:txBody>
          <a:bodyPr wrap="none" lIns="0" tIns="0" rIns="0" bIns="0" rtlCol="0" anchor="t"/>
          <a:lstStyle/>
          <a:p>
            <a:pPr marL="0" indent="0" algn="l">
              <a:lnSpc>
                <a:spcPts val="1900"/>
              </a:lnSpc>
              <a:buNone/>
            </a:pPr>
            <a:r>
              <a:rPr lang="en-US" sz="1550" b="1" dirty="0">
                <a:solidFill>
                  <a:srgbClr val="405449"/>
                </a:solidFill>
                <a:latin typeface="Fraunces Extra Bold" pitchFamily="34" charset="0"/>
                <a:ea typeface="Fraunces Extra Bold" pitchFamily="34" charset="-122"/>
                <a:cs typeface="Fraunces Extra Bold" pitchFamily="34" charset="-120"/>
              </a:rPr>
              <a:t>Phase 2: Voice AI Integration</a:t>
            </a:r>
            <a:endParaRPr lang="en-US" sz="1550" dirty="0"/>
          </a:p>
        </p:txBody>
      </p:sp>
      <p:sp>
        <p:nvSpPr>
          <p:cNvPr id="12" name="Text 8"/>
          <p:cNvSpPr/>
          <p:nvPr/>
        </p:nvSpPr>
        <p:spPr>
          <a:xfrm>
            <a:off x="3731657" y="3433882"/>
            <a:ext cx="9661327" cy="454581"/>
          </a:xfrm>
          <a:prstGeom prst="rect">
            <a:avLst/>
          </a:prstGeom>
          <a:noFill/>
          <a:ln/>
        </p:spPr>
        <p:txBody>
          <a:bodyPr wrap="square" lIns="0" tIns="0" rIns="0" bIns="0" rtlCol="0" anchor="t"/>
          <a:lstStyle/>
          <a:p>
            <a:pPr marL="0" indent="0" algn="l">
              <a:lnSpc>
                <a:spcPts val="1750"/>
              </a:lnSpc>
              <a:buNone/>
            </a:pPr>
            <a:r>
              <a:rPr lang="en-US" sz="1200" dirty="0">
                <a:solidFill>
                  <a:srgbClr val="405449"/>
                </a:solidFill>
                <a:latin typeface="Nobile" pitchFamily="34" charset="0"/>
                <a:ea typeface="Nobile" pitchFamily="34" charset="-122"/>
                <a:cs typeface="Nobile" pitchFamily="34" charset="-120"/>
              </a:rPr>
              <a:t>Integrate Vapi AI for telephony, implement Groq Whisper for speech-to-text, connect to backend data systems for policy and claim information retrieval.</a:t>
            </a:r>
            <a:endParaRPr lang="en-US" sz="1200" dirty="0"/>
          </a:p>
        </p:txBody>
      </p:sp>
      <p:sp>
        <p:nvSpPr>
          <p:cNvPr id="13" name="Shape 9"/>
          <p:cNvSpPr/>
          <p:nvPr/>
        </p:nvSpPr>
        <p:spPr>
          <a:xfrm>
            <a:off x="3652599" y="4037052"/>
            <a:ext cx="9819442" cy="11430"/>
          </a:xfrm>
          <a:prstGeom prst="roundRect">
            <a:avLst>
              <a:gd name="adj" fmla="val 1245352"/>
            </a:avLst>
          </a:prstGeom>
          <a:solidFill>
            <a:srgbClr val="CED9CE"/>
          </a:solidFill>
          <a:ln/>
        </p:spPr>
      </p:sp>
      <p:sp>
        <p:nvSpPr>
          <p:cNvPr id="14" name="Shape 10"/>
          <p:cNvSpPr/>
          <p:nvPr/>
        </p:nvSpPr>
        <p:spPr>
          <a:xfrm>
            <a:off x="1079183" y="4125635"/>
            <a:ext cx="3741539" cy="1093470"/>
          </a:xfrm>
          <a:prstGeom prst="roundRect">
            <a:avLst>
              <a:gd name="adj" fmla="val 13018"/>
            </a:avLst>
          </a:prstGeom>
          <a:solidFill>
            <a:srgbClr val="E8F3E8"/>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38688" y="4561046"/>
            <a:ext cx="222409" cy="222409"/>
          </a:xfrm>
          <a:prstGeom prst="rect">
            <a:avLst/>
          </a:prstGeom>
        </p:spPr>
      </p:pic>
      <p:sp>
        <p:nvSpPr>
          <p:cNvPr id="16" name="Text 11"/>
          <p:cNvSpPr/>
          <p:nvPr/>
        </p:nvSpPr>
        <p:spPr>
          <a:xfrm>
            <a:off x="4978837" y="4283750"/>
            <a:ext cx="2972872" cy="247055"/>
          </a:xfrm>
          <a:prstGeom prst="rect">
            <a:avLst/>
          </a:prstGeom>
          <a:noFill/>
          <a:ln/>
        </p:spPr>
        <p:txBody>
          <a:bodyPr wrap="none" lIns="0" tIns="0" rIns="0" bIns="0" rtlCol="0" anchor="t"/>
          <a:lstStyle/>
          <a:p>
            <a:pPr marL="0" indent="0" algn="l">
              <a:lnSpc>
                <a:spcPts val="1900"/>
              </a:lnSpc>
              <a:buNone/>
            </a:pPr>
            <a:r>
              <a:rPr lang="en-US" sz="1550" b="1" dirty="0">
                <a:solidFill>
                  <a:srgbClr val="405449"/>
                </a:solidFill>
                <a:latin typeface="Fraunces Extra Bold" pitchFamily="34" charset="0"/>
                <a:ea typeface="Fraunces Extra Bold" pitchFamily="34" charset="-122"/>
                <a:cs typeface="Fraunces Extra Bold" pitchFamily="34" charset="-120"/>
              </a:rPr>
              <a:t>Phase 3: Analytics Dashboard</a:t>
            </a:r>
            <a:endParaRPr lang="en-US" sz="1550" dirty="0"/>
          </a:p>
        </p:txBody>
      </p:sp>
      <p:sp>
        <p:nvSpPr>
          <p:cNvPr id="17" name="Text 12"/>
          <p:cNvSpPr/>
          <p:nvPr/>
        </p:nvSpPr>
        <p:spPr>
          <a:xfrm>
            <a:off x="4978837" y="4606409"/>
            <a:ext cx="8414147" cy="454581"/>
          </a:xfrm>
          <a:prstGeom prst="rect">
            <a:avLst/>
          </a:prstGeom>
          <a:noFill/>
          <a:ln/>
        </p:spPr>
        <p:txBody>
          <a:bodyPr wrap="square" lIns="0" tIns="0" rIns="0" bIns="0" rtlCol="0" anchor="t"/>
          <a:lstStyle/>
          <a:p>
            <a:pPr marL="0" indent="0" algn="l">
              <a:lnSpc>
                <a:spcPts val="1750"/>
              </a:lnSpc>
              <a:buNone/>
            </a:pPr>
            <a:r>
              <a:rPr lang="en-US" sz="1200" dirty="0">
                <a:solidFill>
                  <a:srgbClr val="405449"/>
                </a:solidFill>
                <a:latin typeface="Nobile" pitchFamily="34" charset="0"/>
                <a:ea typeface="Nobile" pitchFamily="34" charset="-122"/>
                <a:cs typeface="Nobile" pitchFamily="34" charset="-120"/>
              </a:rPr>
              <a:t>Build backend LLM analyzer using Vertex AI/Groq, develop fraud detection algorithms, create interactive dashboards for claims officers and agents.</a:t>
            </a:r>
            <a:endParaRPr lang="en-US" sz="1200" dirty="0"/>
          </a:p>
        </p:txBody>
      </p:sp>
      <p:sp>
        <p:nvSpPr>
          <p:cNvPr id="18" name="Shape 13"/>
          <p:cNvSpPr/>
          <p:nvPr/>
        </p:nvSpPr>
        <p:spPr>
          <a:xfrm>
            <a:off x="4899779" y="5209580"/>
            <a:ext cx="8572262" cy="11430"/>
          </a:xfrm>
          <a:prstGeom prst="roundRect">
            <a:avLst>
              <a:gd name="adj" fmla="val 1245352"/>
            </a:avLst>
          </a:prstGeom>
          <a:solidFill>
            <a:srgbClr val="CED9CE"/>
          </a:solidFill>
          <a:ln/>
        </p:spPr>
      </p:sp>
      <p:sp>
        <p:nvSpPr>
          <p:cNvPr id="19" name="Shape 14"/>
          <p:cNvSpPr/>
          <p:nvPr/>
        </p:nvSpPr>
        <p:spPr>
          <a:xfrm>
            <a:off x="1079183" y="5298162"/>
            <a:ext cx="4988719" cy="1093470"/>
          </a:xfrm>
          <a:prstGeom prst="roundRect">
            <a:avLst>
              <a:gd name="adj" fmla="val 13018"/>
            </a:avLst>
          </a:prstGeom>
          <a:solidFill>
            <a:srgbClr val="E8F3E8"/>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62337" y="5733574"/>
            <a:ext cx="222409" cy="222409"/>
          </a:xfrm>
          <a:prstGeom prst="rect">
            <a:avLst/>
          </a:prstGeom>
        </p:spPr>
      </p:pic>
      <p:sp>
        <p:nvSpPr>
          <p:cNvPr id="21" name="Text 15"/>
          <p:cNvSpPr/>
          <p:nvPr/>
        </p:nvSpPr>
        <p:spPr>
          <a:xfrm>
            <a:off x="6226016" y="5456277"/>
            <a:ext cx="2574727" cy="247055"/>
          </a:xfrm>
          <a:prstGeom prst="rect">
            <a:avLst/>
          </a:prstGeom>
          <a:noFill/>
          <a:ln/>
        </p:spPr>
        <p:txBody>
          <a:bodyPr wrap="none" lIns="0" tIns="0" rIns="0" bIns="0" rtlCol="0" anchor="t"/>
          <a:lstStyle/>
          <a:p>
            <a:pPr marL="0" indent="0" algn="l">
              <a:lnSpc>
                <a:spcPts val="1900"/>
              </a:lnSpc>
              <a:buNone/>
            </a:pPr>
            <a:r>
              <a:rPr lang="en-US" sz="1550" b="1" dirty="0">
                <a:solidFill>
                  <a:srgbClr val="405449"/>
                </a:solidFill>
                <a:latin typeface="Fraunces Extra Bold" pitchFamily="34" charset="0"/>
                <a:ea typeface="Fraunces Extra Bold" pitchFamily="34" charset="-122"/>
                <a:cs typeface="Fraunces Extra Bold" pitchFamily="34" charset="-120"/>
              </a:rPr>
              <a:t>Phase 4: KYC Verification</a:t>
            </a:r>
            <a:endParaRPr lang="en-US" sz="1550" dirty="0"/>
          </a:p>
        </p:txBody>
      </p:sp>
      <p:sp>
        <p:nvSpPr>
          <p:cNvPr id="22" name="Text 16"/>
          <p:cNvSpPr/>
          <p:nvPr/>
        </p:nvSpPr>
        <p:spPr>
          <a:xfrm>
            <a:off x="6226016" y="5778937"/>
            <a:ext cx="7166967" cy="454581"/>
          </a:xfrm>
          <a:prstGeom prst="rect">
            <a:avLst/>
          </a:prstGeom>
          <a:noFill/>
          <a:ln/>
        </p:spPr>
        <p:txBody>
          <a:bodyPr wrap="square" lIns="0" tIns="0" rIns="0" bIns="0" rtlCol="0" anchor="t"/>
          <a:lstStyle/>
          <a:p>
            <a:pPr marL="0" indent="0" algn="l">
              <a:lnSpc>
                <a:spcPts val="1750"/>
              </a:lnSpc>
              <a:buNone/>
            </a:pPr>
            <a:r>
              <a:rPr lang="en-US" sz="1200" dirty="0">
                <a:solidFill>
                  <a:srgbClr val="405449"/>
                </a:solidFill>
                <a:latin typeface="Nobile" pitchFamily="34" charset="0"/>
                <a:ea typeface="Nobile" pitchFamily="34" charset="-122"/>
                <a:cs typeface="Nobile" pitchFamily="34" charset="-120"/>
              </a:rPr>
              <a:t>Implement FaceNet integration for facial recognition, develop embedding storage and comparison in Azure SQL, add LLM-enhanced anomaly detection.</a:t>
            </a:r>
            <a:endParaRPr lang="en-US" sz="1200" dirty="0"/>
          </a:p>
        </p:txBody>
      </p:sp>
      <p:sp>
        <p:nvSpPr>
          <p:cNvPr id="23" name="Shape 17"/>
          <p:cNvSpPr/>
          <p:nvPr/>
        </p:nvSpPr>
        <p:spPr>
          <a:xfrm>
            <a:off x="6146959" y="6382107"/>
            <a:ext cx="7325082" cy="11430"/>
          </a:xfrm>
          <a:prstGeom prst="roundRect">
            <a:avLst>
              <a:gd name="adj" fmla="val 1245352"/>
            </a:avLst>
          </a:prstGeom>
          <a:solidFill>
            <a:srgbClr val="CED9CE"/>
          </a:solidFill>
          <a:ln/>
        </p:spPr>
      </p:sp>
      <p:sp>
        <p:nvSpPr>
          <p:cNvPr id="24" name="Shape 18"/>
          <p:cNvSpPr/>
          <p:nvPr/>
        </p:nvSpPr>
        <p:spPr>
          <a:xfrm>
            <a:off x="1079183" y="6470690"/>
            <a:ext cx="6235898" cy="1320760"/>
          </a:xfrm>
          <a:prstGeom prst="roundRect">
            <a:avLst>
              <a:gd name="adj" fmla="val 10777"/>
            </a:avLst>
          </a:prstGeom>
          <a:solidFill>
            <a:srgbClr val="E8F3E8"/>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85868" y="7019806"/>
            <a:ext cx="222409" cy="222409"/>
          </a:xfrm>
          <a:prstGeom prst="rect">
            <a:avLst/>
          </a:prstGeom>
        </p:spPr>
      </p:pic>
      <p:sp>
        <p:nvSpPr>
          <p:cNvPr id="26" name="Text 19"/>
          <p:cNvSpPr/>
          <p:nvPr/>
        </p:nvSpPr>
        <p:spPr>
          <a:xfrm>
            <a:off x="7473196" y="6628805"/>
            <a:ext cx="3066931" cy="247055"/>
          </a:xfrm>
          <a:prstGeom prst="rect">
            <a:avLst/>
          </a:prstGeom>
          <a:noFill/>
          <a:ln/>
        </p:spPr>
        <p:txBody>
          <a:bodyPr wrap="none" lIns="0" tIns="0" rIns="0" bIns="0" rtlCol="0" anchor="t"/>
          <a:lstStyle/>
          <a:p>
            <a:pPr marL="0" indent="0" algn="l">
              <a:lnSpc>
                <a:spcPts val="1900"/>
              </a:lnSpc>
              <a:buNone/>
            </a:pPr>
            <a:r>
              <a:rPr lang="en-US" sz="1550" b="1" dirty="0">
                <a:solidFill>
                  <a:srgbClr val="405449"/>
                </a:solidFill>
                <a:latin typeface="Fraunces Extra Bold" pitchFamily="34" charset="0"/>
                <a:ea typeface="Fraunces Extra Bold" pitchFamily="34" charset="-122"/>
                <a:cs typeface="Fraunces Extra Bold" pitchFamily="34" charset="-120"/>
              </a:rPr>
              <a:t>Phase 5: Onboarding Assistant</a:t>
            </a:r>
            <a:endParaRPr lang="en-US" sz="1550" dirty="0"/>
          </a:p>
        </p:txBody>
      </p:sp>
      <p:sp>
        <p:nvSpPr>
          <p:cNvPr id="27" name="Text 20"/>
          <p:cNvSpPr/>
          <p:nvPr/>
        </p:nvSpPr>
        <p:spPr>
          <a:xfrm>
            <a:off x="7473196" y="6951464"/>
            <a:ext cx="5919788" cy="681871"/>
          </a:xfrm>
          <a:prstGeom prst="rect">
            <a:avLst/>
          </a:prstGeom>
          <a:noFill/>
          <a:ln/>
        </p:spPr>
        <p:txBody>
          <a:bodyPr wrap="square" lIns="0" tIns="0" rIns="0" bIns="0" rtlCol="0" anchor="t"/>
          <a:lstStyle/>
          <a:p>
            <a:pPr marL="0" indent="0" algn="l">
              <a:lnSpc>
                <a:spcPts val="1750"/>
              </a:lnSpc>
              <a:buNone/>
            </a:pPr>
            <a:r>
              <a:rPr lang="en-US" sz="1200" dirty="0">
                <a:solidFill>
                  <a:srgbClr val="405449"/>
                </a:solidFill>
                <a:latin typeface="Nobile" pitchFamily="34" charset="0"/>
                <a:ea typeface="Nobile" pitchFamily="34" charset="-122"/>
                <a:cs typeface="Nobile" pitchFamily="34" charset="-120"/>
              </a:rPr>
              <a:t>Launch AI-powered onboarding through voice channels, integrate Deepgram for streaming transcription, implement dynamic conversation flows with Mistral/Groq.</a:t>
            </a:r>
            <a:endParaRPr lang="en-US" sz="1200" dirty="0"/>
          </a:p>
        </p:txBody>
      </p:sp>
      <p:pic>
        <p:nvPicPr>
          <p:cNvPr id="28" name="Picture 27">
            <a:extLst>
              <a:ext uri="{FF2B5EF4-FFF2-40B4-BE49-F238E27FC236}">
                <a16:creationId xmlns:a16="http://schemas.microsoft.com/office/drawing/2014/main" id="{73C99662-CA63-7FA4-2132-FA68BEFAB755}"/>
              </a:ext>
            </a:extLst>
          </p:cNvPr>
          <p:cNvPicPr>
            <a:picLocks noChangeAspect="1"/>
          </p:cNvPicPr>
          <p:nvPr/>
        </p:nvPicPr>
        <p:blipFill>
          <a:blip r:embed="rId8"/>
          <a:stretch>
            <a:fillRect/>
          </a:stretch>
        </p:blipFill>
        <p:spPr>
          <a:xfrm>
            <a:off x="12810871" y="7699689"/>
            <a:ext cx="1819529" cy="5135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2351" y="633293"/>
            <a:ext cx="6744891" cy="523280"/>
          </a:xfrm>
          <a:prstGeom prst="rect">
            <a:avLst/>
          </a:prstGeom>
          <a:noFill/>
          <a:ln/>
        </p:spPr>
        <p:txBody>
          <a:bodyPr wrap="none" lIns="0" tIns="0" rIns="0" bIns="0" rtlCol="0" anchor="t"/>
          <a:lstStyle/>
          <a:p>
            <a:pPr marL="0" indent="0" algn="l">
              <a:lnSpc>
                <a:spcPts val="4100"/>
              </a:lnSpc>
              <a:buNone/>
            </a:pPr>
            <a:r>
              <a:rPr lang="en-US" sz="3250" b="1" dirty="0">
                <a:solidFill>
                  <a:srgbClr val="3B4540"/>
                </a:solidFill>
                <a:latin typeface="Fraunces Extra Bold" pitchFamily="34" charset="0"/>
                <a:ea typeface="Fraunces Extra Bold" pitchFamily="34" charset="-122"/>
                <a:cs typeface="Fraunces Extra Bold" pitchFamily="34" charset="-120"/>
              </a:rPr>
              <a:t>Next Steps &amp; Evaluation Metrics</a:t>
            </a:r>
            <a:endParaRPr lang="en-US" sz="3250" dirty="0"/>
          </a:p>
        </p:txBody>
      </p:sp>
      <p:sp>
        <p:nvSpPr>
          <p:cNvPr id="3" name="Text 1"/>
          <p:cNvSpPr/>
          <p:nvPr/>
        </p:nvSpPr>
        <p:spPr>
          <a:xfrm>
            <a:off x="712351" y="1439108"/>
            <a:ext cx="13205579" cy="494109"/>
          </a:xfrm>
          <a:prstGeom prst="rect">
            <a:avLst/>
          </a:prstGeom>
          <a:noFill/>
          <a:ln/>
        </p:spPr>
        <p:txBody>
          <a:bodyPr wrap="square" lIns="0" tIns="0" rIns="0" bIns="0" rtlCol="0" anchor="t"/>
          <a:lstStyle/>
          <a:p>
            <a:pPr marL="0" indent="0" algn="l">
              <a:lnSpc>
                <a:spcPts val="1900"/>
              </a:lnSpc>
              <a:buNone/>
            </a:pPr>
            <a:r>
              <a:rPr lang="en-US" sz="1300" dirty="0">
                <a:solidFill>
                  <a:srgbClr val="405449"/>
                </a:solidFill>
                <a:latin typeface="Nobile" pitchFamily="34" charset="0"/>
                <a:ea typeface="Nobile" pitchFamily="34" charset="-122"/>
                <a:cs typeface="Nobile" pitchFamily="34" charset="-120"/>
              </a:rPr>
              <a:t>With the technical architecture established, product and engineering stakeholders should evaluate system readiness through defined success metrics. The following criteria provide objective measures for assessing implementation quality and business impact across technical, operational, and customer experience dimensions.</a:t>
            </a:r>
            <a:endParaRPr lang="en-US" sz="1300" dirty="0"/>
          </a:p>
        </p:txBody>
      </p:sp>
      <p:sp>
        <p:nvSpPr>
          <p:cNvPr id="4" name="Text 2"/>
          <p:cNvSpPr/>
          <p:nvPr/>
        </p:nvSpPr>
        <p:spPr>
          <a:xfrm>
            <a:off x="712351" y="2175867"/>
            <a:ext cx="6514505" cy="552569"/>
          </a:xfrm>
          <a:prstGeom prst="rect">
            <a:avLst/>
          </a:prstGeom>
          <a:noFill/>
          <a:ln/>
        </p:spPr>
        <p:txBody>
          <a:bodyPr wrap="none" lIns="0" tIns="0" rIns="0" bIns="0" rtlCol="0" anchor="t"/>
          <a:lstStyle/>
          <a:p>
            <a:pPr marL="0" indent="0" algn="ctr">
              <a:lnSpc>
                <a:spcPts val="4350"/>
              </a:lnSpc>
              <a:buNone/>
            </a:pPr>
            <a:r>
              <a:rPr lang="en-US" sz="4350" b="1" dirty="0">
                <a:solidFill>
                  <a:srgbClr val="405449"/>
                </a:solidFill>
                <a:latin typeface="Fraunces Extra Bold" pitchFamily="34" charset="0"/>
                <a:ea typeface="Fraunces Extra Bold" pitchFamily="34" charset="-122"/>
                <a:cs typeface="Fraunces Extra Bold" pitchFamily="34" charset="-120"/>
              </a:rPr>
              <a:t>2s</a:t>
            </a:r>
            <a:endParaRPr lang="en-US" sz="4350" dirty="0"/>
          </a:p>
        </p:txBody>
      </p:sp>
      <p:sp>
        <p:nvSpPr>
          <p:cNvPr id="5" name="Text 3"/>
          <p:cNvSpPr/>
          <p:nvPr/>
        </p:nvSpPr>
        <p:spPr>
          <a:xfrm>
            <a:off x="2790111" y="2918103"/>
            <a:ext cx="2358866" cy="261580"/>
          </a:xfrm>
          <a:prstGeom prst="rect">
            <a:avLst/>
          </a:prstGeom>
          <a:noFill/>
          <a:ln/>
        </p:spPr>
        <p:txBody>
          <a:bodyPr wrap="none" lIns="0" tIns="0" rIns="0" bIns="0" rtlCol="0" anchor="t"/>
          <a:lstStyle/>
          <a:p>
            <a:pPr marL="0" indent="0" algn="ctr">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Target Response Time</a:t>
            </a:r>
            <a:endParaRPr lang="en-US" sz="1600" dirty="0"/>
          </a:p>
        </p:txBody>
      </p:sp>
      <p:sp>
        <p:nvSpPr>
          <p:cNvPr id="6" name="Text 4"/>
          <p:cNvSpPr/>
          <p:nvPr/>
        </p:nvSpPr>
        <p:spPr>
          <a:xfrm>
            <a:off x="712351" y="3264456"/>
            <a:ext cx="6514505" cy="494109"/>
          </a:xfrm>
          <a:prstGeom prst="rect">
            <a:avLst/>
          </a:prstGeom>
          <a:noFill/>
          <a:ln/>
        </p:spPr>
        <p:txBody>
          <a:bodyPr wrap="square" lIns="0" tIns="0" rIns="0" bIns="0" rtlCol="0" anchor="t"/>
          <a:lstStyle/>
          <a:p>
            <a:pPr marL="0" indent="0" algn="ctr">
              <a:lnSpc>
                <a:spcPts val="1900"/>
              </a:lnSpc>
              <a:buNone/>
            </a:pPr>
            <a:r>
              <a:rPr lang="en-US" sz="1300" dirty="0">
                <a:solidFill>
                  <a:srgbClr val="405449"/>
                </a:solidFill>
                <a:latin typeface="Nobile" pitchFamily="34" charset="0"/>
                <a:ea typeface="Nobile" pitchFamily="34" charset="-122"/>
                <a:cs typeface="Nobile" pitchFamily="34" charset="-120"/>
              </a:rPr>
              <a:t>Maximum latency for voice assistant responses, measured from audio completion to first audio output during conversations.</a:t>
            </a:r>
            <a:endParaRPr lang="en-US" sz="1300" dirty="0"/>
          </a:p>
        </p:txBody>
      </p:sp>
      <p:sp>
        <p:nvSpPr>
          <p:cNvPr id="7" name="Text 5"/>
          <p:cNvSpPr/>
          <p:nvPr/>
        </p:nvSpPr>
        <p:spPr>
          <a:xfrm>
            <a:off x="7403425" y="2175867"/>
            <a:ext cx="6514505" cy="552569"/>
          </a:xfrm>
          <a:prstGeom prst="rect">
            <a:avLst/>
          </a:prstGeom>
          <a:noFill/>
          <a:ln/>
        </p:spPr>
        <p:txBody>
          <a:bodyPr wrap="none" lIns="0" tIns="0" rIns="0" bIns="0" rtlCol="0" anchor="t"/>
          <a:lstStyle/>
          <a:p>
            <a:pPr marL="0" indent="0" algn="ctr">
              <a:lnSpc>
                <a:spcPts val="4350"/>
              </a:lnSpc>
              <a:buNone/>
            </a:pPr>
            <a:r>
              <a:rPr lang="en-US" sz="4350" b="1" dirty="0">
                <a:solidFill>
                  <a:srgbClr val="405449"/>
                </a:solidFill>
                <a:latin typeface="Fraunces Extra Bold" pitchFamily="34" charset="0"/>
                <a:ea typeface="Fraunces Extra Bold" pitchFamily="34" charset="-122"/>
                <a:cs typeface="Fraunces Extra Bold" pitchFamily="34" charset="-120"/>
              </a:rPr>
              <a:t>99.5%</a:t>
            </a:r>
            <a:endParaRPr lang="en-US" sz="4350" dirty="0"/>
          </a:p>
        </p:txBody>
      </p:sp>
      <p:sp>
        <p:nvSpPr>
          <p:cNvPr id="8" name="Text 6"/>
          <p:cNvSpPr/>
          <p:nvPr/>
        </p:nvSpPr>
        <p:spPr>
          <a:xfrm>
            <a:off x="9614059" y="2918103"/>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System Uptime</a:t>
            </a:r>
            <a:endParaRPr lang="en-US" sz="1600" dirty="0"/>
          </a:p>
        </p:txBody>
      </p:sp>
      <p:sp>
        <p:nvSpPr>
          <p:cNvPr id="9" name="Text 7"/>
          <p:cNvSpPr/>
          <p:nvPr/>
        </p:nvSpPr>
        <p:spPr>
          <a:xfrm>
            <a:off x="7403425" y="3264456"/>
            <a:ext cx="6514505" cy="494109"/>
          </a:xfrm>
          <a:prstGeom prst="rect">
            <a:avLst/>
          </a:prstGeom>
          <a:noFill/>
          <a:ln/>
        </p:spPr>
        <p:txBody>
          <a:bodyPr wrap="square" lIns="0" tIns="0" rIns="0" bIns="0" rtlCol="0" anchor="t"/>
          <a:lstStyle/>
          <a:p>
            <a:pPr marL="0" indent="0" algn="ctr">
              <a:lnSpc>
                <a:spcPts val="1900"/>
              </a:lnSpc>
              <a:buNone/>
            </a:pPr>
            <a:r>
              <a:rPr lang="en-US" sz="1300" dirty="0">
                <a:solidFill>
                  <a:srgbClr val="405449"/>
                </a:solidFill>
                <a:latin typeface="Nobile" pitchFamily="34" charset="0"/>
                <a:ea typeface="Nobile" pitchFamily="34" charset="-122"/>
                <a:cs typeface="Nobile" pitchFamily="34" charset="-120"/>
              </a:rPr>
              <a:t>Target availability SLA ensuring continuous access to critical insurance services including claims reporting and policy management.</a:t>
            </a:r>
            <a:endParaRPr lang="en-US" sz="1300" dirty="0"/>
          </a:p>
        </p:txBody>
      </p:sp>
      <p:sp>
        <p:nvSpPr>
          <p:cNvPr id="10" name="Text 8"/>
          <p:cNvSpPr/>
          <p:nvPr/>
        </p:nvSpPr>
        <p:spPr>
          <a:xfrm>
            <a:off x="712351" y="4124801"/>
            <a:ext cx="6514505" cy="552569"/>
          </a:xfrm>
          <a:prstGeom prst="rect">
            <a:avLst/>
          </a:prstGeom>
          <a:noFill/>
          <a:ln/>
        </p:spPr>
        <p:txBody>
          <a:bodyPr wrap="none" lIns="0" tIns="0" rIns="0" bIns="0" rtlCol="0" anchor="t"/>
          <a:lstStyle/>
          <a:p>
            <a:pPr marL="0" indent="0" algn="ctr">
              <a:lnSpc>
                <a:spcPts val="4350"/>
              </a:lnSpc>
              <a:buNone/>
            </a:pPr>
            <a:r>
              <a:rPr lang="en-US" sz="4350" b="1" dirty="0">
                <a:solidFill>
                  <a:srgbClr val="405449"/>
                </a:solidFill>
                <a:latin typeface="Fraunces Extra Bold" pitchFamily="34" charset="0"/>
                <a:ea typeface="Fraunces Extra Bold" pitchFamily="34" charset="-122"/>
                <a:cs typeface="Fraunces Extra Bold" pitchFamily="34" charset="-120"/>
              </a:rPr>
              <a:t>95%</a:t>
            </a:r>
            <a:endParaRPr lang="en-US" sz="4350" dirty="0"/>
          </a:p>
        </p:txBody>
      </p:sp>
      <p:sp>
        <p:nvSpPr>
          <p:cNvPr id="11" name="Text 9"/>
          <p:cNvSpPr/>
          <p:nvPr/>
        </p:nvSpPr>
        <p:spPr>
          <a:xfrm>
            <a:off x="2813209" y="4867037"/>
            <a:ext cx="2312670" cy="261580"/>
          </a:xfrm>
          <a:prstGeom prst="rect">
            <a:avLst/>
          </a:prstGeom>
          <a:noFill/>
          <a:ln/>
        </p:spPr>
        <p:txBody>
          <a:bodyPr wrap="none" lIns="0" tIns="0" rIns="0" bIns="0" rtlCol="0" anchor="t"/>
          <a:lstStyle/>
          <a:p>
            <a:pPr marL="0" indent="0" algn="ctr">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Verification Accuracy</a:t>
            </a:r>
            <a:endParaRPr lang="en-US" sz="1600" dirty="0"/>
          </a:p>
        </p:txBody>
      </p:sp>
      <p:sp>
        <p:nvSpPr>
          <p:cNvPr id="12" name="Text 10"/>
          <p:cNvSpPr/>
          <p:nvPr/>
        </p:nvSpPr>
        <p:spPr>
          <a:xfrm>
            <a:off x="712351" y="5213390"/>
            <a:ext cx="6514505" cy="494109"/>
          </a:xfrm>
          <a:prstGeom prst="rect">
            <a:avLst/>
          </a:prstGeom>
          <a:noFill/>
          <a:ln/>
        </p:spPr>
        <p:txBody>
          <a:bodyPr wrap="square" lIns="0" tIns="0" rIns="0" bIns="0" rtlCol="0" anchor="t"/>
          <a:lstStyle/>
          <a:p>
            <a:pPr marL="0" indent="0" algn="ctr">
              <a:lnSpc>
                <a:spcPts val="1900"/>
              </a:lnSpc>
              <a:buNone/>
            </a:pPr>
            <a:r>
              <a:rPr lang="en-US" sz="1300" dirty="0">
                <a:solidFill>
                  <a:srgbClr val="405449"/>
                </a:solidFill>
                <a:latin typeface="Nobile" pitchFamily="34" charset="0"/>
                <a:ea typeface="Nobile" pitchFamily="34" charset="-122"/>
                <a:cs typeface="Nobile" pitchFamily="34" charset="-120"/>
              </a:rPr>
              <a:t>Minimum accuracy rate for KYC facial recognition, with manual review triggered for scores below threshold.</a:t>
            </a:r>
            <a:endParaRPr lang="en-US" sz="1300" dirty="0"/>
          </a:p>
        </p:txBody>
      </p:sp>
      <p:sp>
        <p:nvSpPr>
          <p:cNvPr id="13" name="Text 11"/>
          <p:cNvSpPr/>
          <p:nvPr/>
        </p:nvSpPr>
        <p:spPr>
          <a:xfrm>
            <a:off x="7403425" y="4124801"/>
            <a:ext cx="6514505" cy="552569"/>
          </a:xfrm>
          <a:prstGeom prst="rect">
            <a:avLst/>
          </a:prstGeom>
          <a:noFill/>
          <a:ln/>
        </p:spPr>
        <p:txBody>
          <a:bodyPr wrap="none" lIns="0" tIns="0" rIns="0" bIns="0" rtlCol="0" anchor="t"/>
          <a:lstStyle/>
          <a:p>
            <a:pPr marL="0" indent="0" algn="ctr">
              <a:lnSpc>
                <a:spcPts val="4350"/>
              </a:lnSpc>
              <a:buNone/>
            </a:pPr>
            <a:r>
              <a:rPr lang="en-US" sz="4350" b="1" dirty="0">
                <a:solidFill>
                  <a:srgbClr val="405449"/>
                </a:solidFill>
                <a:latin typeface="Fraunces Extra Bold" pitchFamily="34" charset="0"/>
                <a:ea typeface="Fraunces Extra Bold" pitchFamily="34" charset="-122"/>
                <a:cs typeface="Fraunces Extra Bold" pitchFamily="34" charset="-120"/>
              </a:rPr>
              <a:t>40%</a:t>
            </a:r>
            <a:endParaRPr lang="en-US" sz="4350" dirty="0"/>
          </a:p>
        </p:txBody>
      </p:sp>
      <p:sp>
        <p:nvSpPr>
          <p:cNvPr id="14" name="Text 12"/>
          <p:cNvSpPr/>
          <p:nvPr/>
        </p:nvSpPr>
        <p:spPr>
          <a:xfrm>
            <a:off x="9373791" y="4867037"/>
            <a:ext cx="2573655" cy="261580"/>
          </a:xfrm>
          <a:prstGeom prst="rect">
            <a:avLst/>
          </a:prstGeom>
          <a:noFill/>
          <a:ln/>
        </p:spPr>
        <p:txBody>
          <a:bodyPr wrap="none" lIns="0" tIns="0" rIns="0" bIns="0" rtlCol="0" anchor="t"/>
          <a:lstStyle/>
          <a:p>
            <a:pPr marL="0" indent="0" algn="ctr">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Process Time Reduction</a:t>
            </a:r>
            <a:endParaRPr lang="en-US" sz="1600" dirty="0"/>
          </a:p>
        </p:txBody>
      </p:sp>
      <p:sp>
        <p:nvSpPr>
          <p:cNvPr id="15" name="Text 13"/>
          <p:cNvSpPr/>
          <p:nvPr/>
        </p:nvSpPr>
        <p:spPr>
          <a:xfrm>
            <a:off x="7403425" y="5213390"/>
            <a:ext cx="6514505" cy="494109"/>
          </a:xfrm>
          <a:prstGeom prst="rect">
            <a:avLst/>
          </a:prstGeom>
          <a:noFill/>
          <a:ln/>
        </p:spPr>
        <p:txBody>
          <a:bodyPr wrap="square" lIns="0" tIns="0" rIns="0" bIns="0" rtlCol="0" anchor="t"/>
          <a:lstStyle/>
          <a:p>
            <a:pPr marL="0" indent="0" algn="ctr">
              <a:lnSpc>
                <a:spcPts val="1900"/>
              </a:lnSpc>
              <a:buNone/>
            </a:pPr>
            <a:r>
              <a:rPr lang="en-US" sz="1300" dirty="0">
                <a:solidFill>
                  <a:srgbClr val="405449"/>
                </a:solidFill>
                <a:latin typeface="Nobile" pitchFamily="34" charset="0"/>
                <a:ea typeface="Nobile" pitchFamily="34" charset="-122"/>
                <a:cs typeface="Nobile" pitchFamily="34" charset="-120"/>
              </a:rPr>
              <a:t>Target reduction in claims processing time through LLM-generated insights and automated data analysis.</a:t>
            </a:r>
            <a:endParaRPr lang="en-US" sz="1300" dirty="0"/>
          </a:p>
        </p:txBody>
      </p:sp>
      <p:sp>
        <p:nvSpPr>
          <p:cNvPr id="16" name="Text 14"/>
          <p:cNvSpPr/>
          <p:nvPr/>
        </p:nvSpPr>
        <p:spPr>
          <a:xfrm>
            <a:off x="712351" y="6007656"/>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3B4540"/>
                </a:solidFill>
                <a:latin typeface="Fraunces Extra Bold" pitchFamily="34" charset="0"/>
                <a:ea typeface="Fraunces Extra Bold" pitchFamily="34" charset="-122"/>
                <a:cs typeface="Fraunces Extra Bold" pitchFamily="34" charset="-120"/>
              </a:rPr>
              <a:t>Technical Metrics</a:t>
            </a:r>
            <a:endParaRPr lang="en-US" sz="1600" dirty="0"/>
          </a:p>
        </p:txBody>
      </p:sp>
      <p:sp>
        <p:nvSpPr>
          <p:cNvPr id="17" name="Text 15"/>
          <p:cNvSpPr/>
          <p:nvPr/>
        </p:nvSpPr>
        <p:spPr>
          <a:xfrm>
            <a:off x="712351" y="6410444"/>
            <a:ext cx="6398538" cy="1136452"/>
          </a:xfrm>
          <a:prstGeom prst="rect">
            <a:avLst/>
          </a:prstGeom>
          <a:noFill/>
          <a:ln/>
        </p:spPr>
        <p:txBody>
          <a:bodyPr wrap="square" lIns="0" tIns="0" rIns="0" bIns="0" rtlCol="0" anchor="t"/>
          <a:lstStyle/>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API error rates below 0.5%</a:t>
            </a:r>
            <a:endParaRPr lang="en-US" sz="1300" dirty="0"/>
          </a:p>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Database query latency under 200ms</a:t>
            </a:r>
            <a:endParaRPr lang="en-US" sz="1300" dirty="0"/>
          </a:p>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LLM processing cost per transaction</a:t>
            </a:r>
            <a:endParaRPr lang="en-US" sz="1300" dirty="0"/>
          </a:p>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Concurrent call handling capacity</a:t>
            </a:r>
            <a:endParaRPr lang="en-US" sz="1300" dirty="0"/>
          </a:p>
        </p:txBody>
      </p:sp>
      <p:sp>
        <p:nvSpPr>
          <p:cNvPr id="18" name="Text 16"/>
          <p:cNvSpPr/>
          <p:nvPr/>
        </p:nvSpPr>
        <p:spPr>
          <a:xfrm>
            <a:off x="7526893" y="6007656"/>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3B4540"/>
                </a:solidFill>
                <a:latin typeface="Fraunces Extra Bold" pitchFamily="34" charset="0"/>
                <a:ea typeface="Fraunces Extra Bold" pitchFamily="34" charset="-122"/>
                <a:cs typeface="Fraunces Extra Bold" pitchFamily="34" charset="-120"/>
              </a:rPr>
              <a:t>Business Metrics</a:t>
            </a:r>
            <a:endParaRPr lang="en-US" sz="1600" dirty="0"/>
          </a:p>
        </p:txBody>
      </p:sp>
      <p:sp>
        <p:nvSpPr>
          <p:cNvPr id="19" name="Text 17"/>
          <p:cNvSpPr/>
          <p:nvPr/>
        </p:nvSpPr>
        <p:spPr>
          <a:xfrm>
            <a:off x="7526893" y="6410444"/>
            <a:ext cx="6398538" cy="1136452"/>
          </a:xfrm>
          <a:prstGeom prst="rect">
            <a:avLst/>
          </a:prstGeom>
          <a:noFill/>
          <a:ln/>
        </p:spPr>
        <p:txBody>
          <a:bodyPr wrap="square" lIns="0" tIns="0" rIns="0" bIns="0" rtlCol="0" anchor="t"/>
          <a:lstStyle/>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Customer satisfaction scores</a:t>
            </a:r>
            <a:endParaRPr lang="en-US" sz="1300" dirty="0"/>
          </a:p>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Onboarding completion rate</a:t>
            </a:r>
            <a:endParaRPr lang="en-US" sz="1300" dirty="0"/>
          </a:p>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Fraud detection rate improvement</a:t>
            </a:r>
            <a:endParaRPr lang="en-US" sz="1300" dirty="0"/>
          </a:p>
          <a:p>
            <a:pPr marL="342900" indent="-342900" algn="l">
              <a:lnSpc>
                <a:spcPts val="1900"/>
              </a:lnSpc>
              <a:buSzPct val="100000"/>
              <a:buChar char="•"/>
            </a:pPr>
            <a:r>
              <a:rPr lang="en-US" sz="1300" dirty="0">
                <a:solidFill>
                  <a:srgbClr val="405449"/>
                </a:solidFill>
                <a:latin typeface="Nobile" pitchFamily="34" charset="0"/>
                <a:ea typeface="Nobile" pitchFamily="34" charset="-122"/>
                <a:cs typeface="Nobile" pitchFamily="34" charset="-120"/>
              </a:rPr>
              <a:t>Agent productivity gains</a:t>
            </a:r>
            <a:endParaRPr lang="en-US" sz="1300" dirty="0"/>
          </a:p>
        </p:txBody>
      </p:sp>
      <p:pic>
        <p:nvPicPr>
          <p:cNvPr id="20" name="Picture 19">
            <a:extLst>
              <a:ext uri="{FF2B5EF4-FFF2-40B4-BE49-F238E27FC236}">
                <a16:creationId xmlns:a16="http://schemas.microsoft.com/office/drawing/2014/main" id="{0E510F7D-079B-2CE0-54F0-EC950218E5C4}"/>
              </a:ext>
            </a:extLst>
          </p:cNvPr>
          <p:cNvPicPr>
            <a:picLocks noChangeAspect="1"/>
          </p:cNvPicPr>
          <p:nvPr/>
        </p:nvPicPr>
        <p:blipFill>
          <a:blip r:embed="rId3"/>
          <a:stretch>
            <a:fillRect/>
          </a:stretch>
        </p:blipFill>
        <p:spPr>
          <a:xfrm>
            <a:off x="12810871" y="7699689"/>
            <a:ext cx="1819529" cy="5135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CB9C5-1D91-51ED-6C8A-DB221141D623}"/>
            </a:ext>
          </a:extLst>
        </p:cNvPr>
        <p:cNvGrpSpPr/>
        <p:nvPr/>
      </p:nvGrpSpPr>
      <p:grpSpPr>
        <a:xfrm>
          <a:off x="0" y="0"/>
          <a:ext cx="0" cy="0"/>
          <a:chOff x="0" y="0"/>
          <a:chExt cx="0" cy="0"/>
        </a:xfrm>
      </p:grpSpPr>
      <p:sp>
        <p:nvSpPr>
          <p:cNvPr id="25" name="AutoShape 2" descr=", AI generated">
            <a:extLst>
              <a:ext uri="{FF2B5EF4-FFF2-40B4-BE49-F238E27FC236}">
                <a16:creationId xmlns:a16="http://schemas.microsoft.com/office/drawing/2014/main" id="{46748533-72AD-C1D5-C3AD-A0E685176857}"/>
              </a:ext>
            </a:extLst>
          </p:cNvPr>
          <p:cNvSpPr>
            <a:spLocks noChangeAspect="1" noChangeArrowheads="1"/>
          </p:cNvSpPr>
          <p:nvPr/>
        </p:nvSpPr>
        <p:spPr bwMode="auto">
          <a:xfrm>
            <a:off x="7162799" y="3962399"/>
            <a:ext cx="5504985" cy="55049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B3E5DB13-35F8-3D07-0F7B-AEB4F8052D45}"/>
              </a:ext>
            </a:extLst>
          </p:cNvPr>
          <p:cNvPicPr>
            <a:picLocks noChangeAspect="1"/>
          </p:cNvPicPr>
          <p:nvPr/>
        </p:nvPicPr>
        <p:blipFill>
          <a:blip r:embed="rId3"/>
          <a:stretch>
            <a:fillRect/>
          </a:stretch>
        </p:blipFill>
        <p:spPr>
          <a:xfrm>
            <a:off x="12305976" y="7564668"/>
            <a:ext cx="2324424" cy="571580"/>
          </a:xfrm>
          <a:prstGeom prst="rect">
            <a:avLst/>
          </a:prstGeom>
        </p:spPr>
      </p:pic>
      <p:pic>
        <p:nvPicPr>
          <p:cNvPr id="5122" name="Picture 2" descr="PlantUML Diagram">
            <a:extLst>
              <a:ext uri="{FF2B5EF4-FFF2-40B4-BE49-F238E27FC236}">
                <a16:creationId xmlns:a16="http://schemas.microsoft.com/office/drawing/2014/main" id="{AB5CF82E-FB06-FBC1-24A3-E3A022016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449511"/>
            <a:ext cx="14630400" cy="302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58932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86C19-A388-CBF4-7CCB-5C7BB95082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3A04B1-371D-198C-A4A3-3F614939535E}"/>
              </a:ext>
            </a:extLst>
          </p:cNvPr>
          <p:cNvSpPr/>
          <p:nvPr/>
        </p:nvSpPr>
        <p:spPr>
          <a:xfrm>
            <a:off x="3771278" y="113614"/>
            <a:ext cx="6392942" cy="620078"/>
          </a:xfrm>
          <a:prstGeom prst="rect">
            <a:avLst/>
          </a:prstGeom>
          <a:noFill/>
          <a:ln/>
        </p:spPr>
        <p:txBody>
          <a:bodyPr wrap="none" lIns="0" tIns="0" rIns="0" bIns="0" rtlCol="0" anchor="t"/>
          <a:lstStyle/>
          <a:p>
            <a:pPr>
              <a:lnSpc>
                <a:spcPts val="4850"/>
              </a:lnSpc>
            </a:pPr>
            <a:r>
              <a:rPr lang="en-US" sz="2500" dirty="0">
                <a:latin typeface="Fraunces Extra Bold" panose="020B0604020202020204" charset="0"/>
              </a:rPr>
              <a:t>Phase 1 — Customer registration &amp; onboarding</a:t>
            </a:r>
          </a:p>
        </p:txBody>
      </p:sp>
      <p:sp>
        <p:nvSpPr>
          <p:cNvPr id="25" name="AutoShape 2" descr=", AI generated">
            <a:extLst>
              <a:ext uri="{FF2B5EF4-FFF2-40B4-BE49-F238E27FC236}">
                <a16:creationId xmlns:a16="http://schemas.microsoft.com/office/drawing/2014/main" id="{958CD155-4425-5193-3186-ED58D8FA9FDD}"/>
              </a:ext>
            </a:extLst>
          </p:cNvPr>
          <p:cNvSpPr>
            <a:spLocks noChangeAspect="1" noChangeArrowheads="1"/>
          </p:cNvSpPr>
          <p:nvPr/>
        </p:nvSpPr>
        <p:spPr bwMode="auto">
          <a:xfrm>
            <a:off x="7162799" y="3962399"/>
            <a:ext cx="5504985" cy="55049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D8E45A26-1F87-8FC0-5A8F-B8C1ECB8B15E}"/>
              </a:ext>
            </a:extLst>
          </p:cNvPr>
          <p:cNvPicPr>
            <a:picLocks noChangeAspect="1"/>
          </p:cNvPicPr>
          <p:nvPr/>
        </p:nvPicPr>
        <p:blipFill>
          <a:blip r:embed="rId3"/>
          <a:stretch>
            <a:fillRect/>
          </a:stretch>
        </p:blipFill>
        <p:spPr>
          <a:xfrm>
            <a:off x="12305976" y="7564668"/>
            <a:ext cx="2324424" cy="571580"/>
          </a:xfrm>
          <a:prstGeom prst="rect">
            <a:avLst/>
          </a:prstGeom>
        </p:spPr>
      </p:pic>
      <p:pic>
        <p:nvPicPr>
          <p:cNvPr id="1026" name="Picture 2" descr="PlantUML diagram">
            <a:extLst>
              <a:ext uri="{FF2B5EF4-FFF2-40B4-BE49-F238E27FC236}">
                <a16:creationId xmlns:a16="http://schemas.microsoft.com/office/drawing/2014/main" id="{17323CE3-E192-6C50-6F5B-113BF37C4F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343"/>
          <a:stretch>
            <a:fillRect/>
          </a:stretch>
        </p:blipFill>
        <p:spPr bwMode="auto">
          <a:xfrm>
            <a:off x="420220" y="646771"/>
            <a:ext cx="13095058" cy="715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38834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4FE8-9817-6945-8822-359743574D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15C918-72F3-8C31-60CD-5D171A43F465}"/>
              </a:ext>
            </a:extLst>
          </p:cNvPr>
          <p:cNvSpPr/>
          <p:nvPr/>
        </p:nvSpPr>
        <p:spPr>
          <a:xfrm>
            <a:off x="4200715" y="176912"/>
            <a:ext cx="6392942" cy="620078"/>
          </a:xfrm>
          <a:prstGeom prst="rect">
            <a:avLst/>
          </a:prstGeom>
          <a:noFill/>
          <a:ln/>
        </p:spPr>
        <p:txBody>
          <a:bodyPr wrap="none" lIns="0" tIns="0" rIns="0" bIns="0" rtlCol="0" anchor="t"/>
          <a:lstStyle/>
          <a:p>
            <a:pPr>
              <a:lnSpc>
                <a:spcPts val="4850"/>
              </a:lnSpc>
            </a:pPr>
            <a:r>
              <a:rPr lang="en-US" sz="2500" dirty="0">
                <a:latin typeface="Fraunces Extra Bold" panose="020B0604020202020204" charset="0"/>
              </a:rPr>
              <a:t>Phase 2 — AI features &amp; communication</a:t>
            </a:r>
          </a:p>
        </p:txBody>
      </p:sp>
      <p:sp>
        <p:nvSpPr>
          <p:cNvPr id="25" name="AutoShape 2" descr=", AI generated">
            <a:extLst>
              <a:ext uri="{FF2B5EF4-FFF2-40B4-BE49-F238E27FC236}">
                <a16:creationId xmlns:a16="http://schemas.microsoft.com/office/drawing/2014/main" id="{DB49E4E4-5264-9CEC-1A77-DAF473CDB09E}"/>
              </a:ext>
            </a:extLst>
          </p:cNvPr>
          <p:cNvSpPr>
            <a:spLocks noChangeAspect="1" noChangeArrowheads="1"/>
          </p:cNvSpPr>
          <p:nvPr/>
        </p:nvSpPr>
        <p:spPr bwMode="auto">
          <a:xfrm>
            <a:off x="7162799" y="3962399"/>
            <a:ext cx="5504985" cy="55049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C8935395-97FF-C94E-1C6A-73A106836BA7}"/>
              </a:ext>
            </a:extLst>
          </p:cNvPr>
          <p:cNvPicPr>
            <a:picLocks noChangeAspect="1"/>
          </p:cNvPicPr>
          <p:nvPr/>
        </p:nvPicPr>
        <p:blipFill>
          <a:blip r:embed="rId3"/>
          <a:stretch>
            <a:fillRect/>
          </a:stretch>
        </p:blipFill>
        <p:spPr>
          <a:xfrm>
            <a:off x="12305976" y="7564668"/>
            <a:ext cx="2324424" cy="571580"/>
          </a:xfrm>
          <a:prstGeom prst="rect">
            <a:avLst/>
          </a:prstGeom>
        </p:spPr>
      </p:pic>
      <p:pic>
        <p:nvPicPr>
          <p:cNvPr id="3077" name="Picture 5" descr="PlantUML Diagram">
            <a:extLst>
              <a:ext uri="{FF2B5EF4-FFF2-40B4-BE49-F238E27FC236}">
                <a16:creationId xmlns:a16="http://schemas.microsoft.com/office/drawing/2014/main" id="{2D78131F-6E75-080A-3362-D5D8A94B7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283" y="898153"/>
            <a:ext cx="13381463" cy="6952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06867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4A735-A70F-5776-413E-40675548C9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3D8C96-2111-4221-05EF-93132776CDA1}"/>
              </a:ext>
            </a:extLst>
          </p:cNvPr>
          <p:cNvSpPr/>
          <p:nvPr/>
        </p:nvSpPr>
        <p:spPr>
          <a:xfrm>
            <a:off x="4200715" y="176912"/>
            <a:ext cx="6392942" cy="620078"/>
          </a:xfrm>
          <a:prstGeom prst="rect">
            <a:avLst/>
          </a:prstGeom>
          <a:noFill/>
          <a:ln/>
        </p:spPr>
        <p:txBody>
          <a:bodyPr wrap="none" lIns="0" tIns="0" rIns="0" bIns="0" rtlCol="0" anchor="t"/>
          <a:lstStyle/>
          <a:p>
            <a:pPr>
              <a:lnSpc>
                <a:spcPts val="4850"/>
              </a:lnSpc>
            </a:pPr>
            <a:r>
              <a:rPr lang="en-US" sz="2500" dirty="0">
                <a:latin typeface="Fraunces Extra Bold" panose="020B0604020202020204" charset="0"/>
              </a:rPr>
              <a:t>Full system activity diagram (all roles combined)</a:t>
            </a:r>
          </a:p>
        </p:txBody>
      </p:sp>
      <p:sp>
        <p:nvSpPr>
          <p:cNvPr id="25" name="AutoShape 2" descr=", AI generated">
            <a:extLst>
              <a:ext uri="{FF2B5EF4-FFF2-40B4-BE49-F238E27FC236}">
                <a16:creationId xmlns:a16="http://schemas.microsoft.com/office/drawing/2014/main" id="{03418AE7-F28D-0128-5935-FB918DB828FE}"/>
              </a:ext>
            </a:extLst>
          </p:cNvPr>
          <p:cNvSpPr>
            <a:spLocks noChangeAspect="1" noChangeArrowheads="1"/>
          </p:cNvSpPr>
          <p:nvPr/>
        </p:nvSpPr>
        <p:spPr bwMode="auto">
          <a:xfrm>
            <a:off x="7162799" y="3962399"/>
            <a:ext cx="5504985" cy="55049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40CD368A-37D3-7800-0B9D-39B8FA94F166}"/>
              </a:ext>
            </a:extLst>
          </p:cNvPr>
          <p:cNvPicPr>
            <a:picLocks noChangeAspect="1"/>
          </p:cNvPicPr>
          <p:nvPr/>
        </p:nvPicPr>
        <p:blipFill>
          <a:blip r:embed="rId3"/>
          <a:stretch>
            <a:fillRect/>
          </a:stretch>
        </p:blipFill>
        <p:spPr>
          <a:xfrm>
            <a:off x="12305976" y="7564668"/>
            <a:ext cx="2324424" cy="571580"/>
          </a:xfrm>
          <a:prstGeom prst="rect">
            <a:avLst/>
          </a:prstGeom>
        </p:spPr>
      </p:pic>
      <p:pic>
        <p:nvPicPr>
          <p:cNvPr id="3077" name="Picture 5" descr="PlantUML Diagram">
            <a:extLst>
              <a:ext uri="{FF2B5EF4-FFF2-40B4-BE49-F238E27FC236}">
                <a16:creationId xmlns:a16="http://schemas.microsoft.com/office/drawing/2014/main" id="{BB49F8B8-AEDC-A778-F502-A4E17366878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390"/>
          <a:stretch>
            <a:fillRect/>
          </a:stretch>
        </p:blipFill>
        <p:spPr bwMode="auto">
          <a:xfrm>
            <a:off x="758283" y="278779"/>
            <a:ext cx="13381463" cy="7571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95230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99398"/>
            <a:ext cx="12383810" cy="620078"/>
          </a:xfrm>
          <a:prstGeom prst="rect">
            <a:avLst/>
          </a:prstGeom>
          <a:noFill/>
          <a:ln/>
        </p:spPr>
        <p:txBody>
          <a:bodyPr wrap="non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Customer: Application, Payment &amp; Claim Process</a:t>
            </a:r>
            <a:endParaRPr lang="en-US" sz="3900" dirty="0"/>
          </a:p>
        </p:txBody>
      </p:sp>
      <p:sp>
        <p:nvSpPr>
          <p:cNvPr id="3" name="Text 1"/>
          <p:cNvSpPr/>
          <p:nvPr/>
        </p:nvSpPr>
        <p:spPr>
          <a:xfrm>
            <a:off x="793790" y="191631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01</a:t>
            </a:r>
            <a:endParaRPr lang="en-US" sz="1550" dirty="0"/>
          </a:p>
        </p:txBody>
      </p:sp>
      <p:sp>
        <p:nvSpPr>
          <p:cNvPr id="4" name="Shape 2"/>
          <p:cNvSpPr/>
          <p:nvPr/>
        </p:nvSpPr>
        <p:spPr>
          <a:xfrm>
            <a:off x="793790" y="2230636"/>
            <a:ext cx="6422231" cy="22860"/>
          </a:xfrm>
          <a:prstGeom prst="rect">
            <a:avLst/>
          </a:prstGeom>
          <a:solidFill>
            <a:srgbClr val="438951"/>
          </a:solidFill>
          <a:ln/>
        </p:spPr>
        <p:txBody>
          <a:bodyPr/>
          <a:lstStyle/>
          <a:p>
            <a:endParaRPr lang="en-IN"/>
          </a:p>
        </p:txBody>
      </p:sp>
      <p:sp>
        <p:nvSpPr>
          <p:cNvPr id="5" name="Text 3"/>
          <p:cNvSpPr/>
          <p:nvPr/>
        </p:nvSpPr>
        <p:spPr>
          <a:xfrm>
            <a:off x="793790" y="237553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Submit Application</a:t>
            </a:r>
            <a:endParaRPr lang="en-US" sz="1950" dirty="0"/>
          </a:p>
        </p:txBody>
      </p:sp>
      <p:sp>
        <p:nvSpPr>
          <p:cNvPr id="6" name="Text 4"/>
          <p:cNvSpPr/>
          <p:nvPr/>
        </p:nvSpPr>
        <p:spPr>
          <a:xfrm>
            <a:off x="793790" y="280475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Complete policy application with personal details and coverage preferences</a:t>
            </a:r>
            <a:endParaRPr lang="en-US" sz="1550" dirty="0"/>
          </a:p>
        </p:txBody>
      </p:sp>
      <p:sp>
        <p:nvSpPr>
          <p:cNvPr id="7" name="Text 5"/>
          <p:cNvSpPr/>
          <p:nvPr/>
        </p:nvSpPr>
        <p:spPr>
          <a:xfrm>
            <a:off x="7414379" y="191631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02</a:t>
            </a:r>
            <a:endParaRPr lang="en-US" sz="1550" dirty="0"/>
          </a:p>
        </p:txBody>
      </p:sp>
      <p:sp>
        <p:nvSpPr>
          <p:cNvPr id="8" name="Shape 6"/>
          <p:cNvSpPr/>
          <p:nvPr/>
        </p:nvSpPr>
        <p:spPr>
          <a:xfrm>
            <a:off x="7414379" y="2230636"/>
            <a:ext cx="6422231" cy="22860"/>
          </a:xfrm>
          <a:prstGeom prst="rect">
            <a:avLst/>
          </a:prstGeom>
          <a:solidFill>
            <a:srgbClr val="438951"/>
          </a:solidFill>
          <a:ln/>
        </p:spPr>
        <p:txBody>
          <a:bodyPr/>
          <a:lstStyle/>
          <a:p>
            <a:endParaRPr lang="en-IN"/>
          </a:p>
        </p:txBody>
      </p:sp>
      <p:sp>
        <p:nvSpPr>
          <p:cNvPr id="9" name="Text 7"/>
          <p:cNvSpPr/>
          <p:nvPr/>
        </p:nvSpPr>
        <p:spPr>
          <a:xfrm>
            <a:off x="7414379" y="237553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Policy Review</a:t>
            </a:r>
            <a:endParaRPr lang="en-US" sz="1950" dirty="0"/>
          </a:p>
        </p:txBody>
      </p:sp>
      <p:sp>
        <p:nvSpPr>
          <p:cNvPr id="10" name="Text 8"/>
          <p:cNvSpPr/>
          <p:nvPr/>
        </p:nvSpPr>
        <p:spPr>
          <a:xfrm>
            <a:off x="7414379" y="280475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Assigned agent reviews application and communicates via real-time chat</a:t>
            </a:r>
            <a:endParaRPr lang="en-US" sz="1550" dirty="0"/>
          </a:p>
        </p:txBody>
      </p:sp>
      <p:sp>
        <p:nvSpPr>
          <p:cNvPr id="11" name="Text 9"/>
          <p:cNvSpPr/>
          <p:nvPr/>
        </p:nvSpPr>
        <p:spPr>
          <a:xfrm>
            <a:off x="793790" y="378702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03</a:t>
            </a:r>
            <a:endParaRPr lang="en-US" sz="1550" dirty="0"/>
          </a:p>
        </p:txBody>
      </p:sp>
      <p:sp>
        <p:nvSpPr>
          <p:cNvPr id="12" name="Shape 10"/>
          <p:cNvSpPr/>
          <p:nvPr/>
        </p:nvSpPr>
        <p:spPr>
          <a:xfrm>
            <a:off x="793790" y="4101346"/>
            <a:ext cx="6422231" cy="22860"/>
          </a:xfrm>
          <a:prstGeom prst="rect">
            <a:avLst/>
          </a:prstGeom>
          <a:solidFill>
            <a:srgbClr val="438951"/>
          </a:solidFill>
          <a:ln/>
        </p:spPr>
        <p:txBody>
          <a:bodyPr/>
          <a:lstStyle/>
          <a:p>
            <a:endParaRPr lang="en-IN"/>
          </a:p>
        </p:txBody>
      </p:sp>
      <p:sp>
        <p:nvSpPr>
          <p:cNvPr id="13" name="Text 11"/>
          <p:cNvSpPr/>
          <p:nvPr/>
        </p:nvSpPr>
        <p:spPr>
          <a:xfrm>
            <a:off x="793790" y="4246245"/>
            <a:ext cx="2602230"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Approval &amp; Payment</a:t>
            </a:r>
            <a:endParaRPr lang="en-US" sz="1950" dirty="0"/>
          </a:p>
        </p:txBody>
      </p:sp>
      <p:sp>
        <p:nvSpPr>
          <p:cNvPr id="14" name="Text 12"/>
          <p:cNvSpPr/>
          <p:nvPr/>
        </p:nvSpPr>
        <p:spPr>
          <a:xfrm>
            <a:off x="793790" y="467546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Upon approval, complete secure premium payment through integrated gateway</a:t>
            </a:r>
            <a:endParaRPr lang="en-US" sz="1550" dirty="0"/>
          </a:p>
        </p:txBody>
      </p:sp>
      <p:sp>
        <p:nvSpPr>
          <p:cNvPr id="15" name="Text 13"/>
          <p:cNvSpPr/>
          <p:nvPr/>
        </p:nvSpPr>
        <p:spPr>
          <a:xfrm>
            <a:off x="7414379" y="378702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04</a:t>
            </a:r>
            <a:endParaRPr lang="en-US" sz="1550" dirty="0"/>
          </a:p>
        </p:txBody>
      </p:sp>
      <p:sp>
        <p:nvSpPr>
          <p:cNvPr id="16" name="Shape 14"/>
          <p:cNvSpPr/>
          <p:nvPr/>
        </p:nvSpPr>
        <p:spPr>
          <a:xfrm>
            <a:off x="7414379" y="4101346"/>
            <a:ext cx="6422231" cy="22860"/>
          </a:xfrm>
          <a:prstGeom prst="rect">
            <a:avLst/>
          </a:prstGeom>
          <a:solidFill>
            <a:srgbClr val="438951"/>
          </a:solidFill>
          <a:ln/>
        </p:spPr>
        <p:txBody>
          <a:bodyPr/>
          <a:lstStyle/>
          <a:p>
            <a:endParaRPr lang="en-IN"/>
          </a:p>
        </p:txBody>
      </p:sp>
      <p:sp>
        <p:nvSpPr>
          <p:cNvPr id="17" name="Text 15"/>
          <p:cNvSpPr/>
          <p:nvPr/>
        </p:nvSpPr>
        <p:spPr>
          <a:xfrm>
            <a:off x="7414379" y="424624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Policy Active</a:t>
            </a:r>
            <a:endParaRPr lang="en-US" sz="1950" dirty="0"/>
          </a:p>
        </p:txBody>
      </p:sp>
      <p:sp>
        <p:nvSpPr>
          <p:cNvPr id="18" name="Text 16"/>
          <p:cNvSpPr/>
          <p:nvPr/>
        </p:nvSpPr>
        <p:spPr>
          <a:xfrm>
            <a:off x="7414379" y="467546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Instant policy activation with digital certificate and coverage confirmation</a:t>
            </a:r>
            <a:endParaRPr lang="en-US" sz="1550" dirty="0"/>
          </a:p>
        </p:txBody>
      </p:sp>
      <p:sp>
        <p:nvSpPr>
          <p:cNvPr id="19" name="Text 17"/>
          <p:cNvSpPr/>
          <p:nvPr/>
        </p:nvSpPr>
        <p:spPr>
          <a:xfrm>
            <a:off x="793790" y="565773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05</a:t>
            </a:r>
            <a:endParaRPr lang="en-US" sz="1550" dirty="0"/>
          </a:p>
        </p:txBody>
      </p:sp>
      <p:sp>
        <p:nvSpPr>
          <p:cNvPr id="20" name="Shape 18"/>
          <p:cNvSpPr/>
          <p:nvPr/>
        </p:nvSpPr>
        <p:spPr>
          <a:xfrm>
            <a:off x="793790" y="5972056"/>
            <a:ext cx="6422231" cy="22860"/>
          </a:xfrm>
          <a:prstGeom prst="rect">
            <a:avLst/>
          </a:prstGeom>
          <a:solidFill>
            <a:srgbClr val="438951"/>
          </a:solidFill>
          <a:ln/>
        </p:spPr>
        <p:txBody>
          <a:bodyPr/>
          <a:lstStyle/>
          <a:p>
            <a:endParaRPr lang="en-IN"/>
          </a:p>
        </p:txBody>
      </p:sp>
      <p:sp>
        <p:nvSpPr>
          <p:cNvPr id="21" name="Text 19"/>
          <p:cNvSpPr/>
          <p:nvPr/>
        </p:nvSpPr>
        <p:spPr>
          <a:xfrm>
            <a:off x="793790" y="611695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Raise Claim</a:t>
            </a:r>
            <a:endParaRPr lang="en-US" sz="1950" dirty="0"/>
          </a:p>
        </p:txBody>
      </p:sp>
      <p:sp>
        <p:nvSpPr>
          <p:cNvPr id="22" name="Text 20"/>
          <p:cNvSpPr/>
          <p:nvPr/>
        </p:nvSpPr>
        <p:spPr>
          <a:xfrm>
            <a:off x="793790" y="654617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Upload required documents through secure cloud storage when incident occurs</a:t>
            </a:r>
            <a:endParaRPr lang="en-US" sz="1550" dirty="0"/>
          </a:p>
        </p:txBody>
      </p:sp>
      <p:sp>
        <p:nvSpPr>
          <p:cNvPr id="23" name="Text 21"/>
          <p:cNvSpPr/>
          <p:nvPr/>
        </p:nvSpPr>
        <p:spPr>
          <a:xfrm>
            <a:off x="7414379" y="565773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06</a:t>
            </a:r>
            <a:endParaRPr lang="en-US" sz="1550" dirty="0"/>
          </a:p>
        </p:txBody>
      </p:sp>
      <p:sp>
        <p:nvSpPr>
          <p:cNvPr id="24" name="Shape 22"/>
          <p:cNvSpPr/>
          <p:nvPr/>
        </p:nvSpPr>
        <p:spPr>
          <a:xfrm>
            <a:off x="7414379" y="5972056"/>
            <a:ext cx="6422231" cy="22860"/>
          </a:xfrm>
          <a:prstGeom prst="rect">
            <a:avLst/>
          </a:prstGeom>
          <a:solidFill>
            <a:srgbClr val="438951"/>
          </a:solidFill>
          <a:ln/>
        </p:spPr>
        <p:txBody>
          <a:bodyPr/>
          <a:lstStyle/>
          <a:p>
            <a:endParaRPr lang="en-IN"/>
          </a:p>
        </p:txBody>
      </p:sp>
      <p:sp>
        <p:nvSpPr>
          <p:cNvPr id="25" name="Text 23"/>
          <p:cNvSpPr/>
          <p:nvPr/>
        </p:nvSpPr>
        <p:spPr>
          <a:xfrm>
            <a:off x="7414379" y="611695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Claim Approval</a:t>
            </a:r>
            <a:endParaRPr lang="en-US" sz="1950" dirty="0"/>
          </a:p>
        </p:txBody>
      </p:sp>
      <p:sp>
        <p:nvSpPr>
          <p:cNvPr id="26" name="Text 24"/>
          <p:cNvSpPr/>
          <p:nvPr/>
        </p:nvSpPr>
        <p:spPr>
          <a:xfrm>
            <a:off x="7414379" y="6546175"/>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Automatic policy coverage update after claims officer approval</a:t>
            </a:r>
            <a:endParaRPr lang="en-US" sz="1550" dirty="0"/>
          </a:p>
        </p:txBody>
      </p:sp>
      <p:pic>
        <p:nvPicPr>
          <p:cNvPr id="27" name="Picture 26">
            <a:extLst>
              <a:ext uri="{FF2B5EF4-FFF2-40B4-BE49-F238E27FC236}">
                <a16:creationId xmlns:a16="http://schemas.microsoft.com/office/drawing/2014/main" id="{603AD166-19CE-F78F-0873-8392C9868773}"/>
              </a:ext>
            </a:extLst>
          </p:cNvPr>
          <p:cNvPicPr>
            <a:picLocks noChangeAspect="1"/>
          </p:cNvPicPr>
          <p:nvPr/>
        </p:nvPicPr>
        <p:blipFill>
          <a:blip r:embed="rId3"/>
          <a:stretch>
            <a:fillRect/>
          </a:stretch>
        </p:blipFill>
        <p:spPr>
          <a:xfrm>
            <a:off x="12305976" y="7564668"/>
            <a:ext cx="2324424" cy="571580"/>
          </a:xfrm>
          <a:prstGeom prst="rect">
            <a:avLst/>
          </a:prstGeom>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2BAFF-B782-F480-9243-819A5E0F76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C881F2-3F2C-A78C-E567-E248785D7A99}"/>
              </a:ext>
            </a:extLst>
          </p:cNvPr>
          <p:cNvSpPr/>
          <p:nvPr/>
        </p:nvSpPr>
        <p:spPr>
          <a:xfrm>
            <a:off x="684252" y="782241"/>
            <a:ext cx="7348418" cy="534591"/>
          </a:xfrm>
          <a:prstGeom prst="rect">
            <a:avLst/>
          </a:prstGeom>
          <a:noFill/>
          <a:ln/>
        </p:spPr>
        <p:txBody>
          <a:bodyPr wrap="none" lIns="0" tIns="0" rIns="0" bIns="0" rtlCol="0" anchor="t"/>
          <a:lstStyle/>
          <a:p>
            <a:pPr marL="0" indent="0" algn="l">
              <a:lnSpc>
                <a:spcPts val="4200"/>
              </a:lnSpc>
              <a:buNone/>
            </a:pPr>
            <a:r>
              <a:rPr lang="en-US" sz="3350" b="1" dirty="0">
                <a:solidFill>
                  <a:srgbClr val="3B4540"/>
                </a:solidFill>
                <a:latin typeface="Fraunces Extra Bold" pitchFamily="34" charset="0"/>
                <a:ea typeface="Fraunces Extra Bold" pitchFamily="34" charset="-122"/>
                <a:cs typeface="Fraunces Extra Bold" pitchFamily="34" charset="-120"/>
              </a:rPr>
              <a:t>Role-Based Access Control Matrix</a:t>
            </a:r>
            <a:endParaRPr lang="en-US" sz="3350" dirty="0"/>
          </a:p>
        </p:txBody>
      </p:sp>
      <p:sp>
        <p:nvSpPr>
          <p:cNvPr id="3" name="Text 1">
            <a:extLst>
              <a:ext uri="{FF2B5EF4-FFF2-40B4-BE49-F238E27FC236}">
                <a16:creationId xmlns:a16="http://schemas.microsoft.com/office/drawing/2014/main" id="{1F21B692-EE6D-4188-95D4-6A71C4FB6388}"/>
              </a:ext>
            </a:extLst>
          </p:cNvPr>
          <p:cNvSpPr/>
          <p:nvPr/>
        </p:nvSpPr>
        <p:spPr>
          <a:xfrm>
            <a:off x="684252" y="1611630"/>
            <a:ext cx="13261896" cy="509588"/>
          </a:xfrm>
          <a:prstGeom prst="rect">
            <a:avLst/>
          </a:prstGeom>
          <a:noFill/>
          <a:ln/>
        </p:spPr>
        <p:txBody>
          <a:bodyPr wrap="squar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To ensure data security and operational efficiency, AcciSure implements a robust Role-Based Access Control (RBAC) system. The following matrix outlines the key actions each role can perform within the platform.</a:t>
            </a:r>
            <a:endParaRPr lang="en-US" sz="1300" dirty="0"/>
          </a:p>
        </p:txBody>
      </p:sp>
      <p:sp>
        <p:nvSpPr>
          <p:cNvPr id="4" name="Shape 2">
            <a:extLst>
              <a:ext uri="{FF2B5EF4-FFF2-40B4-BE49-F238E27FC236}">
                <a16:creationId xmlns:a16="http://schemas.microsoft.com/office/drawing/2014/main" id="{A18F3EFF-BE33-C4F6-DC6D-1FB15D00BDCD}"/>
              </a:ext>
            </a:extLst>
          </p:cNvPr>
          <p:cNvSpPr/>
          <p:nvPr/>
        </p:nvSpPr>
        <p:spPr>
          <a:xfrm>
            <a:off x="684252" y="2287072"/>
            <a:ext cx="13261896" cy="4484846"/>
          </a:xfrm>
          <a:prstGeom prst="roundRect">
            <a:avLst>
              <a:gd name="adj" fmla="val 3433"/>
            </a:avLst>
          </a:prstGeom>
          <a:noFill/>
          <a:ln w="7620">
            <a:solidFill>
              <a:srgbClr val="000000">
                <a:alpha val="8000"/>
              </a:srgbClr>
            </a:solidFill>
            <a:prstDash val="solid"/>
          </a:ln>
        </p:spPr>
        <p:txBody>
          <a:bodyPr/>
          <a:lstStyle/>
          <a:p>
            <a:endParaRPr lang="en-IN"/>
          </a:p>
        </p:txBody>
      </p:sp>
      <p:sp>
        <p:nvSpPr>
          <p:cNvPr id="5" name="Shape 3">
            <a:extLst>
              <a:ext uri="{FF2B5EF4-FFF2-40B4-BE49-F238E27FC236}">
                <a16:creationId xmlns:a16="http://schemas.microsoft.com/office/drawing/2014/main" id="{69BBA4E5-693E-F1C6-9C02-073B3E4F741E}"/>
              </a:ext>
            </a:extLst>
          </p:cNvPr>
          <p:cNvSpPr/>
          <p:nvPr/>
        </p:nvSpPr>
        <p:spPr>
          <a:xfrm>
            <a:off x="691872" y="2294692"/>
            <a:ext cx="13246656" cy="446961"/>
          </a:xfrm>
          <a:prstGeom prst="rect">
            <a:avLst/>
          </a:prstGeom>
          <a:solidFill>
            <a:srgbClr val="FFFFFF">
              <a:alpha val="4000"/>
            </a:srgbClr>
          </a:solidFill>
          <a:ln/>
        </p:spPr>
        <p:txBody>
          <a:bodyPr/>
          <a:lstStyle/>
          <a:p>
            <a:endParaRPr lang="en-IN"/>
          </a:p>
        </p:txBody>
      </p:sp>
      <p:sp>
        <p:nvSpPr>
          <p:cNvPr id="6" name="Text 4">
            <a:extLst>
              <a:ext uri="{FF2B5EF4-FFF2-40B4-BE49-F238E27FC236}">
                <a16:creationId xmlns:a16="http://schemas.microsoft.com/office/drawing/2014/main" id="{F1AB1C76-6D5C-FED9-A069-9A3C142AB9DB}"/>
              </a:ext>
            </a:extLst>
          </p:cNvPr>
          <p:cNvSpPr/>
          <p:nvPr/>
        </p:nvSpPr>
        <p:spPr>
          <a:xfrm>
            <a:off x="863203" y="2390775"/>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Action</a:t>
            </a:r>
            <a:endParaRPr lang="en-US" sz="1300" dirty="0"/>
          </a:p>
        </p:txBody>
      </p:sp>
      <p:sp>
        <p:nvSpPr>
          <p:cNvPr id="7" name="Text 5">
            <a:extLst>
              <a:ext uri="{FF2B5EF4-FFF2-40B4-BE49-F238E27FC236}">
                <a16:creationId xmlns:a16="http://schemas.microsoft.com/office/drawing/2014/main" id="{7FD8C48D-F224-E639-5543-D4DC6818C5F3}"/>
              </a:ext>
            </a:extLst>
          </p:cNvPr>
          <p:cNvSpPr/>
          <p:nvPr/>
        </p:nvSpPr>
        <p:spPr>
          <a:xfrm>
            <a:off x="3516273" y="2390775"/>
            <a:ext cx="2299692" cy="254794"/>
          </a:xfrm>
          <a:prstGeom prst="rect">
            <a:avLst/>
          </a:prstGeom>
          <a:noFill/>
          <a:ln/>
        </p:spPr>
        <p:txBody>
          <a:bodyPr wrap="none" lIns="0" tIns="0" rIns="0" bIns="0" rtlCol="0" anchor="t"/>
          <a:lstStyle/>
          <a:p>
            <a:pPr marL="0" indent="0" algn="l">
              <a:lnSpc>
                <a:spcPts val="2000"/>
              </a:lnSpc>
              <a:buNone/>
            </a:pPr>
            <a:r>
              <a:rPr lang="en-US" sz="1300" b="1" dirty="0">
                <a:solidFill>
                  <a:srgbClr val="405449"/>
                </a:solidFill>
                <a:latin typeface="Nobile" pitchFamily="34" charset="0"/>
                <a:ea typeface="Nobile" pitchFamily="34" charset="-122"/>
                <a:cs typeface="Nobile" pitchFamily="34" charset="-120"/>
              </a:rPr>
              <a:t>Admin</a:t>
            </a:r>
            <a:endParaRPr lang="en-US" sz="1300" dirty="0"/>
          </a:p>
        </p:txBody>
      </p:sp>
      <p:sp>
        <p:nvSpPr>
          <p:cNvPr id="8" name="Text 6">
            <a:extLst>
              <a:ext uri="{FF2B5EF4-FFF2-40B4-BE49-F238E27FC236}">
                <a16:creationId xmlns:a16="http://schemas.microsoft.com/office/drawing/2014/main" id="{ABF192EC-52B5-BF79-1871-442FE2CD9F5A}"/>
              </a:ext>
            </a:extLst>
          </p:cNvPr>
          <p:cNvSpPr/>
          <p:nvPr/>
        </p:nvSpPr>
        <p:spPr>
          <a:xfrm>
            <a:off x="6165533" y="2390775"/>
            <a:ext cx="2299692" cy="254794"/>
          </a:xfrm>
          <a:prstGeom prst="rect">
            <a:avLst/>
          </a:prstGeom>
          <a:noFill/>
          <a:ln/>
        </p:spPr>
        <p:txBody>
          <a:bodyPr wrap="none" lIns="0" tIns="0" rIns="0" bIns="0" rtlCol="0" anchor="t"/>
          <a:lstStyle/>
          <a:p>
            <a:pPr marL="0" indent="0" algn="l">
              <a:lnSpc>
                <a:spcPts val="2000"/>
              </a:lnSpc>
              <a:buNone/>
            </a:pPr>
            <a:r>
              <a:rPr lang="en-US" sz="1300" b="1" dirty="0">
                <a:solidFill>
                  <a:srgbClr val="405449"/>
                </a:solidFill>
                <a:latin typeface="Nobile" pitchFamily="34" charset="0"/>
                <a:ea typeface="Nobile" pitchFamily="34" charset="-122"/>
                <a:cs typeface="Nobile" pitchFamily="34" charset="-120"/>
              </a:rPr>
              <a:t>Customer</a:t>
            </a:r>
            <a:endParaRPr lang="en-US" sz="1300" dirty="0"/>
          </a:p>
        </p:txBody>
      </p:sp>
      <p:sp>
        <p:nvSpPr>
          <p:cNvPr id="9" name="Text 7">
            <a:extLst>
              <a:ext uri="{FF2B5EF4-FFF2-40B4-BE49-F238E27FC236}">
                <a16:creationId xmlns:a16="http://schemas.microsoft.com/office/drawing/2014/main" id="{D6FF90F9-1E8C-4E21-2537-119AEAD67425}"/>
              </a:ext>
            </a:extLst>
          </p:cNvPr>
          <p:cNvSpPr/>
          <p:nvPr/>
        </p:nvSpPr>
        <p:spPr>
          <a:xfrm>
            <a:off x="8814792" y="2390775"/>
            <a:ext cx="2299692" cy="254794"/>
          </a:xfrm>
          <a:prstGeom prst="rect">
            <a:avLst/>
          </a:prstGeom>
          <a:noFill/>
          <a:ln/>
        </p:spPr>
        <p:txBody>
          <a:bodyPr wrap="none" lIns="0" tIns="0" rIns="0" bIns="0" rtlCol="0" anchor="t"/>
          <a:lstStyle/>
          <a:p>
            <a:pPr marL="0" indent="0" algn="l">
              <a:lnSpc>
                <a:spcPts val="2000"/>
              </a:lnSpc>
              <a:buNone/>
            </a:pPr>
            <a:r>
              <a:rPr lang="en-US" sz="1300" b="1" dirty="0">
                <a:solidFill>
                  <a:srgbClr val="405449"/>
                </a:solidFill>
                <a:latin typeface="Nobile" pitchFamily="34" charset="0"/>
                <a:ea typeface="Nobile" pitchFamily="34" charset="-122"/>
                <a:cs typeface="Nobile" pitchFamily="34" charset="-120"/>
              </a:rPr>
              <a:t>Agent</a:t>
            </a:r>
            <a:endParaRPr lang="en-US" sz="1300" dirty="0"/>
          </a:p>
        </p:txBody>
      </p:sp>
      <p:sp>
        <p:nvSpPr>
          <p:cNvPr id="10" name="Text 8">
            <a:extLst>
              <a:ext uri="{FF2B5EF4-FFF2-40B4-BE49-F238E27FC236}">
                <a16:creationId xmlns:a16="http://schemas.microsoft.com/office/drawing/2014/main" id="{80F65697-BBA6-18EA-E838-28F17792B723}"/>
              </a:ext>
            </a:extLst>
          </p:cNvPr>
          <p:cNvSpPr/>
          <p:nvPr/>
        </p:nvSpPr>
        <p:spPr>
          <a:xfrm>
            <a:off x="11464052" y="2390775"/>
            <a:ext cx="2303502" cy="254794"/>
          </a:xfrm>
          <a:prstGeom prst="rect">
            <a:avLst/>
          </a:prstGeom>
          <a:noFill/>
          <a:ln/>
        </p:spPr>
        <p:txBody>
          <a:bodyPr wrap="none" lIns="0" tIns="0" rIns="0" bIns="0" rtlCol="0" anchor="t"/>
          <a:lstStyle/>
          <a:p>
            <a:pPr marL="0" indent="0" algn="l">
              <a:lnSpc>
                <a:spcPts val="2000"/>
              </a:lnSpc>
              <a:buNone/>
            </a:pPr>
            <a:r>
              <a:rPr lang="en-US" sz="1300" b="1" dirty="0">
                <a:solidFill>
                  <a:srgbClr val="405449"/>
                </a:solidFill>
                <a:latin typeface="Nobile" pitchFamily="34" charset="0"/>
                <a:ea typeface="Nobile" pitchFamily="34" charset="-122"/>
                <a:cs typeface="Nobile" pitchFamily="34" charset="-120"/>
              </a:rPr>
              <a:t>Claims Officer</a:t>
            </a:r>
            <a:endParaRPr lang="en-US" sz="1300" dirty="0"/>
          </a:p>
        </p:txBody>
      </p:sp>
      <p:sp>
        <p:nvSpPr>
          <p:cNvPr id="11" name="Shape 9">
            <a:extLst>
              <a:ext uri="{FF2B5EF4-FFF2-40B4-BE49-F238E27FC236}">
                <a16:creationId xmlns:a16="http://schemas.microsoft.com/office/drawing/2014/main" id="{26CFF8DE-9448-87DB-6E4C-DCC04B6CD99D}"/>
              </a:ext>
            </a:extLst>
          </p:cNvPr>
          <p:cNvSpPr/>
          <p:nvPr/>
        </p:nvSpPr>
        <p:spPr>
          <a:xfrm>
            <a:off x="691872" y="2741652"/>
            <a:ext cx="13246656" cy="446961"/>
          </a:xfrm>
          <a:prstGeom prst="rect">
            <a:avLst/>
          </a:prstGeom>
          <a:solidFill>
            <a:srgbClr val="000000">
              <a:alpha val="4000"/>
            </a:srgbClr>
          </a:solidFill>
          <a:ln/>
        </p:spPr>
        <p:txBody>
          <a:bodyPr/>
          <a:lstStyle/>
          <a:p>
            <a:endParaRPr lang="en-IN"/>
          </a:p>
        </p:txBody>
      </p:sp>
      <p:sp>
        <p:nvSpPr>
          <p:cNvPr id="12" name="Text 10">
            <a:extLst>
              <a:ext uri="{FF2B5EF4-FFF2-40B4-BE49-F238E27FC236}">
                <a16:creationId xmlns:a16="http://schemas.microsoft.com/office/drawing/2014/main" id="{C1D555C3-0AEB-19E0-C095-137D93A70407}"/>
              </a:ext>
            </a:extLst>
          </p:cNvPr>
          <p:cNvSpPr/>
          <p:nvPr/>
        </p:nvSpPr>
        <p:spPr>
          <a:xfrm>
            <a:off x="863203" y="2837736"/>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Create Policy</a:t>
            </a:r>
            <a:endParaRPr lang="en-US" sz="1300" dirty="0"/>
          </a:p>
        </p:txBody>
      </p:sp>
      <p:sp>
        <p:nvSpPr>
          <p:cNvPr id="13" name="Text 11">
            <a:extLst>
              <a:ext uri="{FF2B5EF4-FFF2-40B4-BE49-F238E27FC236}">
                <a16:creationId xmlns:a16="http://schemas.microsoft.com/office/drawing/2014/main" id="{A37FE583-26E0-D79F-36ED-3144B39001B5}"/>
              </a:ext>
            </a:extLst>
          </p:cNvPr>
          <p:cNvSpPr/>
          <p:nvPr/>
        </p:nvSpPr>
        <p:spPr>
          <a:xfrm>
            <a:off x="3516273" y="2837736"/>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14" name="Text 12">
            <a:extLst>
              <a:ext uri="{FF2B5EF4-FFF2-40B4-BE49-F238E27FC236}">
                <a16:creationId xmlns:a16="http://schemas.microsoft.com/office/drawing/2014/main" id="{3EAEC518-E4FA-973C-710C-BBAEF1DAC6EB}"/>
              </a:ext>
            </a:extLst>
          </p:cNvPr>
          <p:cNvSpPr/>
          <p:nvPr/>
        </p:nvSpPr>
        <p:spPr>
          <a:xfrm>
            <a:off x="6165533" y="2837736"/>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15" name="Text 13">
            <a:extLst>
              <a:ext uri="{FF2B5EF4-FFF2-40B4-BE49-F238E27FC236}">
                <a16:creationId xmlns:a16="http://schemas.microsoft.com/office/drawing/2014/main" id="{835F1B31-0EA4-CBFD-E3E7-4F856888E48C}"/>
              </a:ext>
            </a:extLst>
          </p:cNvPr>
          <p:cNvSpPr/>
          <p:nvPr/>
        </p:nvSpPr>
        <p:spPr>
          <a:xfrm>
            <a:off x="8814792" y="2837736"/>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16" name="Text 14">
            <a:extLst>
              <a:ext uri="{FF2B5EF4-FFF2-40B4-BE49-F238E27FC236}">
                <a16:creationId xmlns:a16="http://schemas.microsoft.com/office/drawing/2014/main" id="{048D84BC-D083-9E13-E541-3D598C5DD20F}"/>
              </a:ext>
            </a:extLst>
          </p:cNvPr>
          <p:cNvSpPr/>
          <p:nvPr/>
        </p:nvSpPr>
        <p:spPr>
          <a:xfrm>
            <a:off x="11464052" y="2837736"/>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17" name="Shape 15">
            <a:extLst>
              <a:ext uri="{FF2B5EF4-FFF2-40B4-BE49-F238E27FC236}">
                <a16:creationId xmlns:a16="http://schemas.microsoft.com/office/drawing/2014/main" id="{DD74D509-CEFF-8A0C-1955-97669627996E}"/>
              </a:ext>
            </a:extLst>
          </p:cNvPr>
          <p:cNvSpPr/>
          <p:nvPr/>
        </p:nvSpPr>
        <p:spPr>
          <a:xfrm>
            <a:off x="691872" y="3188613"/>
            <a:ext cx="13246656" cy="446961"/>
          </a:xfrm>
          <a:prstGeom prst="rect">
            <a:avLst/>
          </a:prstGeom>
          <a:solidFill>
            <a:srgbClr val="FFFFFF">
              <a:alpha val="4000"/>
            </a:srgbClr>
          </a:solidFill>
          <a:ln/>
        </p:spPr>
        <p:txBody>
          <a:bodyPr/>
          <a:lstStyle/>
          <a:p>
            <a:endParaRPr lang="en-IN"/>
          </a:p>
        </p:txBody>
      </p:sp>
      <p:sp>
        <p:nvSpPr>
          <p:cNvPr id="18" name="Text 16">
            <a:extLst>
              <a:ext uri="{FF2B5EF4-FFF2-40B4-BE49-F238E27FC236}">
                <a16:creationId xmlns:a16="http://schemas.microsoft.com/office/drawing/2014/main" id="{06CF0E5E-17EC-1E38-E2AF-25B966E32971}"/>
              </a:ext>
            </a:extLst>
          </p:cNvPr>
          <p:cNvSpPr/>
          <p:nvPr/>
        </p:nvSpPr>
        <p:spPr>
          <a:xfrm>
            <a:off x="863203" y="3284696"/>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View Policies</a:t>
            </a:r>
            <a:endParaRPr lang="en-US" sz="1300" dirty="0"/>
          </a:p>
        </p:txBody>
      </p:sp>
      <p:sp>
        <p:nvSpPr>
          <p:cNvPr id="19" name="Text 17">
            <a:extLst>
              <a:ext uri="{FF2B5EF4-FFF2-40B4-BE49-F238E27FC236}">
                <a16:creationId xmlns:a16="http://schemas.microsoft.com/office/drawing/2014/main" id="{229E18F4-4847-4923-60ED-9C8B06417D83}"/>
              </a:ext>
            </a:extLst>
          </p:cNvPr>
          <p:cNvSpPr/>
          <p:nvPr/>
        </p:nvSpPr>
        <p:spPr>
          <a:xfrm>
            <a:off x="3516273" y="3284696"/>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20" name="Text 18">
            <a:extLst>
              <a:ext uri="{FF2B5EF4-FFF2-40B4-BE49-F238E27FC236}">
                <a16:creationId xmlns:a16="http://schemas.microsoft.com/office/drawing/2014/main" id="{B1007685-8C71-AEFE-D06B-472D1ABC0DE7}"/>
              </a:ext>
            </a:extLst>
          </p:cNvPr>
          <p:cNvSpPr/>
          <p:nvPr/>
        </p:nvSpPr>
        <p:spPr>
          <a:xfrm>
            <a:off x="6165533" y="3284696"/>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21" name="Text 19">
            <a:extLst>
              <a:ext uri="{FF2B5EF4-FFF2-40B4-BE49-F238E27FC236}">
                <a16:creationId xmlns:a16="http://schemas.microsoft.com/office/drawing/2014/main" id="{C1EE23A3-340B-D929-7726-70411E04BBC2}"/>
              </a:ext>
            </a:extLst>
          </p:cNvPr>
          <p:cNvSpPr/>
          <p:nvPr/>
        </p:nvSpPr>
        <p:spPr>
          <a:xfrm>
            <a:off x="8814792" y="3284696"/>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22" name="Text 20">
            <a:extLst>
              <a:ext uri="{FF2B5EF4-FFF2-40B4-BE49-F238E27FC236}">
                <a16:creationId xmlns:a16="http://schemas.microsoft.com/office/drawing/2014/main" id="{9478A11B-49EF-5648-B62A-5F1114CBCA22}"/>
              </a:ext>
            </a:extLst>
          </p:cNvPr>
          <p:cNvSpPr/>
          <p:nvPr/>
        </p:nvSpPr>
        <p:spPr>
          <a:xfrm>
            <a:off x="11464052" y="3284696"/>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23" name="Shape 21">
            <a:extLst>
              <a:ext uri="{FF2B5EF4-FFF2-40B4-BE49-F238E27FC236}">
                <a16:creationId xmlns:a16="http://schemas.microsoft.com/office/drawing/2014/main" id="{588F2C14-6DF8-9A93-A921-B9D21ADED91B}"/>
              </a:ext>
            </a:extLst>
          </p:cNvPr>
          <p:cNvSpPr/>
          <p:nvPr/>
        </p:nvSpPr>
        <p:spPr>
          <a:xfrm>
            <a:off x="691872" y="3635573"/>
            <a:ext cx="13246656" cy="446961"/>
          </a:xfrm>
          <a:prstGeom prst="rect">
            <a:avLst/>
          </a:prstGeom>
          <a:solidFill>
            <a:srgbClr val="000000">
              <a:alpha val="4000"/>
            </a:srgbClr>
          </a:solidFill>
          <a:ln/>
        </p:spPr>
        <p:txBody>
          <a:bodyPr/>
          <a:lstStyle/>
          <a:p>
            <a:endParaRPr lang="en-IN"/>
          </a:p>
        </p:txBody>
      </p:sp>
      <p:sp>
        <p:nvSpPr>
          <p:cNvPr id="24" name="Text 22">
            <a:extLst>
              <a:ext uri="{FF2B5EF4-FFF2-40B4-BE49-F238E27FC236}">
                <a16:creationId xmlns:a16="http://schemas.microsoft.com/office/drawing/2014/main" id="{39538B6D-4E54-B2CD-0119-742B7B4AF154}"/>
              </a:ext>
            </a:extLst>
          </p:cNvPr>
          <p:cNvSpPr/>
          <p:nvPr/>
        </p:nvSpPr>
        <p:spPr>
          <a:xfrm>
            <a:off x="863203" y="3731657"/>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Apply for Policy</a:t>
            </a:r>
            <a:endParaRPr lang="en-US" sz="1300" dirty="0"/>
          </a:p>
        </p:txBody>
      </p:sp>
      <p:sp>
        <p:nvSpPr>
          <p:cNvPr id="25" name="Text 23">
            <a:extLst>
              <a:ext uri="{FF2B5EF4-FFF2-40B4-BE49-F238E27FC236}">
                <a16:creationId xmlns:a16="http://schemas.microsoft.com/office/drawing/2014/main" id="{EE4F4393-4810-415D-5A8D-57A5EC7878BE}"/>
              </a:ext>
            </a:extLst>
          </p:cNvPr>
          <p:cNvSpPr/>
          <p:nvPr/>
        </p:nvSpPr>
        <p:spPr>
          <a:xfrm>
            <a:off x="3516273" y="3731657"/>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26" name="Text 24">
            <a:extLst>
              <a:ext uri="{FF2B5EF4-FFF2-40B4-BE49-F238E27FC236}">
                <a16:creationId xmlns:a16="http://schemas.microsoft.com/office/drawing/2014/main" id="{B7F539F4-CE30-86EA-BB57-64902239F632}"/>
              </a:ext>
            </a:extLst>
          </p:cNvPr>
          <p:cNvSpPr/>
          <p:nvPr/>
        </p:nvSpPr>
        <p:spPr>
          <a:xfrm>
            <a:off x="6165533" y="3731657"/>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27" name="Text 25">
            <a:extLst>
              <a:ext uri="{FF2B5EF4-FFF2-40B4-BE49-F238E27FC236}">
                <a16:creationId xmlns:a16="http://schemas.microsoft.com/office/drawing/2014/main" id="{EEA8FCB9-7958-8D8B-0C0B-779FD28C1E8F}"/>
              </a:ext>
            </a:extLst>
          </p:cNvPr>
          <p:cNvSpPr/>
          <p:nvPr/>
        </p:nvSpPr>
        <p:spPr>
          <a:xfrm>
            <a:off x="8814792" y="3731657"/>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28" name="Text 26">
            <a:extLst>
              <a:ext uri="{FF2B5EF4-FFF2-40B4-BE49-F238E27FC236}">
                <a16:creationId xmlns:a16="http://schemas.microsoft.com/office/drawing/2014/main" id="{355642E5-1D2D-68DD-425C-D8C919793ACC}"/>
              </a:ext>
            </a:extLst>
          </p:cNvPr>
          <p:cNvSpPr/>
          <p:nvPr/>
        </p:nvSpPr>
        <p:spPr>
          <a:xfrm>
            <a:off x="11464052" y="3731657"/>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29" name="Shape 27">
            <a:extLst>
              <a:ext uri="{FF2B5EF4-FFF2-40B4-BE49-F238E27FC236}">
                <a16:creationId xmlns:a16="http://schemas.microsoft.com/office/drawing/2014/main" id="{FA844BD4-FC29-69F5-EB5B-50143B3866EC}"/>
              </a:ext>
            </a:extLst>
          </p:cNvPr>
          <p:cNvSpPr/>
          <p:nvPr/>
        </p:nvSpPr>
        <p:spPr>
          <a:xfrm>
            <a:off x="691872" y="4082534"/>
            <a:ext cx="13246656" cy="446961"/>
          </a:xfrm>
          <a:prstGeom prst="rect">
            <a:avLst/>
          </a:prstGeom>
          <a:solidFill>
            <a:srgbClr val="FFFFFF">
              <a:alpha val="4000"/>
            </a:srgbClr>
          </a:solidFill>
          <a:ln/>
        </p:spPr>
        <p:txBody>
          <a:bodyPr/>
          <a:lstStyle/>
          <a:p>
            <a:endParaRPr lang="en-IN"/>
          </a:p>
        </p:txBody>
      </p:sp>
      <p:sp>
        <p:nvSpPr>
          <p:cNvPr id="30" name="Text 28">
            <a:extLst>
              <a:ext uri="{FF2B5EF4-FFF2-40B4-BE49-F238E27FC236}">
                <a16:creationId xmlns:a16="http://schemas.microsoft.com/office/drawing/2014/main" id="{73089EC2-F461-DEC8-2C2A-D7EF1A681B6B}"/>
              </a:ext>
            </a:extLst>
          </p:cNvPr>
          <p:cNvSpPr/>
          <p:nvPr/>
        </p:nvSpPr>
        <p:spPr>
          <a:xfrm>
            <a:off x="863203" y="4178617"/>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Approve Policy</a:t>
            </a:r>
            <a:endParaRPr lang="en-US" sz="1300" dirty="0"/>
          </a:p>
        </p:txBody>
      </p:sp>
      <p:sp>
        <p:nvSpPr>
          <p:cNvPr id="31" name="Text 29">
            <a:extLst>
              <a:ext uri="{FF2B5EF4-FFF2-40B4-BE49-F238E27FC236}">
                <a16:creationId xmlns:a16="http://schemas.microsoft.com/office/drawing/2014/main" id="{1010C035-E1B2-A3A5-6435-FDF10A5E052C}"/>
              </a:ext>
            </a:extLst>
          </p:cNvPr>
          <p:cNvSpPr/>
          <p:nvPr/>
        </p:nvSpPr>
        <p:spPr>
          <a:xfrm>
            <a:off x="3516273" y="4178617"/>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32" name="Text 30">
            <a:extLst>
              <a:ext uri="{FF2B5EF4-FFF2-40B4-BE49-F238E27FC236}">
                <a16:creationId xmlns:a16="http://schemas.microsoft.com/office/drawing/2014/main" id="{8D5E4449-D9B5-F7EF-9876-30C0525F965C}"/>
              </a:ext>
            </a:extLst>
          </p:cNvPr>
          <p:cNvSpPr/>
          <p:nvPr/>
        </p:nvSpPr>
        <p:spPr>
          <a:xfrm>
            <a:off x="6165533" y="4178617"/>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33" name="Text 31">
            <a:extLst>
              <a:ext uri="{FF2B5EF4-FFF2-40B4-BE49-F238E27FC236}">
                <a16:creationId xmlns:a16="http://schemas.microsoft.com/office/drawing/2014/main" id="{2CDB5BB9-32DB-5787-D7F9-EE61379F4B32}"/>
              </a:ext>
            </a:extLst>
          </p:cNvPr>
          <p:cNvSpPr/>
          <p:nvPr/>
        </p:nvSpPr>
        <p:spPr>
          <a:xfrm>
            <a:off x="8814792" y="4178617"/>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34" name="Text 32">
            <a:extLst>
              <a:ext uri="{FF2B5EF4-FFF2-40B4-BE49-F238E27FC236}">
                <a16:creationId xmlns:a16="http://schemas.microsoft.com/office/drawing/2014/main" id="{2E23A170-98E3-B669-0CBB-86FCA6902913}"/>
              </a:ext>
            </a:extLst>
          </p:cNvPr>
          <p:cNvSpPr/>
          <p:nvPr/>
        </p:nvSpPr>
        <p:spPr>
          <a:xfrm>
            <a:off x="11464052" y="4178617"/>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35" name="Shape 33">
            <a:extLst>
              <a:ext uri="{FF2B5EF4-FFF2-40B4-BE49-F238E27FC236}">
                <a16:creationId xmlns:a16="http://schemas.microsoft.com/office/drawing/2014/main" id="{22FDD9FA-DF03-0FE3-D8ED-E59F1B8E919B}"/>
              </a:ext>
            </a:extLst>
          </p:cNvPr>
          <p:cNvSpPr/>
          <p:nvPr/>
        </p:nvSpPr>
        <p:spPr>
          <a:xfrm>
            <a:off x="691872" y="4529495"/>
            <a:ext cx="13246656" cy="446961"/>
          </a:xfrm>
          <a:prstGeom prst="rect">
            <a:avLst/>
          </a:prstGeom>
          <a:solidFill>
            <a:srgbClr val="000000">
              <a:alpha val="4000"/>
            </a:srgbClr>
          </a:solidFill>
          <a:ln/>
        </p:spPr>
        <p:txBody>
          <a:bodyPr/>
          <a:lstStyle/>
          <a:p>
            <a:endParaRPr lang="en-IN"/>
          </a:p>
        </p:txBody>
      </p:sp>
      <p:sp>
        <p:nvSpPr>
          <p:cNvPr id="36" name="Text 34">
            <a:extLst>
              <a:ext uri="{FF2B5EF4-FFF2-40B4-BE49-F238E27FC236}">
                <a16:creationId xmlns:a16="http://schemas.microsoft.com/office/drawing/2014/main" id="{B613BC75-9BDB-1A8C-59CB-0D22B8E23FC2}"/>
              </a:ext>
            </a:extLst>
          </p:cNvPr>
          <p:cNvSpPr/>
          <p:nvPr/>
        </p:nvSpPr>
        <p:spPr>
          <a:xfrm>
            <a:off x="863203" y="4625578"/>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Raise Claim</a:t>
            </a:r>
            <a:endParaRPr lang="en-US" sz="1300" dirty="0"/>
          </a:p>
        </p:txBody>
      </p:sp>
      <p:sp>
        <p:nvSpPr>
          <p:cNvPr id="37" name="Text 35">
            <a:extLst>
              <a:ext uri="{FF2B5EF4-FFF2-40B4-BE49-F238E27FC236}">
                <a16:creationId xmlns:a16="http://schemas.microsoft.com/office/drawing/2014/main" id="{A7D4BDE0-FA1C-DA25-A918-F673A0F25790}"/>
              </a:ext>
            </a:extLst>
          </p:cNvPr>
          <p:cNvSpPr/>
          <p:nvPr/>
        </p:nvSpPr>
        <p:spPr>
          <a:xfrm>
            <a:off x="3516273" y="4625578"/>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38" name="Text 36">
            <a:extLst>
              <a:ext uri="{FF2B5EF4-FFF2-40B4-BE49-F238E27FC236}">
                <a16:creationId xmlns:a16="http://schemas.microsoft.com/office/drawing/2014/main" id="{EE0C84DD-3819-DB9E-074E-5FC42C2227AA}"/>
              </a:ext>
            </a:extLst>
          </p:cNvPr>
          <p:cNvSpPr/>
          <p:nvPr/>
        </p:nvSpPr>
        <p:spPr>
          <a:xfrm>
            <a:off x="6165533" y="4625578"/>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39" name="Text 37">
            <a:extLst>
              <a:ext uri="{FF2B5EF4-FFF2-40B4-BE49-F238E27FC236}">
                <a16:creationId xmlns:a16="http://schemas.microsoft.com/office/drawing/2014/main" id="{6A3BDAAE-8F69-276E-5518-36F70972F0CC}"/>
              </a:ext>
            </a:extLst>
          </p:cNvPr>
          <p:cNvSpPr/>
          <p:nvPr/>
        </p:nvSpPr>
        <p:spPr>
          <a:xfrm>
            <a:off x="8814792" y="4625578"/>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40" name="Text 38">
            <a:extLst>
              <a:ext uri="{FF2B5EF4-FFF2-40B4-BE49-F238E27FC236}">
                <a16:creationId xmlns:a16="http://schemas.microsoft.com/office/drawing/2014/main" id="{D8BE526E-497D-719F-6DFB-0FBB931BDDA5}"/>
              </a:ext>
            </a:extLst>
          </p:cNvPr>
          <p:cNvSpPr/>
          <p:nvPr/>
        </p:nvSpPr>
        <p:spPr>
          <a:xfrm>
            <a:off x="11464052" y="4625578"/>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41" name="Shape 39">
            <a:extLst>
              <a:ext uri="{FF2B5EF4-FFF2-40B4-BE49-F238E27FC236}">
                <a16:creationId xmlns:a16="http://schemas.microsoft.com/office/drawing/2014/main" id="{B0734835-2A78-3B99-6ECC-E1439A8E3FA7}"/>
              </a:ext>
            </a:extLst>
          </p:cNvPr>
          <p:cNvSpPr/>
          <p:nvPr/>
        </p:nvSpPr>
        <p:spPr>
          <a:xfrm>
            <a:off x="691872" y="4976455"/>
            <a:ext cx="13246656" cy="446961"/>
          </a:xfrm>
          <a:prstGeom prst="rect">
            <a:avLst/>
          </a:prstGeom>
          <a:solidFill>
            <a:srgbClr val="FFFFFF">
              <a:alpha val="4000"/>
            </a:srgbClr>
          </a:solidFill>
          <a:ln/>
        </p:spPr>
        <p:txBody>
          <a:bodyPr/>
          <a:lstStyle/>
          <a:p>
            <a:endParaRPr lang="en-IN"/>
          </a:p>
        </p:txBody>
      </p:sp>
      <p:sp>
        <p:nvSpPr>
          <p:cNvPr id="42" name="Text 40">
            <a:extLst>
              <a:ext uri="{FF2B5EF4-FFF2-40B4-BE49-F238E27FC236}">
                <a16:creationId xmlns:a16="http://schemas.microsoft.com/office/drawing/2014/main" id="{B00FB8F2-30A2-2A6A-39F0-D474CB749731}"/>
              </a:ext>
            </a:extLst>
          </p:cNvPr>
          <p:cNvSpPr/>
          <p:nvPr/>
        </p:nvSpPr>
        <p:spPr>
          <a:xfrm>
            <a:off x="863203" y="5072539"/>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Review Claim</a:t>
            </a:r>
            <a:endParaRPr lang="en-US" sz="1300" dirty="0"/>
          </a:p>
        </p:txBody>
      </p:sp>
      <p:sp>
        <p:nvSpPr>
          <p:cNvPr id="43" name="Text 41">
            <a:extLst>
              <a:ext uri="{FF2B5EF4-FFF2-40B4-BE49-F238E27FC236}">
                <a16:creationId xmlns:a16="http://schemas.microsoft.com/office/drawing/2014/main" id="{6CDDB784-2C6F-41A2-483A-9890886F12E3}"/>
              </a:ext>
            </a:extLst>
          </p:cNvPr>
          <p:cNvSpPr/>
          <p:nvPr/>
        </p:nvSpPr>
        <p:spPr>
          <a:xfrm>
            <a:off x="3516273" y="5072539"/>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44" name="Text 42">
            <a:extLst>
              <a:ext uri="{FF2B5EF4-FFF2-40B4-BE49-F238E27FC236}">
                <a16:creationId xmlns:a16="http://schemas.microsoft.com/office/drawing/2014/main" id="{39382D47-C461-43B0-B90E-F652E408EDBA}"/>
              </a:ext>
            </a:extLst>
          </p:cNvPr>
          <p:cNvSpPr/>
          <p:nvPr/>
        </p:nvSpPr>
        <p:spPr>
          <a:xfrm>
            <a:off x="6165533" y="5072539"/>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45" name="Text 43">
            <a:extLst>
              <a:ext uri="{FF2B5EF4-FFF2-40B4-BE49-F238E27FC236}">
                <a16:creationId xmlns:a16="http://schemas.microsoft.com/office/drawing/2014/main" id="{8DA04E8A-22EC-DEC6-147F-B9D00210B1B7}"/>
              </a:ext>
            </a:extLst>
          </p:cNvPr>
          <p:cNvSpPr/>
          <p:nvPr/>
        </p:nvSpPr>
        <p:spPr>
          <a:xfrm>
            <a:off x="8814792" y="5072539"/>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46" name="Text 44">
            <a:extLst>
              <a:ext uri="{FF2B5EF4-FFF2-40B4-BE49-F238E27FC236}">
                <a16:creationId xmlns:a16="http://schemas.microsoft.com/office/drawing/2014/main" id="{F68FCAF2-C946-E5EB-3D57-43A14C45CD2B}"/>
              </a:ext>
            </a:extLst>
          </p:cNvPr>
          <p:cNvSpPr/>
          <p:nvPr/>
        </p:nvSpPr>
        <p:spPr>
          <a:xfrm>
            <a:off x="11464052" y="5072539"/>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47" name="Shape 45">
            <a:extLst>
              <a:ext uri="{FF2B5EF4-FFF2-40B4-BE49-F238E27FC236}">
                <a16:creationId xmlns:a16="http://schemas.microsoft.com/office/drawing/2014/main" id="{E0FC9BB8-FCC4-808C-F116-6588F12FB93B}"/>
              </a:ext>
            </a:extLst>
          </p:cNvPr>
          <p:cNvSpPr/>
          <p:nvPr/>
        </p:nvSpPr>
        <p:spPr>
          <a:xfrm>
            <a:off x="691872" y="5423416"/>
            <a:ext cx="13246656" cy="446961"/>
          </a:xfrm>
          <a:prstGeom prst="rect">
            <a:avLst/>
          </a:prstGeom>
          <a:solidFill>
            <a:srgbClr val="000000">
              <a:alpha val="4000"/>
            </a:srgbClr>
          </a:solidFill>
          <a:ln/>
        </p:spPr>
        <p:txBody>
          <a:bodyPr/>
          <a:lstStyle/>
          <a:p>
            <a:endParaRPr lang="en-IN"/>
          </a:p>
        </p:txBody>
      </p:sp>
      <p:sp>
        <p:nvSpPr>
          <p:cNvPr id="48" name="Text 46">
            <a:extLst>
              <a:ext uri="{FF2B5EF4-FFF2-40B4-BE49-F238E27FC236}">
                <a16:creationId xmlns:a16="http://schemas.microsoft.com/office/drawing/2014/main" id="{B370CBD0-DFC9-130E-5C91-9A5AF9E6E2D7}"/>
              </a:ext>
            </a:extLst>
          </p:cNvPr>
          <p:cNvSpPr/>
          <p:nvPr/>
        </p:nvSpPr>
        <p:spPr>
          <a:xfrm>
            <a:off x="863203" y="5519499"/>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Chat with Users</a:t>
            </a:r>
            <a:endParaRPr lang="en-US" sz="1300" dirty="0"/>
          </a:p>
        </p:txBody>
      </p:sp>
      <p:sp>
        <p:nvSpPr>
          <p:cNvPr id="49" name="Text 47">
            <a:extLst>
              <a:ext uri="{FF2B5EF4-FFF2-40B4-BE49-F238E27FC236}">
                <a16:creationId xmlns:a16="http://schemas.microsoft.com/office/drawing/2014/main" id="{A9B69C0D-951B-7205-FD81-522C94F1D804}"/>
              </a:ext>
            </a:extLst>
          </p:cNvPr>
          <p:cNvSpPr/>
          <p:nvPr/>
        </p:nvSpPr>
        <p:spPr>
          <a:xfrm>
            <a:off x="3516273" y="5519499"/>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50" name="Text 48">
            <a:extLst>
              <a:ext uri="{FF2B5EF4-FFF2-40B4-BE49-F238E27FC236}">
                <a16:creationId xmlns:a16="http://schemas.microsoft.com/office/drawing/2014/main" id="{D9961989-4A3F-7157-A2C2-21E41B2C261B}"/>
              </a:ext>
            </a:extLst>
          </p:cNvPr>
          <p:cNvSpPr/>
          <p:nvPr/>
        </p:nvSpPr>
        <p:spPr>
          <a:xfrm>
            <a:off x="6165533" y="5519499"/>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51" name="Text 49">
            <a:extLst>
              <a:ext uri="{FF2B5EF4-FFF2-40B4-BE49-F238E27FC236}">
                <a16:creationId xmlns:a16="http://schemas.microsoft.com/office/drawing/2014/main" id="{61D19296-3ED8-2840-F147-D30E36B5C276}"/>
              </a:ext>
            </a:extLst>
          </p:cNvPr>
          <p:cNvSpPr/>
          <p:nvPr/>
        </p:nvSpPr>
        <p:spPr>
          <a:xfrm>
            <a:off x="8814792" y="5519499"/>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52" name="Text 50">
            <a:extLst>
              <a:ext uri="{FF2B5EF4-FFF2-40B4-BE49-F238E27FC236}">
                <a16:creationId xmlns:a16="http://schemas.microsoft.com/office/drawing/2014/main" id="{E63A3B45-ED3F-C4A2-7B52-A7FEEC368A9C}"/>
              </a:ext>
            </a:extLst>
          </p:cNvPr>
          <p:cNvSpPr/>
          <p:nvPr/>
        </p:nvSpPr>
        <p:spPr>
          <a:xfrm>
            <a:off x="11464052" y="5519499"/>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53" name="Shape 51">
            <a:extLst>
              <a:ext uri="{FF2B5EF4-FFF2-40B4-BE49-F238E27FC236}">
                <a16:creationId xmlns:a16="http://schemas.microsoft.com/office/drawing/2014/main" id="{0310AD16-7A3A-37F8-680C-379ECECA7B06}"/>
              </a:ext>
            </a:extLst>
          </p:cNvPr>
          <p:cNvSpPr/>
          <p:nvPr/>
        </p:nvSpPr>
        <p:spPr>
          <a:xfrm>
            <a:off x="691872" y="5870377"/>
            <a:ext cx="13246656" cy="446961"/>
          </a:xfrm>
          <a:prstGeom prst="rect">
            <a:avLst/>
          </a:prstGeom>
          <a:solidFill>
            <a:srgbClr val="FFFFFF">
              <a:alpha val="4000"/>
            </a:srgbClr>
          </a:solidFill>
          <a:ln/>
        </p:spPr>
        <p:txBody>
          <a:bodyPr/>
          <a:lstStyle/>
          <a:p>
            <a:endParaRPr lang="en-IN"/>
          </a:p>
        </p:txBody>
      </p:sp>
      <p:sp>
        <p:nvSpPr>
          <p:cNvPr id="54" name="Text 52">
            <a:extLst>
              <a:ext uri="{FF2B5EF4-FFF2-40B4-BE49-F238E27FC236}">
                <a16:creationId xmlns:a16="http://schemas.microsoft.com/office/drawing/2014/main" id="{1C022EEB-C93F-A9AF-2C40-DF9C91FC871F}"/>
              </a:ext>
            </a:extLst>
          </p:cNvPr>
          <p:cNvSpPr/>
          <p:nvPr/>
        </p:nvSpPr>
        <p:spPr>
          <a:xfrm>
            <a:off x="863203" y="5966460"/>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Manage Users</a:t>
            </a:r>
            <a:endParaRPr lang="en-US" sz="1300" dirty="0"/>
          </a:p>
        </p:txBody>
      </p:sp>
      <p:sp>
        <p:nvSpPr>
          <p:cNvPr id="55" name="Text 53">
            <a:extLst>
              <a:ext uri="{FF2B5EF4-FFF2-40B4-BE49-F238E27FC236}">
                <a16:creationId xmlns:a16="http://schemas.microsoft.com/office/drawing/2014/main" id="{AE0AC0DD-306B-26E5-2C5E-0F1F4F2E74D5}"/>
              </a:ext>
            </a:extLst>
          </p:cNvPr>
          <p:cNvSpPr/>
          <p:nvPr/>
        </p:nvSpPr>
        <p:spPr>
          <a:xfrm>
            <a:off x="3516273" y="5966460"/>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56" name="Text 54">
            <a:extLst>
              <a:ext uri="{FF2B5EF4-FFF2-40B4-BE49-F238E27FC236}">
                <a16:creationId xmlns:a16="http://schemas.microsoft.com/office/drawing/2014/main" id="{81B3191B-E568-BC45-1BF7-461CBC54E19D}"/>
              </a:ext>
            </a:extLst>
          </p:cNvPr>
          <p:cNvSpPr/>
          <p:nvPr/>
        </p:nvSpPr>
        <p:spPr>
          <a:xfrm>
            <a:off x="6165533" y="5966460"/>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57" name="Text 55">
            <a:extLst>
              <a:ext uri="{FF2B5EF4-FFF2-40B4-BE49-F238E27FC236}">
                <a16:creationId xmlns:a16="http://schemas.microsoft.com/office/drawing/2014/main" id="{FF778873-DE98-22D9-7C4C-70A151930A1F}"/>
              </a:ext>
            </a:extLst>
          </p:cNvPr>
          <p:cNvSpPr/>
          <p:nvPr/>
        </p:nvSpPr>
        <p:spPr>
          <a:xfrm>
            <a:off x="8814792" y="5966460"/>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58" name="Text 56">
            <a:extLst>
              <a:ext uri="{FF2B5EF4-FFF2-40B4-BE49-F238E27FC236}">
                <a16:creationId xmlns:a16="http://schemas.microsoft.com/office/drawing/2014/main" id="{AD1F9CA6-9D71-572F-3C4C-79EB8B1D03B5}"/>
              </a:ext>
            </a:extLst>
          </p:cNvPr>
          <p:cNvSpPr/>
          <p:nvPr/>
        </p:nvSpPr>
        <p:spPr>
          <a:xfrm>
            <a:off x="11464052" y="5966460"/>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59" name="Shape 57">
            <a:extLst>
              <a:ext uri="{FF2B5EF4-FFF2-40B4-BE49-F238E27FC236}">
                <a16:creationId xmlns:a16="http://schemas.microsoft.com/office/drawing/2014/main" id="{B2AB66D4-8C44-08EA-CD63-F9260AF3B318}"/>
              </a:ext>
            </a:extLst>
          </p:cNvPr>
          <p:cNvSpPr/>
          <p:nvPr/>
        </p:nvSpPr>
        <p:spPr>
          <a:xfrm>
            <a:off x="691872" y="6317337"/>
            <a:ext cx="13246656" cy="446961"/>
          </a:xfrm>
          <a:prstGeom prst="rect">
            <a:avLst/>
          </a:prstGeom>
          <a:solidFill>
            <a:srgbClr val="000000">
              <a:alpha val="4000"/>
            </a:srgbClr>
          </a:solidFill>
          <a:ln/>
        </p:spPr>
        <p:txBody>
          <a:bodyPr/>
          <a:lstStyle/>
          <a:p>
            <a:endParaRPr lang="en-IN"/>
          </a:p>
        </p:txBody>
      </p:sp>
      <p:sp>
        <p:nvSpPr>
          <p:cNvPr id="60" name="Text 58">
            <a:extLst>
              <a:ext uri="{FF2B5EF4-FFF2-40B4-BE49-F238E27FC236}">
                <a16:creationId xmlns:a16="http://schemas.microsoft.com/office/drawing/2014/main" id="{16186375-4E82-2E1E-01DB-8B8A5BACDA41}"/>
              </a:ext>
            </a:extLst>
          </p:cNvPr>
          <p:cNvSpPr/>
          <p:nvPr/>
        </p:nvSpPr>
        <p:spPr>
          <a:xfrm>
            <a:off x="863203" y="6413421"/>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View Reports</a:t>
            </a:r>
            <a:endParaRPr lang="en-US" sz="1300" dirty="0"/>
          </a:p>
        </p:txBody>
      </p:sp>
      <p:sp>
        <p:nvSpPr>
          <p:cNvPr id="61" name="Text 59">
            <a:extLst>
              <a:ext uri="{FF2B5EF4-FFF2-40B4-BE49-F238E27FC236}">
                <a16:creationId xmlns:a16="http://schemas.microsoft.com/office/drawing/2014/main" id="{C4374EF3-0D3F-DA82-E2E7-CF06C391E498}"/>
              </a:ext>
            </a:extLst>
          </p:cNvPr>
          <p:cNvSpPr/>
          <p:nvPr/>
        </p:nvSpPr>
        <p:spPr>
          <a:xfrm>
            <a:off x="3516273" y="6413421"/>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62" name="Text 60">
            <a:extLst>
              <a:ext uri="{FF2B5EF4-FFF2-40B4-BE49-F238E27FC236}">
                <a16:creationId xmlns:a16="http://schemas.microsoft.com/office/drawing/2014/main" id="{1200362D-DF40-36BC-1FB3-D6063F06EA8A}"/>
              </a:ext>
            </a:extLst>
          </p:cNvPr>
          <p:cNvSpPr/>
          <p:nvPr/>
        </p:nvSpPr>
        <p:spPr>
          <a:xfrm>
            <a:off x="6165533" y="6413421"/>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FF0000"/>
                </a:solidFill>
                <a:latin typeface="Nobile" pitchFamily="34" charset="0"/>
                <a:ea typeface="Nobile" pitchFamily="34" charset="-122"/>
                <a:cs typeface="Nobile" pitchFamily="34" charset="-120"/>
              </a:rPr>
              <a:t>✗</a:t>
            </a:r>
            <a:endParaRPr lang="en-US" sz="1300" dirty="0"/>
          </a:p>
        </p:txBody>
      </p:sp>
      <p:sp>
        <p:nvSpPr>
          <p:cNvPr id="63" name="Text 61">
            <a:extLst>
              <a:ext uri="{FF2B5EF4-FFF2-40B4-BE49-F238E27FC236}">
                <a16:creationId xmlns:a16="http://schemas.microsoft.com/office/drawing/2014/main" id="{5BC227E5-50D1-FCF9-2FF2-D3B656438D37}"/>
              </a:ext>
            </a:extLst>
          </p:cNvPr>
          <p:cNvSpPr/>
          <p:nvPr/>
        </p:nvSpPr>
        <p:spPr>
          <a:xfrm>
            <a:off x="8814792" y="6413421"/>
            <a:ext cx="229969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64" name="Text 62">
            <a:extLst>
              <a:ext uri="{FF2B5EF4-FFF2-40B4-BE49-F238E27FC236}">
                <a16:creationId xmlns:a16="http://schemas.microsoft.com/office/drawing/2014/main" id="{D1716992-3480-3618-0C91-83ACDF83C719}"/>
              </a:ext>
            </a:extLst>
          </p:cNvPr>
          <p:cNvSpPr/>
          <p:nvPr/>
        </p:nvSpPr>
        <p:spPr>
          <a:xfrm>
            <a:off x="11464052" y="6413421"/>
            <a:ext cx="2303502" cy="254794"/>
          </a:xfrm>
          <a:prstGeom prst="rect">
            <a:avLst/>
          </a:prstGeom>
          <a:noFill/>
          <a:ln/>
        </p:spPr>
        <p:txBody>
          <a:bodyPr wrap="none" lIns="0" tIns="0" rIns="0" bIns="0" rtlCol="0" anchor="t"/>
          <a:lstStyle/>
          <a:p>
            <a:pPr marL="0" indent="0" algn="l">
              <a:lnSpc>
                <a:spcPts val="2000"/>
              </a:lnSpc>
              <a:buNone/>
            </a:pPr>
            <a:r>
              <a:rPr lang="en-US" sz="1300" dirty="0">
                <a:solidFill>
                  <a:srgbClr val="438951"/>
                </a:solidFill>
                <a:latin typeface="Nobile" pitchFamily="34" charset="0"/>
                <a:ea typeface="Nobile" pitchFamily="34" charset="-122"/>
                <a:cs typeface="Nobile" pitchFamily="34" charset="-120"/>
              </a:rPr>
              <a:t>✓</a:t>
            </a:r>
            <a:endParaRPr lang="en-US" sz="1300" dirty="0"/>
          </a:p>
        </p:txBody>
      </p:sp>
      <p:sp>
        <p:nvSpPr>
          <p:cNvPr id="65" name="Text 63">
            <a:extLst>
              <a:ext uri="{FF2B5EF4-FFF2-40B4-BE49-F238E27FC236}">
                <a16:creationId xmlns:a16="http://schemas.microsoft.com/office/drawing/2014/main" id="{03E2CB8D-15A4-0D84-0A75-DE15A19BEB2F}"/>
              </a:ext>
            </a:extLst>
          </p:cNvPr>
          <p:cNvSpPr/>
          <p:nvPr/>
        </p:nvSpPr>
        <p:spPr>
          <a:xfrm>
            <a:off x="684252" y="6937772"/>
            <a:ext cx="13261896" cy="509588"/>
          </a:xfrm>
          <a:prstGeom prst="rect">
            <a:avLst/>
          </a:prstGeom>
          <a:noFill/>
          <a:ln/>
        </p:spPr>
        <p:txBody>
          <a:bodyPr wrap="square" lIns="0" tIns="0" rIns="0" bIns="0" rtlCol="0" anchor="t"/>
          <a:lstStyle/>
          <a:p>
            <a:pPr marL="0" indent="0" algn="l">
              <a:lnSpc>
                <a:spcPts val="2000"/>
              </a:lnSpc>
              <a:buNone/>
            </a:pPr>
            <a:r>
              <a:rPr lang="en-US" sz="1300" dirty="0">
                <a:solidFill>
                  <a:srgbClr val="405449"/>
                </a:solidFill>
                <a:latin typeface="Nobile" pitchFamily="34" charset="0"/>
                <a:ea typeface="Nobile" pitchFamily="34" charset="-122"/>
                <a:cs typeface="Nobile" pitchFamily="34" charset="-120"/>
              </a:rPr>
              <a:t>This matrix clearly distinguishes the permissions, ensuring that each role has access only to the functionalities required for their responsibilities, enhancing security and streamlining workflows.</a:t>
            </a:r>
            <a:endParaRPr lang="en-US" sz="1300" dirty="0"/>
          </a:p>
        </p:txBody>
      </p:sp>
      <p:pic>
        <p:nvPicPr>
          <p:cNvPr id="66" name="Picture 65">
            <a:extLst>
              <a:ext uri="{FF2B5EF4-FFF2-40B4-BE49-F238E27FC236}">
                <a16:creationId xmlns:a16="http://schemas.microsoft.com/office/drawing/2014/main" id="{9300C9A9-F3D3-D371-331C-B216D598CAFE}"/>
              </a:ext>
            </a:extLst>
          </p:cNvPr>
          <p:cNvPicPr>
            <a:picLocks noChangeAspect="1"/>
          </p:cNvPicPr>
          <p:nvPr/>
        </p:nvPicPr>
        <p:blipFill>
          <a:blip r:embed="rId3"/>
          <a:stretch>
            <a:fillRect/>
          </a:stretch>
        </p:blipFill>
        <p:spPr>
          <a:xfrm>
            <a:off x="11959970" y="7729356"/>
            <a:ext cx="2553056" cy="466790"/>
          </a:xfrm>
          <a:prstGeom prst="rect">
            <a:avLst/>
          </a:prstGeom>
        </p:spPr>
      </p:pic>
    </p:spTree>
    <p:extLst>
      <p:ext uri="{BB962C8B-B14F-4D97-AF65-F5344CB8AC3E}">
        <p14:creationId xmlns:p14="http://schemas.microsoft.com/office/powerpoint/2010/main" val="391153656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7CBF-BDE9-3B7B-3E74-6D0149AC846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ADA2775-D64E-7B72-5FB3-851EDCA74B10}"/>
              </a:ext>
            </a:extLst>
          </p:cNvPr>
          <p:cNvSpPr/>
          <p:nvPr/>
        </p:nvSpPr>
        <p:spPr>
          <a:xfrm>
            <a:off x="441574" y="559356"/>
            <a:ext cx="7589520" cy="1214676"/>
          </a:xfrm>
          <a:prstGeom prst="rect">
            <a:avLst/>
          </a:prstGeom>
          <a:noFill/>
          <a:ln/>
        </p:spPr>
        <p:txBody>
          <a:bodyPr wrap="square" lIns="0" tIns="0" rIns="0" bIns="0" rtlCol="0" anchor="t"/>
          <a:lstStyle/>
          <a:p>
            <a:pPr marL="0" indent="0" algn="l">
              <a:lnSpc>
                <a:spcPts val="4750"/>
              </a:lnSpc>
              <a:buNone/>
            </a:pPr>
            <a:r>
              <a:rPr lang="en-US" sz="3800" b="1" dirty="0">
                <a:solidFill>
                  <a:srgbClr val="3B4540"/>
                </a:solidFill>
                <a:latin typeface="Fraunces Extra Bold" pitchFamily="34" charset="0"/>
                <a:ea typeface="Fraunces Extra Bold" pitchFamily="34" charset="-122"/>
                <a:cs typeface="Fraunces Extra Bold" pitchFamily="34" charset="-120"/>
              </a:rPr>
              <a:t>Agent: Customer Support &amp; Communication</a:t>
            </a:r>
            <a:endParaRPr lang="en-US" sz="3800" dirty="0"/>
          </a:p>
        </p:txBody>
      </p:sp>
      <p:sp>
        <p:nvSpPr>
          <p:cNvPr id="4" name="Shape 1">
            <a:extLst>
              <a:ext uri="{FF2B5EF4-FFF2-40B4-BE49-F238E27FC236}">
                <a16:creationId xmlns:a16="http://schemas.microsoft.com/office/drawing/2014/main" id="{5A14B11B-2A36-FD1D-00F5-A53A26D09A8C}"/>
              </a:ext>
            </a:extLst>
          </p:cNvPr>
          <p:cNvSpPr/>
          <p:nvPr/>
        </p:nvSpPr>
        <p:spPr>
          <a:xfrm>
            <a:off x="441574" y="2059424"/>
            <a:ext cx="7589520" cy="1467088"/>
          </a:xfrm>
          <a:prstGeom prst="roundRect">
            <a:avLst>
              <a:gd name="adj" fmla="val 7479"/>
            </a:avLst>
          </a:prstGeom>
          <a:solidFill>
            <a:srgbClr val="FAFFFA"/>
          </a:solidFill>
          <a:ln w="22860">
            <a:solidFill>
              <a:srgbClr val="CED9CE"/>
            </a:solidFill>
            <a:prstDash val="solid"/>
          </a:ln>
        </p:spPr>
        <p:txBody>
          <a:bodyPr/>
          <a:lstStyle/>
          <a:p>
            <a:endParaRPr lang="en-IN"/>
          </a:p>
        </p:txBody>
      </p:sp>
      <p:sp>
        <p:nvSpPr>
          <p:cNvPr id="5" name="Shape 2">
            <a:extLst>
              <a:ext uri="{FF2B5EF4-FFF2-40B4-BE49-F238E27FC236}">
                <a16:creationId xmlns:a16="http://schemas.microsoft.com/office/drawing/2014/main" id="{98164AE2-D92D-723D-5046-ABCF7A4B2A20}"/>
              </a:ext>
            </a:extLst>
          </p:cNvPr>
          <p:cNvSpPr/>
          <p:nvPr/>
        </p:nvSpPr>
        <p:spPr>
          <a:xfrm>
            <a:off x="418714" y="2059424"/>
            <a:ext cx="91440" cy="1467088"/>
          </a:xfrm>
          <a:prstGeom prst="roundRect">
            <a:avLst>
              <a:gd name="adj" fmla="val 191275"/>
            </a:avLst>
          </a:prstGeom>
          <a:solidFill>
            <a:srgbClr val="438951"/>
          </a:solidFill>
          <a:ln/>
        </p:spPr>
        <p:txBody>
          <a:bodyPr/>
          <a:lstStyle/>
          <a:p>
            <a:endParaRPr lang="en-IN"/>
          </a:p>
        </p:txBody>
      </p:sp>
      <p:sp>
        <p:nvSpPr>
          <p:cNvPr id="6" name="Text 3">
            <a:extLst>
              <a:ext uri="{FF2B5EF4-FFF2-40B4-BE49-F238E27FC236}">
                <a16:creationId xmlns:a16="http://schemas.microsoft.com/office/drawing/2014/main" id="{321F9F82-98C2-9D47-6C28-5D29F1BE10D2}"/>
              </a:ext>
            </a:extLst>
          </p:cNvPr>
          <p:cNvSpPr/>
          <p:nvPr/>
        </p:nvSpPr>
        <p:spPr>
          <a:xfrm>
            <a:off x="727324" y="2276594"/>
            <a:ext cx="2429113" cy="303609"/>
          </a:xfrm>
          <a:prstGeom prst="rect">
            <a:avLst/>
          </a:prstGeom>
          <a:noFill/>
          <a:ln/>
        </p:spPr>
        <p:txBody>
          <a:bodyPr wrap="none" lIns="0" tIns="0" rIns="0" bIns="0" rtlCol="0" anchor="t"/>
          <a:lstStyle/>
          <a:p>
            <a:pPr marL="0" indent="0" algn="l">
              <a:lnSpc>
                <a:spcPts val="2350"/>
              </a:lnSpc>
              <a:buNone/>
            </a:pPr>
            <a:r>
              <a:rPr lang="en-US" sz="1900" b="1" dirty="0">
                <a:solidFill>
                  <a:srgbClr val="405449"/>
                </a:solidFill>
                <a:latin typeface="Fraunces Extra Bold" pitchFamily="34" charset="0"/>
                <a:ea typeface="Fraunces Extra Bold" pitchFamily="34" charset="-122"/>
                <a:cs typeface="Fraunces Extra Bold" pitchFamily="34" charset="-120"/>
              </a:rPr>
              <a:t>Real-Time Chat</a:t>
            </a:r>
            <a:endParaRPr lang="en-US" sz="1900" dirty="0"/>
          </a:p>
        </p:txBody>
      </p:sp>
      <p:sp>
        <p:nvSpPr>
          <p:cNvPr id="7" name="Text 4">
            <a:extLst>
              <a:ext uri="{FF2B5EF4-FFF2-40B4-BE49-F238E27FC236}">
                <a16:creationId xmlns:a16="http://schemas.microsoft.com/office/drawing/2014/main" id="{3C7739B6-770C-1DE9-AC13-510B027AFC26}"/>
              </a:ext>
            </a:extLst>
          </p:cNvPr>
          <p:cNvSpPr/>
          <p:nvPr/>
        </p:nvSpPr>
        <p:spPr>
          <a:xfrm>
            <a:off x="727324" y="2694265"/>
            <a:ext cx="7086600" cy="615077"/>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Instant messaging capability allowing agents to respond to customer queries, clarify policy terms, and provide status updates without delay</a:t>
            </a:r>
            <a:endParaRPr lang="en-US" sz="1500" dirty="0"/>
          </a:p>
        </p:txBody>
      </p:sp>
      <p:sp>
        <p:nvSpPr>
          <p:cNvPr id="8" name="Shape 5">
            <a:extLst>
              <a:ext uri="{FF2B5EF4-FFF2-40B4-BE49-F238E27FC236}">
                <a16:creationId xmlns:a16="http://schemas.microsoft.com/office/drawing/2014/main" id="{1913EDA0-D1D6-E97D-2E7C-DE088F7DF354}"/>
              </a:ext>
            </a:extLst>
          </p:cNvPr>
          <p:cNvSpPr/>
          <p:nvPr/>
        </p:nvSpPr>
        <p:spPr>
          <a:xfrm>
            <a:off x="441574" y="3716774"/>
            <a:ext cx="7589520" cy="1467088"/>
          </a:xfrm>
          <a:prstGeom prst="roundRect">
            <a:avLst>
              <a:gd name="adj" fmla="val 7479"/>
            </a:avLst>
          </a:prstGeom>
          <a:solidFill>
            <a:srgbClr val="FAFFFA"/>
          </a:solidFill>
          <a:ln w="22860">
            <a:solidFill>
              <a:srgbClr val="CED9CE"/>
            </a:solidFill>
            <a:prstDash val="solid"/>
          </a:ln>
        </p:spPr>
        <p:txBody>
          <a:bodyPr/>
          <a:lstStyle/>
          <a:p>
            <a:endParaRPr lang="en-IN"/>
          </a:p>
        </p:txBody>
      </p:sp>
      <p:sp>
        <p:nvSpPr>
          <p:cNvPr id="9" name="Shape 6">
            <a:extLst>
              <a:ext uri="{FF2B5EF4-FFF2-40B4-BE49-F238E27FC236}">
                <a16:creationId xmlns:a16="http://schemas.microsoft.com/office/drawing/2014/main" id="{5F149BCC-05B5-A9DA-00D6-3ADF6884272F}"/>
              </a:ext>
            </a:extLst>
          </p:cNvPr>
          <p:cNvSpPr/>
          <p:nvPr/>
        </p:nvSpPr>
        <p:spPr>
          <a:xfrm>
            <a:off x="418714" y="3716774"/>
            <a:ext cx="91440" cy="1467088"/>
          </a:xfrm>
          <a:prstGeom prst="roundRect">
            <a:avLst>
              <a:gd name="adj" fmla="val 191275"/>
            </a:avLst>
          </a:prstGeom>
          <a:solidFill>
            <a:srgbClr val="438951"/>
          </a:solidFill>
          <a:ln/>
        </p:spPr>
        <p:txBody>
          <a:bodyPr/>
          <a:lstStyle/>
          <a:p>
            <a:endParaRPr lang="en-IN"/>
          </a:p>
        </p:txBody>
      </p:sp>
      <p:sp>
        <p:nvSpPr>
          <p:cNvPr id="10" name="Text 7">
            <a:extLst>
              <a:ext uri="{FF2B5EF4-FFF2-40B4-BE49-F238E27FC236}">
                <a16:creationId xmlns:a16="http://schemas.microsoft.com/office/drawing/2014/main" id="{E1F75B69-50B2-7537-B4E0-3F476C47EDC2}"/>
              </a:ext>
            </a:extLst>
          </p:cNvPr>
          <p:cNvSpPr/>
          <p:nvPr/>
        </p:nvSpPr>
        <p:spPr>
          <a:xfrm>
            <a:off x="727324" y="3933944"/>
            <a:ext cx="2471023" cy="303609"/>
          </a:xfrm>
          <a:prstGeom prst="rect">
            <a:avLst/>
          </a:prstGeom>
          <a:noFill/>
          <a:ln/>
        </p:spPr>
        <p:txBody>
          <a:bodyPr wrap="none" lIns="0" tIns="0" rIns="0" bIns="0" rtlCol="0" anchor="t"/>
          <a:lstStyle/>
          <a:p>
            <a:pPr marL="0" indent="0" algn="l">
              <a:lnSpc>
                <a:spcPts val="2350"/>
              </a:lnSpc>
              <a:buNone/>
            </a:pPr>
            <a:r>
              <a:rPr lang="en-US" sz="1900" b="1" dirty="0">
                <a:solidFill>
                  <a:srgbClr val="405449"/>
                </a:solidFill>
                <a:latin typeface="Fraunces Extra Bold" pitchFamily="34" charset="0"/>
                <a:ea typeface="Fraunces Extra Bold" pitchFamily="34" charset="-122"/>
                <a:cs typeface="Fraunces Extra Bold" pitchFamily="34" charset="-120"/>
              </a:rPr>
              <a:t>Video Consultations</a:t>
            </a:r>
            <a:endParaRPr lang="en-US" sz="1900" dirty="0"/>
          </a:p>
        </p:txBody>
      </p:sp>
      <p:sp>
        <p:nvSpPr>
          <p:cNvPr id="11" name="Text 8">
            <a:extLst>
              <a:ext uri="{FF2B5EF4-FFF2-40B4-BE49-F238E27FC236}">
                <a16:creationId xmlns:a16="http://schemas.microsoft.com/office/drawing/2014/main" id="{C00E0389-7B17-0938-7DEF-4BC61F9103FC}"/>
              </a:ext>
            </a:extLst>
          </p:cNvPr>
          <p:cNvSpPr/>
          <p:nvPr/>
        </p:nvSpPr>
        <p:spPr>
          <a:xfrm>
            <a:off x="727324" y="4351615"/>
            <a:ext cx="7086600" cy="615077"/>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Face-to-face video call feature enabling detailed discussions about policy options, document verification, and personalized insurance advice</a:t>
            </a:r>
            <a:endParaRPr lang="en-US" sz="1500" dirty="0"/>
          </a:p>
        </p:txBody>
      </p:sp>
      <p:sp>
        <p:nvSpPr>
          <p:cNvPr id="12" name="Shape 9">
            <a:extLst>
              <a:ext uri="{FF2B5EF4-FFF2-40B4-BE49-F238E27FC236}">
                <a16:creationId xmlns:a16="http://schemas.microsoft.com/office/drawing/2014/main" id="{7746D937-3DCE-FD6A-F4BB-609A42E9C3A7}"/>
              </a:ext>
            </a:extLst>
          </p:cNvPr>
          <p:cNvSpPr/>
          <p:nvPr/>
        </p:nvSpPr>
        <p:spPr>
          <a:xfrm>
            <a:off x="441574" y="5374124"/>
            <a:ext cx="7589520" cy="1467088"/>
          </a:xfrm>
          <a:prstGeom prst="roundRect">
            <a:avLst>
              <a:gd name="adj" fmla="val 7479"/>
            </a:avLst>
          </a:prstGeom>
          <a:solidFill>
            <a:srgbClr val="FAFFFA"/>
          </a:solidFill>
          <a:ln w="22860">
            <a:solidFill>
              <a:srgbClr val="CED9CE"/>
            </a:solidFill>
            <a:prstDash val="solid"/>
          </a:ln>
        </p:spPr>
        <p:txBody>
          <a:bodyPr/>
          <a:lstStyle/>
          <a:p>
            <a:endParaRPr lang="en-IN"/>
          </a:p>
        </p:txBody>
      </p:sp>
      <p:sp>
        <p:nvSpPr>
          <p:cNvPr id="13" name="Shape 10">
            <a:extLst>
              <a:ext uri="{FF2B5EF4-FFF2-40B4-BE49-F238E27FC236}">
                <a16:creationId xmlns:a16="http://schemas.microsoft.com/office/drawing/2014/main" id="{7AB4B2C6-F24B-6133-6D2C-0E82D23D756E}"/>
              </a:ext>
            </a:extLst>
          </p:cNvPr>
          <p:cNvSpPr/>
          <p:nvPr/>
        </p:nvSpPr>
        <p:spPr>
          <a:xfrm>
            <a:off x="418714" y="5374124"/>
            <a:ext cx="91440" cy="1467088"/>
          </a:xfrm>
          <a:prstGeom prst="roundRect">
            <a:avLst>
              <a:gd name="adj" fmla="val 191275"/>
            </a:avLst>
          </a:prstGeom>
          <a:solidFill>
            <a:srgbClr val="438951"/>
          </a:solidFill>
          <a:ln/>
        </p:spPr>
        <p:txBody>
          <a:bodyPr/>
          <a:lstStyle/>
          <a:p>
            <a:endParaRPr lang="en-IN"/>
          </a:p>
        </p:txBody>
      </p:sp>
      <p:sp>
        <p:nvSpPr>
          <p:cNvPr id="14" name="Text 11">
            <a:extLst>
              <a:ext uri="{FF2B5EF4-FFF2-40B4-BE49-F238E27FC236}">
                <a16:creationId xmlns:a16="http://schemas.microsoft.com/office/drawing/2014/main" id="{47BD9ACE-2312-6CE8-5CA0-84263542FEA7}"/>
              </a:ext>
            </a:extLst>
          </p:cNvPr>
          <p:cNvSpPr/>
          <p:nvPr/>
        </p:nvSpPr>
        <p:spPr>
          <a:xfrm>
            <a:off x="727324" y="5591294"/>
            <a:ext cx="2429113" cy="303609"/>
          </a:xfrm>
          <a:prstGeom prst="rect">
            <a:avLst/>
          </a:prstGeom>
          <a:noFill/>
          <a:ln/>
        </p:spPr>
        <p:txBody>
          <a:bodyPr wrap="none" lIns="0" tIns="0" rIns="0" bIns="0" rtlCol="0" anchor="t"/>
          <a:lstStyle/>
          <a:p>
            <a:pPr>
              <a:lnSpc>
                <a:spcPts val="2350"/>
              </a:lnSpc>
            </a:pPr>
            <a:r>
              <a:rPr lang="en-US" sz="1900" b="1" dirty="0">
                <a:solidFill>
                  <a:srgbClr val="405449"/>
                </a:solidFill>
                <a:latin typeface="Fraunces Extra Bold" pitchFamily="34" charset="0"/>
                <a:ea typeface="Fraunces Extra Bold" pitchFamily="34" charset="-122"/>
                <a:cs typeface="Fraunces Extra Bold" pitchFamily="34" charset="-120"/>
              </a:rPr>
              <a:t>Document Sharing &amp; KYC Verification  with Face recognition </a:t>
            </a:r>
            <a:endParaRPr lang="en-US" sz="1900" dirty="0"/>
          </a:p>
        </p:txBody>
      </p:sp>
      <p:sp>
        <p:nvSpPr>
          <p:cNvPr id="15" name="Text 12">
            <a:extLst>
              <a:ext uri="{FF2B5EF4-FFF2-40B4-BE49-F238E27FC236}">
                <a16:creationId xmlns:a16="http://schemas.microsoft.com/office/drawing/2014/main" id="{C58205D1-0AD7-C204-8866-BEFB571CD2CE}"/>
              </a:ext>
            </a:extLst>
          </p:cNvPr>
          <p:cNvSpPr/>
          <p:nvPr/>
        </p:nvSpPr>
        <p:spPr>
          <a:xfrm>
            <a:off x="727324" y="6008965"/>
            <a:ext cx="7086600" cy="615077"/>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Secure file transfer for sharing policy documents, application forms, and supporting materials with end-to-end encryption</a:t>
            </a:r>
            <a:endParaRPr lang="en-US" sz="1500" dirty="0"/>
          </a:p>
        </p:txBody>
      </p:sp>
      <p:sp>
        <p:nvSpPr>
          <p:cNvPr id="16" name="Text 13">
            <a:extLst>
              <a:ext uri="{FF2B5EF4-FFF2-40B4-BE49-F238E27FC236}">
                <a16:creationId xmlns:a16="http://schemas.microsoft.com/office/drawing/2014/main" id="{211D0B5F-DF59-68F6-87FD-A918B8CB63E3}"/>
              </a:ext>
            </a:extLst>
          </p:cNvPr>
          <p:cNvSpPr/>
          <p:nvPr/>
        </p:nvSpPr>
        <p:spPr>
          <a:xfrm>
            <a:off x="441574" y="7055168"/>
            <a:ext cx="7589520" cy="615077"/>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The communication tools ensure agents can provide </a:t>
            </a:r>
            <a:r>
              <a:rPr lang="en-US" sz="1500" b="1" dirty="0">
                <a:solidFill>
                  <a:srgbClr val="438951"/>
                </a:solidFill>
                <a:latin typeface="Nobile" pitchFamily="34" charset="0"/>
                <a:ea typeface="Nobile" pitchFamily="34" charset="-122"/>
                <a:cs typeface="Nobile" pitchFamily="34" charset="-120"/>
              </a:rPr>
              <a:t>responsive, transparent, and efficient service</a:t>
            </a:r>
            <a:r>
              <a:rPr lang="en-US" sz="1500" dirty="0">
                <a:solidFill>
                  <a:srgbClr val="405449"/>
                </a:solidFill>
                <a:latin typeface="Nobile" pitchFamily="34" charset="0"/>
                <a:ea typeface="Nobile" pitchFamily="34" charset="-122"/>
                <a:cs typeface="Nobile" pitchFamily="34" charset="-120"/>
              </a:rPr>
              <a:t> to customers throughout their insurance journey.</a:t>
            </a:r>
            <a:endParaRPr lang="en-US" sz="1500" dirty="0"/>
          </a:p>
        </p:txBody>
      </p:sp>
      <p:pic>
        <p:nvPicPr>
          <p:cNvPr id="17" name="Picture 16">
            <a:extLst>
              <a:ext uri="{FF2B5EF4-FFF2-40B4-BE49-F238E27FC236}">
                <a16:creationId xmlns:a16="http://schemas.microsoft.com/office/drawing/2014/main" id="{39C3991F-FAC4-1D5D-6EBA-6E558FB47BEC}"/>
              </a:ext>
            </a:extLst>
          </p:cNvPr>
          <p:cNvPicPr>
            <a:picLocks noChangeAspect="1"/>
          </p:cNvPicPr>
          <p:nvPr/>
        </p:nvPicPr>
        <p:blipFill>
          <a:blip r:embed="rId3"/>
          <a:stretch>
            <a:fillRect/>
          </a:stretch>
        </p:blipFill>
        <p:spPr>
          <a:xfrm>
            <a:off x="6483910" y="7564668"/>
            <a:ext cx="2324424" cy="571580"/>
          </a:xfrm>
          <a:prstGeom prst="rect">
            <a:avLst/>
          </a:prstGeom>
        </p:spPr>
      </p:pic>
      <p:pic>
        <p:nvPicPr>
          <p:cNvPr id="23" name="Picture 22">
            <a:extLst>
              <a:ext uri="{FF2B5EF4-FFF2-40B4-BE49-F238E27FC236}">
                <a16:creationId xmlns:a16="http://schemas.microsoft.com/office/drawing/2014/main" id="{6B7BF1A8-A272-D347-C3E2-68D88B1BA675}"/>
              </a:ext>
            </a:extLst>
          </p:cNvPr>
          <p:cNvPicPr>
            <a:picLocks noChangeAspect="1"/>
          </p:cNvPicPr>
          <p:nvPr/>
        </p:nvPicPr>
        <p:blipFill>
          <a:blip r:embed="rId4"/>
          <a:stretch>
            <a:fillRect/>
          </a:stretch>
        </p:blipFill>
        <p:spPr>
          <a:xfrm>
            <a:off x="8808334" y="348582"/>
            <a:ext cx="4999386" cy="2362920"/>
          </a:xfrm>
          <a:prstGeom prst="rect">
            <a:avLst/>
          </a:prstGeom>
        </p:spPr>
      </p:pic>
      <p:pic>
        <p:nvPicPr>
          <p:cNvPr id="25" name="Picture 24">
            <a:extLst>
              <a:ext uri="{FF2B5EF4-FFF2-40B4-BE49-F238E27FC236}">
                <a16:creationId xmlns:a16="http://schemas.microsoft.com/office/drawing/2014/main" id="{67B94D0D-6172-8B28-CF67-E94064E03095}"/>
              </a:ext>
            </a:extLst>
          </p:cNvPr>
          <p:cNvPicPr>
            <a:picLocks noChangeAspect="1"/>
          </p:cNvPicPr>
          <p:nvPr/>
        </p:nvPicPr>
        <p:blipFill>
          <a:blip r:embed="rId5"/>
          <a:stretch>
            <a:fillRect/>
          </a:stretch>
        </p:blipFill>
        <p:spPr>
          <a:xfrm>
            <a:off x="8808334" y="2937535"/>
            <a:ext cx="4999386" cy="2357710"/>
          </a:xfrm>
          <a:prstGeom prst="rect">
            <a:avLst/>
          </a:prstGeom>
        </p:spPr>
      </p:pic>
      <p:pic>
        <p:nvPicPr>
          <p:cNvPr id="26" name="Picture 25">
            <a:extLst>
              <a:ext uri="{FF2B5EF4-FFF2-40B4-BE49-F238E27FC236}">
                <a16:creationId xmlns:a16="http://schemas.microsoft.com/office/drawing/2014/main" id="{0EF9664B-8584-E04C-ACA5-7B6DA4089E2C}"/>
              </a:ext>
            </a:extLst>
          </p:cNvPr>
          <p:cNvPicPr>
            <a:picLocks noChangeAspect="1"/>
          </p:cNvPicPr>
          <p:nvPr/>
        </p:nvPicPr>
        <p:blipFill>
          <a:blip r:embed="rId3"/>
          <a:stretch>
            <a:fillRect/>
          </a:stretch>
        </p:blipFill>
        <p:spPr>
          <a:xfrm>
            <a:off x="12305976" y="7658020"/>
            <a:ext cx="2324424" cy="571580"/>
          </a:xfrm>
          <a:prstGeom prst="rect">
            <a:avLst/>
          </a:prstGeom>
        </p:spPr>
      </p:pic>
    </p:spTree>
    <p:extLst>
      <p:ext uri="{BB962C8B-B14F-4D97-AF65-F5344CB8AC3E}">
        <p14:creationId xmlns:p14="http://schemas.microsoft.com/office/powerpoint/2010/main" val="295264902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6132" y="685443"/>
            <a:ext cx="7724537" cy="1108948"/>
          </a:xfrm>
          <a:prstGeom prst="rect">
            <a:avLst/>
          </a:prstGeom>
          <a:noFill/>
          <a:ln/>
        </p:spPr>
        <p:txBody>
          <a:bodyPr wrap="square" lIns="0" tIns="0" rIns="0" bIns="0" rtlCol="0" anchor="t"/>
          <a:lstStyle/>
          <a:p>
            <a:pPr marL="0" indent="0" algn="l">
              <a:lnSpc>
                <a:spcPts val="4350"/>
              </a:lnSpc>
              <a:buNone/>
            </a:pPr>
            <a:r>
              <a:rPr lang="en-US" sz="3450" b="1" dirty="0">
                <a:solidFill>
                  <a:srgbClr val="3B4540"/>
                </a:solidFill>
                <a:latin typeface="Fraunces Extra Bold" pitchFamily="34" charset="0"/>
                <a:ea typeface="Fraunces Extra Bold" pitchFamily="34" charset="-122"/>
                <a:cs typeface="Fraunces Extra Bold" pitchFamily="34" charset="-120"/>
              </a:rPr>
              <a:t>AI-Powered Guidance: Intelligent Customer Support</a:t>
            </a:r>
            <a:endParaRPr lang="en-US" sz="3450" dirty="0"/>
          </a:p>
        </p:txBody>
      </p:sp>
      <p:pic>
        <p:nvPicPr>
          <p:cNvPr id="4" name="Image 1" descr="preencoded.png"/>
          <p:cNvPicPr>
            <a:picLocks noChangeAspect="1"/>
          </p:cNvPicPr>
          <p:nvPr/>
        </p:nvPicPr>
        <p:blipFill>
          <a:blip r:embed="rId4"/>
          <a:stretch>
            <a:fillRect/>
          </a:stretch>
        </p:blipFill>
        <p:spPr>
          <a:xfrm>
            <a:off x="6196132" y="2032278"/>
            <a:ext cx="887135" cy="1064657"/>
          </a:xfrm>
          <a:prstGeom prst="rect">
            <a:avLst/>
          </a:prstGeom>
        </p:spPr>
      </p:pic>
      <p:sp>
        <p:nvSpPr>
          <p:cNvPr id="5" name="Text 1"/>
          <p:cNvSpPr/>
          <p:nvPr/>
        </p:nvSpPr>
        <p:spPr>
          <a:xfrm>
            <a:off x="7241857" y="2209681"/>
            <a:ext cx="2218015" cy="277178"/>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Interest to Buy</a:t>
            </a:r>
            <a:endParaRPr lang="en-US" sz="1700" dirty="0"/>
          </a:p>
        </p:txBody>
      </p:sp>
      <p:sp>
        <p:nvSpPr>
          <p:cNvPr id="6" name="Text 2"/>
          <p:cNvSpPr/>
          <p:nvPr/>
        </p:nvSpPr>
        <p:spPr>
          <a:xfrm>
            <a:off x="7241857" y="2581989"/>
            <a:ext cx="6678811" cy="268724"/>
          </a:xfrm>
          <a:prstGeom prst="rect">
            <a:avLst/>
          </a:prstGeom>
          <a:noFill/>
          <a:ln/>
        </p:spPr>
        <p:txBody>
          <a:bodyPr wrap="non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Customer clicks "Interest to Buy" on any policy</a:t>
            </a:r>
            <a:endParaRPr lang="en-US" sz="1350" dirty="0"/>
          </a:p>
        </p:txBody>
      </p:sp>
      <p:pic>
        <p:nvPicPr>
          <p:cNvPr id="7" name="Image 2" descr="preencoded.png"/>
          <p:cNvPicPr>
            <a:picLocks noChangeAspect="1"/>
          </p:cNvPicPr>
          <p:nvPr/>
        </p:nvPicPr>
        <p:blipFill>
          <a:blip r:embed="rId5"/>
          <a:stretch>
            <a:fillRect/>
          </a:stretch>
        </p:blipFill>
        <p:spPr>
          <a:xfrm>
            <a:off x="6196132" y="3096935"/>
            <a:ext cx="887135" cy="1064657"/>
          </a:xfrm>
          <a:prstGeom prst="rect">
            <a:avLst/>
          </a:prstGeom>
        </p:spPr>
      </p:pic>
      <p:sp>
        <p:nvSpPr>
          <p:cNvPr id="8" name="Text 3"/>
          <p:cNvSpPr/>
          <p:nvPr/>
        </p:nvSpPr>
        <p:spPr>
          <a:xfrm>
            <a:off x="7241857" y="3274338"/>
            <a:ext cx="2218015" cy="277178"/>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Chat Opens</a:t>
            </a:r>
            <a:endParaRPr lang="en-US" sz="1700" dirty="0"/>
          </a:p>
        </p:txBody>
      </p:sp>
      <p:sp>
        <p:nvSpPr>
          <p:cNvPr id="9" name="Text 4"/>
          <p:cNvSpPr/>
          <p:nvPr/>
        </p:nvSpPr>
        <p:spPr>
          <a:xfrm>
            <a:off x="7241857" y="3646646"/>
            <a:ext cx="6678811" cy="268724"/>
          </a:xfrm>
          <a:prstGeom prst="rect">
            <a:avLst/>
          </a:prstGeom>
          <a:noFill/>
          <a:ln/>
        </p:spPr>
        <p:txBody>
          <a:bodyPr wrap="non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Sidebar chat application launches instantly</a:t>
            </a:r>
            <a:endParaRPr lang="en-US" sz="1350" dirty="0"/>
          </a:p>
        </p:txBody>
      </p:sp>
      <p:pic>
        <p:nvPicPr>
          <p:cNvPr id="10" name="Image 3" descr="preencoded.png"/>
          <p:cNvPicPr>
            <a:picLocks noChangeAspect="1"/>
          </p:cNvPicPr>
          <p:nvPr/>
        </p:nvPicPr>
        <p:blipFill>
          <a:blip r:embed="rId6"/>
          <a:stretch>
            <a:fillRect/>
          </a:stretch>
        </p:blipFill>
        <p:spPr>
          <a:xfrm>
            <a:off x="6196132" y="4161592"/>
            <a:ext cx="887135" cy="1064657"/>
          </a:xfrm>
          <a:prstGeom prst="rect">
            <a:avLst/>
          </a:prstGeom>
        </p:spPr>
      </p:pic>
      <p:sp>
        <p:nvSpPr>
          <p:cNvPr id="11" name="Text 5"/>
          <p:cNvSpPr/>
          <p:nvPr/>
        </p:nvSpPr>
        <p:spPr>
          <a:xfrm>
            <a:off x="7241857" y="4338995"/>
            <a:ext cx="2218015" cy="277178"/>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AI Responds</a:t>
            </a:r>
            <a:endParaRPr lang="en-US" sz="1700" dirty="0"/>
          </a:p>
        </p:txBody>
      </p:sp>
      <p:sp>
        <p:nvSpPr>
          <p:cNvPr id="12" name="Text 6"/>
          <p:cNvSpPr/>
          <p:nvPr/>
        </p:nvSpPr>
        <p:spPr>
          <a:xfrm>
            <a:off x="7241857" y="4711303"/>
            <a:ext cx="6678811" cy="268724"/>
          </a:xfrm>
          <a:prstGeom prst="rect">
            <a:avLst/>
          </a:prstGeom>
          <a:noFill/>
          <a:ln/>
        </p:spPr>
        <p:txBody>
          <a:bodyPr wrap="non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AI workflow automation answers questions intelligently in chat and voice mode</a:t>
            </a:r>
            <a:endParaRPr lang="en-US" sz="1350" dirty="0"/>
          </a:p>
        </p:txBody>
      </p:sp>
      <p:pic>
        <p:nvPicPr>
          <p:cNvPr id="13" name="Image 4" descr="preencoded.png"/>
          <p:cNvPicPr>
            <a:picLocks noChangeAspect="1"/>
          </p:cNvPicPr>
          <p:nvPr/>
        </p:nvPicPr>
        <p:blipFill>
          <a:blip r:embed="rId7"/>
          <a:stretch>
            <a:fillRect/>
          </a:stretch>
        </p:blipFill>
        <p:spPr>
          <a:xfrm>
            <a:off x="6196132" y="5226248"/>
            <a:ext cx="887135" cy="1064657"/>
          </a:xfrm>
          <a:prstGeom prst="rect">
            <a:avLst/>
          </a:prstGeom>
        </p:spPr>
      </p:pic>
      <p:sp>
        <p:nvSpPr>
          <p:cNvPr id="14" name="Text 7"/>
          <p:cNvSpPr/>
          <p:nvPr/>
        </p:nvSpPr>
        <p:spPr>
          <a:xfrm>
            <a:off x="7241857" y="5403652"/>
            <a:ext cx="2218015" cy="277178"/>
          </a:xfrm>
          <a:prstGeom prst="rect">
            <a:avLst/>
          </a:prstGeom>
          <a:noFill/>
          <a:ln/>
        </p:spPr>
        <p:txBody>
          <a:bodyPr wrap="none" lIns="0" tIns="0" rIns="0" bIns="0" rtlCol="0" anchor="t"/>
          <a:lstStyle/>
          <a:p>
            <a:pPr marL="0" indent="0" algn="l">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Decision Point</a:t>
            </a:r>
            <a:endParaRPr lang="en-US" sz="1700" dirty="0"/>
          </a:p>
        </p:txBody>
      </p:sp>
      <p:sp>
        <p:nvSpPr>
          <p:cNvPr id="15" name="Text 8"/>
          <p:cNvSpPr/>
          <p:nvPr/>
        </p:nvSpPr>
        <p:spPr>
          <a:xfrm>
            <a:off x="7241857" y="5775960"/>
            <a:ext cx="6678811" cy="268724"/>
          </a:xfrm>
          <a:prstGeom prst="rect">
            <a:avLst/>
          </a:prstGeom>
          <a:noFill/>
          <a:ln/>
        </p:spPr>
        <p:txBody>
          <a:bodyPr wrap="non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Close chat and click "Buy Now" to proceed</a:t>
            </a:r>
            <a:endParaRPr lang="en-US" sz="1350" dirty="0"/>
          </a:p>
        </p:txBody>
      </p:sp>
      <p:sp>
        <p:nvSpPr>
          <p:cNvPr id="16" name="Text 9"/>
          <p:cNvSpPr/>
          <p:nvPr/>
        </p:nvSpPr>
        <p:spPr>
          <a:xfrm>
            <a:off x="6196132" y="6469261"/>
            <a:ext cx="7724537" cy="1074896"/>
          </a:xfrm>
          <a:prstGeom prst="rect">
            <a:avLst/>
          </a:prstGeom>
          <a:noFill/>
          <a:ln/>
        </p:spPr>
        <p:txBody>
          <a:bodyPr wrap="square" lIns="0" tIns="0" rIns="0" bIns="0" rtlCol="0" anchor="t"/>
          <a:lstStyle/>
          <a:p>
            <a:pPr marL="0" indent="0" algn="l">
              <a:lnSpc>
                <a:spcPts val="2100"/>
              </a:lnSpc>
              <a:buNone/>
            </a:pPr>
            <a:r>
              <a:rPr lang="en-US" sz="1350" dirty="0">
                <a:solidFill>
                  <a:srgbClr val="405449"/>
                </a:solidFill>
                <a:latin typeface="Nobile" pitchFamily="34" charset="0"/>
                <a:ea typeface="Nobile" pitchFamily="34" charset="-122"/>
                <a:cs typeface="Nobile" pitchFamily="34" charset="-120"/>
              </a:rPr>
              <a:t>Our AI-powered chatbot, built on AI workflow automation, provides instant responses to customer queries about policy details, coverage benefits, claim procedures, and more. This intelligent system ensures 24/7 availability without human intervention, significantly reducing response time while maintaining accuracy.</a:t>
            </a:r>
            <a:endParaRPr lang="en-US" sz="1350" dirty="0"/>
          </a:p>
        </p:txBody>
      </p:sp>
      <p:pic>
        <p:nvPicPr>
          <p:cNvPr id="17" name="Picture 16">
            <a:extLst>
              <a:ext uri="{FF2B5EF4-FFF2-40B4-BE49-F238E27FC236}">
                <a16:creationId xmlns:a16="http://schemas.microsoft.com/office/drawing/2014/main" id="{85C72AF2-659C-05C0-3CFF-4D4003043A4E}"/>
              </a:ext>
            </a:extLst>
          </p:cNvPr>
          <p:cNvPicPr>
            <a:picLocks noChangeAspect="1"/>
          </p:cNvPicPr>
          <p:nvPr/>
        </p:nvPicPr>
        <p:blipFill>
          <a:blip r:embed="rId8"/>
          <a:stretch>
            <a:fillRect/>
          </a:stretch>
        </p:blipFill>
        <p:spPr>
          <a:xfrm>
            <a:off x="12067817" y="7671082"/>
            <a:ext cx="2562583" cy="558518"/>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B6C94-AE68-DE6E-7123-76ED1D6A69B8}"/>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1345916-54FE-7F52-396F-B685ED733790}"/>
              </a:ext>
            </a:extLst>
          </p:cNvPr>
          <p:cNvPicPr>
            <a:picLocks noChangeAspect="1"/>
          </p:cNvPicPr>
          <p:nvPr/>
        </p:nvPicPr>
        <p:blipFill>
          <a:blip r:embed="rId3"/>
          <a:stretch>
            <a:fillRect/>
          </a:stretch>
        </p:blipFill>
        <p:spPr>
          <a:xfrm>
            <a:off x="12344081" y="7705068"/>
            <a:ext cx="2286319" cy="438211"/>
          </a:xfrm>
          <a:prstGeom prst="rect">
            <a:avLst/>
          </a:prstGeom>
        </p:spPr>
      </p:pic>
      <p:sp>
        <p:nvSpPr>
          <p:cNvPr id="20" name="Text 0">
            <a:extLst>
              <a:ext uri="{FF2B5EF4-FFF2-40B4-BE49-F238E27FC236}">
                <a16:creationId xmlns:a16="http://schemas.microsoft.com/office/drawing/2014/main" id="{6E070741-B0BA-D5F2-96AE-19E960BD6C4F}"/>
              </a:ext>
            </a:extLst>
          </p:cNvPr>
          <p:cNvSpPr/>
          <p:nvPr/>
        </p:nvSpPr>
        <p:spPr>
          <a:xfrm>
            <a:off x="4929286" y="3460109"/>
            <a:ext cx="4110189" cy="384540"/>
          </a:xfrm>
          <a:prstGeom prst="rect">
            <a:avLst/>
          </a:prstGeom>
          <a:noFill/>
          <a:ln/>
        </p:spPr>
        <p:txBody>
          <a:bodyPr wrap="none" lIns="0" tIns="0" rIns="0" bIns="0" rtlCol="0" anchor="t"/>
          <a:lstStyle/>
          <a:p>
            <a:pPr marL="0" indent="0" algn="l">
              <a:lnSpc>
                <a:spcPts val="3350"/>
              </a:lnSpc>
              <a:buNone/>
            </a:pPr>
            <a:r>
              <a:rPr lang="en-US" sz="6600" b="1" dirty="0">
                <a:solidFill>
                  <a:srgbClr val="3B4540"/>
                </a:solidFill>
                <a:latin typeface="Fraunces Extra Bold" pitchFamily="34" charset="0"/>
                <a:ea typeface="Fraunces Extra Bold" pitchFamily="34" charset="-122"/>
                <a:cs typeface="Fraunces Extra Bold" pitchFamily="34" charset="-120"/>
              </a:rPr>
              <a:t>Thank You</a:t>
            </a:r>
            <a:endParaRPr lang="en-US" sz="6600" dirty="0"/>
          </a:p>
        </p:txBody>
      </p:sp>
      <p:pic>
        <p:nvPicPr>
          <p:cNvPr id="5" name="Picture 4">
            <a:extLst>
              <a:ext uri="{FF2B5EF4-FFF2-40B4-BE49-F238E27FC236}">
                <a16:creationId xmlns:a16="http://schemas.microsoft.com/office/drawing/2014/main" id="{1B0C5D98-DCE9-8675-8E4E-122B41549140}"/>
              </a:ext>
            </a:extLst>
          </p:cNvPr>
          <p:cNvPicPr>
            <a:picLocks noChangeAspect="1"/>
          </p:cNvPicPr>
          <p:nvPr/>
        </p:nvPicPr>
        <p:blipFill>
          <a:blip r:embed="rId4"/>
          <a:stretch>
            <a:fillRect/>
          </a:stretch>
        </p:blipFill>
        <p:spPr>
          <a:xfrm>
            <a:off x="10330323" y="213806"/>
            <a:ext cx="4027515" cy="778653"/>
          </a:xfrm>
          <a:prstGeom prst="rect">
            <a:avLst/>
          </a:prstGeom>
        </p:spPr>
      </p:pic>
      <p:sp>
        <p:nvSpPr>
          <p:cNvPr id="2" name="Text 0">
            <a:extLst>
              <a:ext uri="{FF2B5EF4-FFF2-40B4-BE49-F238E27FC236}">
                <a16:creationId xmlns:a16="http://schemas.microsoft.com/office/drawing/2014/main" id="{B0AE9279-F8B7-D5CD-EC05-1C7C77832414}"/>
              </a:ext>
            </a:extLst>
          </p:cNvPr>
          <p:cNvSpPr/>
          <p:nvPr/>
        </p:nvSpPr>
        <p:spPr>
          <a:xfrm>
            <a:off x="5884575" y="3885360"/>
            <a:ext cx="2426802" cy="384540"/>
          </a:xfrm>
          <a:prstGeom prst="rect">
            <a:avLst/>
          </a:prstGeom>
          <a:noFill/>
          <a:ln/>
        </p:spPr>
        <p:txBody>
          <a:bodyPr wrap="none" lIns="0" tIns="0" rIns="0" bIns="0" rtlCol="0" anchor="t"/>
          <a:lstStyle/>
          <a:p>
            <a:pPr marL="0" indent="0" algn="l">
              <a:lnSpc>
                <a:spcPts val="3350"/>
              </a:lnSpc>
              <a:buNone/>
            </a:pPr>
            <a:r>
              <a:rPr lang="en-US" sz="2000" b="1" dirty="0" err="1">
                <a:solidFill>
                  <a:srgbClr val="3B4540"/>
                </a:solidFill>
                <a:latin typeface="Fraunces Extra Bold" pitchFamily="34" charset="0"/>
                <a:ea typeface="Fraunces Extra Bold" pitchFamily="34" charset="-122"/>
                <a:cs typeface="Fraunces Extra Bold" pitchFamily="34" charset="-120"/>
              </a:rPr>
              <a:t>Attelli</a:t>
            </a:r>
            <a:r>
              <a:rPr lang="en-US" sz="2000" b="1" dirty="0">
                <a:solidFill>
                  <a:srgbClr val="3B4540"/>
                </a:solidFill>
                <a:latin typeface="Fraunces Extra Bold" pitchFamily="34" charset="0"/>
                <a:ea typeface="Fraunces Extra Bold" pitchFamily="34" charset="-122"/>
                <a:cs typeface="Fraunces Extra Bold" pitchFamily="34" charset="-120"/>
              </a:rPr>
              <a:t> Sanjay Kumar</a:t>
            </a:r>
            <a:endParaRPr lang="en-US" sz="2000" dirty="0"/>
          </a:p>
        </p:txBody>
      </p:sp>
      <p:sp>
        <p:nvSpPr>
          <p:cNvPr id="6" name="Text 0">
            <a:extLst>
              <a:ext uri="{FF2B5EF4-FFF2-40B4-BE49-F238E27FC236}">
                <a16:creationId xmlns:a16="http://schemas.microsoft.com/office/drawing/2014/main" id="{F95BDD8E-69F6-0337-5A11-8FBC360B91A9}"/>
              </a:ext>
            </a:extLst>
          </p:cNvPr>
          <p:cNvSpPr/>
          <p:nvPr/>
        </p:nvSpPr>
        <p:spPr>
          <a:xfrm>
            <a:off x="4598467" y="4195381"/>
            <a:ext cx="4110189" cy="384540"/>
          </a:xfrm>
          <a:prstGeom prst="rect">
            <a:avLst/>
          </a:prstGeom>
          <a:noFill/>
          <a:ln/>
        </p:spPr>
        <p:txBody>
          <a:bodyPr wrap="none" lIns="0" tIns="0" rIns="0" bIns="0" rtlCol="0" anchor="t"/>
          <a:lstStyle/>
          <a:p>
            <a:pPr marL="0" indent="0" algn="l">
              <a:lnSpc>
                <a:spcPts val="3350"/>
              </a:lnSpc>
              <a:buNone/>
            </a:pPr>
            <a:r>
              <a:rPr lang="en-US" sz="1500" b="1" dirty="0">
                <a:solidFill>
                  <a:srgbClr val="3B4540"/>
                </a:solidFill>
                <a:latin typeface="Fraunces Extra Bold" pitchFamily="34" charset="0"/>
                <a:ea typeface="Fraunces Extra Bold" pitchFamily="34" charset="-122"/>
                <a:cs typeface="Fraunces Extra Bold" pitchFamily="34" charset="-120"/>
              </a:rPr>
              <a:t>The Hartford India  Training Program – Capstone Project</a:t>
            </a:r>
            <a:endParaRPr lang="en-US" sz="1500" dirty="0"/>
          </a:p>
        </p:txBody>
      </p:sp>
    </p:spTree>
    <p:extLst>
      <p:ext uri="{BB962C8B-B14F-4D97-AF65-F5344CB8AC3E}">
        <p14:creationId xmlns:p14="http://schemas.microsoft.com/office/powerpoint/2010/main" val="3473842360"/>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TotalTime>
  <Words>2034</Words>
  <Application>Microsoft Office PowerPoint</Application>
  <PresentationFormat>Custom</PresentationFormat>
  <Paragraphs>277</Paragraphs>
  <Slides>22</Slides>
  <Notes>22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Fraunces Extra Bold</vt:lpstr>
      <vt:lpstr>Nobile</vt:lpstr>
      <vt:lpstr>Fraunces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ATTELLI SANJAY KUMAR</cp:lastModifiedBy>
  <cp:revision>84</cp:revision>
  <dcterms:created xsi:type="dcterms:W3CDTF">2026-03-03T16:20:43Z</dcterms:created>
  <dcterms:modified xsi:type="dcterms:W3CDTF">2026-04-12T06:07:11Z</dcterms:modified>
</cp:coreProperties>
</file>